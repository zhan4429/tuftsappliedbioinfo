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86" r:id="rId3"/>
    <p:sldId id="287" r:id="rId4"/>
    <p:sldId id="288" r:id="rId5"/>
    <p:sldId id="325" r:id="rId6"/>
    <p:sldId id="321" r:id="rId7"/>
    <p:sldId id="322" r:id="rId8"/>
    <p:sldId id="258" r:id="rId9"/>
    <p:sldId id="260" r:id="rId10"/>
    <p:sldId id="261" r:id="rId11"/>
    <p:sldId id="262" r:id="rId12"/>
    <p:sldId id="263" r:id="rId13"/>
    <p:sldId id="264" r:id="rId14"/>
    <p:sldId id="267" r:id="rId16"/>
    <p:sldId id="268" r:id="rId17"/>
    <p:sldId id="269" r:id="rId18"/>
    <p:sldId id="270" r:id="rId19"/>
    <p:sldId id="271" r:id="rId20"/>
    <p:sldId id="272" r:id="rId21"/>
    <p:sldId id="273" r:id="rId22"/>
    <p:sldId id="274" r:id="rId23"/>
    <p:sldId id="275" r:id="rId24"/>
    <p:sldId id="276" r:id="rId25"/>
    <p:sldId id="278" r:id="rId27"/>
    <p:sldId id="279" r:id="rId28"/>
    <p:sldId id="282" r:id="rId30"/>
    <p:sldId id="284"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7" Type="http://schemas.openxmlformats.org/officeDocument/2006/relationships/slide" Target="slides/slide26.xml"/><Relationship Id="rId28" Type="http://schemas.openxmlformats.org/officeDocument/2006/relationships/slide" Target="slides/slide27.xml"/><Relationship Id="rId30" Type="http://schemas.openxmlformats.org/officeDocument/2006/relationships/slide" Target="slides/slide29.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661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38 min of slides (plus ~9 min first-day admin on slides 2-7)utes. Blocks: why the shell and how it works (20), text processing on real data (30), git (20), open and close (5).</a:t>
            </a:r>
          </a:p>
          <a:p/>
          <a:p>
            <a:r>
              <a:t>Assume genuine beginners. Several students will never have opened a terminal. Say that out loud early and without condescension — it defuses a lot of anxiety in the room.</a:t>
            </a:r>
          </a:p>
          <a:p/>
          <a:p>
            <a:r>
              <a:t>Have a terminal open and projected the whole session. Every slide with a dark block is something you should actually type. Typos are useful: let them see you make one and recover.</a:t>
            </a:r>
          </a:p>
          <a:p/>
          <a:p>
            <a:r>
              <a:t>Promise at the start: by the end of the hour everyone will have a git repository with a commit in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E50507-6ABD-D342-BD52-6EEA9C6115F4}" type="slidenum">
              <a:rPr lang="en-US" smtClean="0"/>
              <a:t>2</a:t>
            </a:fld>
            <a:endParaRPr lang="en-US"/>
          </a:p>
        </p:txBody>
      </p:sp>
    </p:spTree>
    <p:extLst>
      <p:ext uri="{BB962C8B-B14F-4D97-AF65-F5344CB8AC3E}">
        <p14:creationId xmlns:p14="http://schemas.microsoft.com/office/powerpoint/2010/main" val="3307752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Flag that block 2 is the longest. Students expect git to dominate; text processing is what they will use every single day.</a:t>
            </a:r>
          </a:p>
          <a:p/>
          <a:p>
            <a:r>
              <a:t>Session 2 this week is HPC, SLURM, conda and containers. Say so, so nobody panics that the cluster has not been mentioned.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The bundling point (-lh) is worth stating explicitly; beginners often type -l -h and wonder why other people's commands look different.</a:t>
            </a:r>
          </a:p>
          <a:p/>
          <a:p>
            <a:r>
              <a:t>The filenames-with-spaces warning pays off within a week, when someone names a directory 'RNA seq data' and nothing works. Tell them to use underscores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Draw the tree on the board as well; the spatial metaphor takes a few repetitions to stick.</a:t>
            </a:r>
          </a:p>
          <a:p/>
          <a:p>
            <a:r>
              <a:t>'cd -' is a small gift that students love. So is tab completion — demonstrate it now and repeatedly. Most beginner frustration is retyping long paths by hand.</a:t>
            </a:r>
          </a:p>
          <a:p/>
          <a:p>
            <a:r>
              <a:t>Mention the scratch warning: data there is deleted on a schedule. Someone loses work to this every year.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Do not read the table. Type four or five of these live instead and let the table be the reference they photograph.</a:t>
            </a:r>
          </a:p>
          <a:p/>
          <a:p>
            <a:r>
              <a:t>'less' deserves ten seconds of demo: open a large file, scroll, search with /, quit with q. Students get trapped in less and panic.</a:t>
            </a:r>
          </a:p>
          <a:p/>
          <a:p>
            <a:r>
              <a:t>The closing line matters for morale. Beginners assume fluent users have memorised everything.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Be serious here rather than jokey. Somebody in the room will do this within a month.</a:t>
            </a:r>
          </a:p>
          <a:p/>
          <a:p>
            <a:r>
              <a:t>Tell a real story if you have one. Everyone who has worked on a cluster does.</a:t>
            </a:r>
          </a:p>
          <a:p/>
          <a:p>
            <a:r>
              <a:t>The chmod -w habit for raw data is the single best piece of advice on this slide. Reinforce it in Week 2 when they download public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This slide prevents more office-hours traffic than any other in the session.</a:t>
            </a:r>
          </a:p>
          <a:p/>
          <a:p>
            <a:r>
              <a:t>Cause one of these live on purpose: type 'flyy' instead of 'flye' and read the error out loud together.</a:t>
            </a:r>
          </a:p>
          <a:p/>
          <a:p>
            <a:r>
              <a:t>Note honestly that man pages are written for people who already know the answer. That is why tldr exists and why searching the error text is legitimate.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wc -l / 4 arithmetic connects directly to Week 2's FASTQ slide. Say so.</a:t>
            </a:r>
          </a:p>
          <a:p/>
          <a:p>
            <a:r>
              <a:t>Demonstrate less on something large and show q, /, G and g. Getting trapped in less is a rite of passage worth skipping.</a:t>
            </a:r>
          </a:p>
          <a:p/>
          <a:p>
            <a:r>
              <a:t>The broken-pipe note prevents a recurring support question.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Build the example live, one pipe at a time, showing the intermediate output at each stage. That is both the demonstration and the advice.</a:t>
            </a:r>
          </a:p>
          <a:p/>
          <a:p>
            <a:r>
              <a:t>The NR%4==2 trick pulls out sequence lines only — it reappears on slide 20, so flag it lightly now without explaining awk yet.</a:t>
            </a:r>
          </a:p>
          <a:p/>
          <a:p>
            <a:r>
              <a:t>'Works on files larger than your disk' genuinely surprises people. Dwell on it for a moment.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Demonstrate the sort disaster on a throwaway file. It is more convincing than describing it, and it takes ten seconds.</a:t>
            </a:r>
          </a:p>
          <a:p/>
          <a:p>
            <a:r>
              <a:t>The stderr point pays off in Session 2 when SLURM job logs come up. Foreshadow lightly.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Spend the time. Everything in the next six slides refers back to these column numbers.</a:t>
            </a:r>
          </a:p>
          <a:p/>
          <a:p>
            <a:r>
              <a:t>The 1-based vs 0-based point is one of the highest-value facts in the whole course, and it comes back in Week 3 with coordinate systems and in Week 7 with peak files. Say that it will come back.</a:t>
            </a:r>
          </a:p>
          <a:p/>
          <a:p>
            <a:r>
              <a:t>Have this file open in a terminal, not just on the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-v is the one beginners forget and then use constantly — stripping headers and comments is a daily task.</a:t>
            </a:r>
          </a:p>
          <a:p/>
          <a:p>
            <a:r>
              <a:t>The quoting advice prevents a whole class of mysterious bugs. Demonstrate the failure: grep ^&gt; without quotes will redirect output into a file called '&gt;' or hang waiting for input.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Run all three live on a real annotation file.</a:t>
            </a:r>
          </a:p>
          <a:p/>
          <a:p>
            <a:r>
              <a:t>The TP53 example is the one to labour. Ask the room what could go wrong before revealing the second number — someone usually spots it, and it lands far better coming from a student.</a:t>
            </a:r>
          </a:p>
          <a:p/>
          <a:p>
            <a:r>
              <a:t>This generalises: every silent bioinformatics error is a query that was looser than the question.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Make them watch what happens without the sort. Run it both ways on the same file; the wrong version looks plausible, which is the point.</a:t>
            </a:r>
          </a:p>
          <a:p/>
          <a:p>
            <a:r>
              <a:t>Note that the gene count here (about 20,000) is a sanity check in itself — if a human annotation gives you 200,000 genes, something is wrong with the file or your command, and this one-liner is how you find out.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Do not teach awk as a language. Teach it as four idioms they will copy.</a:t>
            </a:r>
          </a:p>
          <a:p/>
          <a:p>
            <a:r>
              <a:t>The default separator is whitespace, which silently breaks on GFF attribute columns containing spaces. -F'\t' is not optional for tabular bioinformatics formats — say it twice.</a:t>
            </a:r>
          </a:p>
          <a:p/>
          <a:p>
            <a:r>
              <a:t>Reassure them about the last line. Students feel they should master awk; almost nobody has.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These four are the ones to put on a cheat sheet. Tell students to copy them now.</a:t>
            </a:r>
          </a:p>
          <a:p/>
          <a:p>
            <a:r>
              <a:t>The off-by-one in example two is the single most valuable detail on this slide. Ask them why the +1 is there before you explain it, and refer back to slide 15.</a:t>
            </a:r>
          </a:p>
          <a:p/>
          <a:p>
            <a:r>
              <a:t>Example four vs dividing by four: a truncated FASTQ gives a wrong answer silently with division and an obviously odd answer with NR%4. That distinction — failing loudly rather than quietly — is a theme worth naming.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chr-prefix problem is real, ubiquitous, and costs people days. Tell them it will happen to them.</a:t>
            </a:r>
          </a:p>
          <a:p/>
          <a:p>
            <a:r>
              <a:t>Note that renaming chromosomes with sed is a last resort rather than good practice — the better fix is to use matching references throughout. But everyone does it, so do it correctly.</a:t>
            </a:r>
          </a:p>
          <a:p/>
          <a:p>
            <a:r>
              <a:t>Do not teach sed addresses or regex groups. They will look it up when they need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Ask the room who recognises the left-hand folder. Every hand goes up, including yours.</a:t>
            </a:r>
          </a:p>
          <a:p/>
          <a:p>
            <a:r>
              <a:t>Resist teaching git as a theory of directed acyclic graphs. Teach it as: write down what you did, so future-you and your reviewers can check.</a:t>
            </a:r>
          </a:p>
          <a:p/>
          <a:p>
            <a:r>
              <a:t>The 'available on request' line is worth saying slowly. It is the whole argument for the course's reproducibility thread.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Do not over-explain staging. Give permission to ignore it at first — that permission is what stops beginners from stalling here.</a:t>
            </a:r>
          </a:p>
          <a:p/>
          <a:p>
            <a:r>
              <a:t>'Run git status constantly' is the most practical advice in the git block. Repeat it on the next slide when you demo.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This is the slide that prevents a support ticket per student per semester.</a:t>
            </a:r>
          </a:p>
          <a:p/>
          <a:p>
            <a:r>
              <a:t>Emphasise the ordering: .gitignore first, then git init's first commit. Students who learn this backwards learn it painfully.</a:t>
            </a:r>
          </a:p>
          <a:p/>
          <a:p>
            <a:r>
              <a:t>Mention that the pattern 'commit the recipe, not the ingredients' is the same idea as the Week 3 homework's rule about not committing FASTQ files.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The git-versus-GitHub distinction matters more than it sounds: students who conflate them think their work is unsafe without internet, and get confused when GitHub is down.</a:t>
            </a:r>
          </a:p>
          <a:p/>
          <a:p>
            <a:r>
              <a:t>Be very explicit about the submission rule. Every semester someone commits diligently and never pushes.</a:t>
            </a:r>
          </a:p>
          <a:p/>
          <a:p>
            <a:r>
              <a:t>SSH key setup is a five-minute job that saves everyone hours. Put the link in the chat now.</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UFTS_TITLE">
    <p:bg>
      <p:bgPr>
        <a:solidFill>
          <a:srgbClr val="FFFFFF"/>
        </a:solidFill>
        <a:effectLst/>
      </p:bgPr>
    </p:bg>
    <p:spTree>
      <p:nvGrpSpPr>
        <p:cNvPr id="1" name=""/>
        <p:cNvGrpSpPr/>
        <p:nvPr/>
      </p:nvGrpSpPr>
      <p:grpSpPr>
        <a:xfrm>
          <a:off x="0" y="0"/>
          <a:ext cx="0" cy="0"/>
          <a:chOff x="0" y="0"/>
          <a:chExt cx="0" cy="0"/>
        </a:xfrm>
      </p:grpSpPr>
      <p:pic>
        <p:nvPicPr>
          <p:cNvPr id="2" name="Image 0" descr="bg_title.png"/>
          <p:cNvPicPr>
            <a:picLocks noChangeAspect="1"/>
          </p:cNvPicPr>
          <p:nvPr/>
        </p:nvPicPr>
        <p:blipFill>
          <a:blip r:embed="rId2"/>
          <a:stretch>
            <a:fillRect/>
          </a:stretch>
        </p:blipFill>
        <p:spPr>
          <a:xfrm>
            <a:off x="0" y="0"/>
            <a:ext cx="12187123" cy="6855257"/>
          </a:xfrm>
          <a:prstGeom prst="rect">
            <a:avLst/>
          </a:prstGeom>
        </p:spPr>
      </p:pic>
      <p:pic>
        <p:nvPicPr>
          <p:cNvPr id="3" name="Image 1" descr="logo.png"/>
          <p:cNvPicPr>
            <a:picLocks noChangeAspect="1"/>
          </p:cNvPicPr>
          <p:nvPr/>
        </p:nvPicPr>
        <p:blipFill>
          <a:blip r:embed="rId3"/>
          <a:stretch>
            <a:fillRect/>
          </a:stretch>
        </p:blipFill>
        <p:spPr>
          <a:xfrm>
            <a:off x="5486" y="10058"/>
            <a:ext cx="2296973" cy="149321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UFTS">
    <p:bg>
      <p:bgPr>
        <a:solidFill>
          <a:srgbClr val="FFFFFF"/>
        </a:solidFill>
        <a:effectLst/>
      </p:bgPr>
    </p:bg>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2"/>
          <a:stretch>
            <a:fillRect/>
          </a:stretch>
        </p:blipFill>
        <p:spPr>
          <a:xfrm>
            <a:off x="0" y="0"/>
            <a:ext cx="12191695" cy="6858000"/>
          </a:xfrm>
          <a:prstGeom prst="rect">
            <a:avLst/>
          </a:prstGeom>
        </p:spPr>
      </p:pic>
      <p:pic>
        <p:nvPicPr>
          <p:cNvPr id="3" name="Image 1" descr="logo.png"/>
          <p:cNvPicPr>
            <a:picLocks noChangeAspect="1"/>
          </p:cNvPicPr>
          <p:nvPr/>
        </p:nvPicPr>
        <p:blipFill>
          <a:blip r:embed="rId3"/>
          <a:stretch>
            <a:fillRect/>
          </a:stretch>
        </p:blipFill>
        <p:spPr>
          <a:xfrm>
            <a:off x="58522" y="6025896"/>
            <a:ext cx="1280160" cy="832104"/>
          </a:xfrm>
          <a:prstGeom prst="rect">
            <a:avLst/>
          </a:prstGeom>
        </p:spPr>
      </p:pic>
      <p:sp>
        <p:nvSpPr>
          <p:cNvPr id="4" name="Text 0"/>
          <p:cNvSpPr txBox="1"/>
          <p:nvPr/>
        </p:nvSpPr>
        <p:spPr>
          <a:xfrm>
            <a:off x="1371600" y="6336792"/>
            <a:ext cx="3657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Department of Biology</a:t>
            </a: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xt Slide">
    <p:spTree>
      <p:nvGrpSpPr>
        <p:cNvPr id="1" name=""/>
        <p:cNvGrpSpPr/>
        <p:nvPr/>
      </p:nvGrpSpPr>
      <p:grpSpPr>
        <a:xfrm>
          <a:off x="0" y="0"/>
          <a:ext cx="0" cy="0"/>
          <a:chOff x="0" y="0"/>
          <a:chExt cx="0" cy="0"/>
        </a:xfrm>
      </p:grpSpPr>
      <p:sp>
        <p:nvSpPr>
          <p:cNvPr id="4" name="Click to Edit Title">
            <a:extLst>
              <a:ext uri="{FF2B5EF4-FFF2-40B4-BE49-F238E27FC236}">
                <a16:creationId xmlns:a16="http://schemas.microsoft.com/office/drawing/2014/main" id="{591499BD-67CC-CD67-4074-4DEE8EECA44F}"/>
              </a:ext>
            </a:extLst>
          </p:cNvPr>
          <p:cNvSpPr>
            <a:spLocks noGrp="1"/>
          </p:cNvSpPr>
          <p:nvPr>
            <p:ph type="ctrTitle" hasCustomPrompt="1"/>
          </p:nvPr>
        </p:nvSpPr>
        <p:spPr>
          <a:xfrm>
            <a:off x="611964" y="351793"/>
            <a:ext cx="4040471" cy="618631"/>
          </a:xfrm>
          <a:prstGeom prst="rect">
            <a:avLst/>
          </a:prstGeom>
        </p:spPr>
        <p:txBody>
          <a:bodyPr anchor="t">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dirty="0"/>
              <a:t>Slide Title</a:t>
            </a:r>
          </a:p>
        </p:txBody>
      </p:sp>
      <p:sp>
        <p:nvSpPr>
          <p:cNvPr id="5" name="Title Subhead or department name">
            <a:extLst>
              <a:ext uri="{FF2B5EF4-FFF2-40B4-BE49-F238E27FC236}">
                <a16:creationId xmlns:a16="http://schemas.microsoft.com/office/drawing/2014/main" id="{FD384D3E-69C9-80C5-0FB5-7585BC16F584}"/>
              </a:ext>
            </a:extLst>
          </p:cNvPr>
          <p:cNvSpPr>
            <a:spLocks noGrp="1"/>
          </p:cNvSpPr>
          <p:nvPr>
            <p:ph type="subTitle" idx="1" hasCustomPrompt="1"/>
          </p:nvPr>
        </p:nvSpPr>
        <p:spPr>
          <a:xfrm>
            <a:off x="614975" y="951374"/>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chemeClr val="bg1">
                    <a:lumMod val="50000"/>
                  </a:schemeClr>
                </a:solidFill>
                <a:latin typeface="Arial" panose="020B0604020202020204" pitchFamily="34" charset="0"/>
                <a:cs typeface="Arial" panose="020B0604020202020204" pitchFamily="34" charset="0"/>
              </a:rPr>
              <a:t>Slide Title Subhead</a:t>
            </a:r>
          </a:p>
        </p:txBody>
      </p:sp>
      <p:sp>
        <p:nvSpPr>
          <p:cNvPr id="2" name="Text Placeholder 3">
            <a:extLst>
              <a:ext uri="{FF2B5EF4-FFF2-40B4-BE49-F238E27FC236}">
                <a16:creationId xmlns:a16="http://schemas.microsoft.com/office/drawing/2014/main" id="{400D8DFA-E35C-30A0-34FD-7EBAE91EECBF}"/>
              </a:ext>
            </a:extLst>
          </p:cNvPr>
          <p:cNvSpPr>
            <a:spLocks noGrp="1"/>
          </p:cNvSpPr>
          <p:nvPr>
            <p:ph type="body" sz="half" idx="10" hasCustomPrompt="1"/>
          </p:nvPr>
        </p:nvSpPr>
        <p:spPr>
          <a:xfrm>
            <a:off x="5721774" y="887624"/>
            <a:ext cx="5960177" cy="3278590"/>
          </a:xfrm>
          <a:prstGeom prst="rect">
            <a:avLst/>
          </a:prstGeom>
        </p:spPr>
        <p:txBody>
          <a:bodyPr>
            <a:spAutoFit/>
          </a:bodyPr>
          <a:lstStyle>
            <a:lvl1pPr marL="0" indent="0">
              <a:buNone/>
              <a:defRPr sz="2400">
                <a:solidFill>
                  <a:schemeClr val="tx1">
                    <a:lumMod val="65000"/>
                    <a:lumOff val="35000"/>
                  </a:schemeClr>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nSpc>
                <a:spcPts val="3600"/>
              </a:lnSpc>
            </a:pPr>
            <a:r>
              <a:rPr lang="en-US" sz="2400" dirty="0">
                <a:solidFill>
                  <a:schemeClr val="tx1">
                    <a:lumMod val="65000"/>
                    <a:lumOff val="35000"/>
                  </a:schemeClr>
                </a:solidFill>
                <a:latin typeface="Arial" panose="020B0604020202020204" pitchFamily="34" charset="0"/>
                <a:cs typeface="Arial" panose="020B0604020202020204" pitchFamily="34" charset="0"/>
              </a:rPr>
              <a:t>Sea ne </a:t>
            </a:r>
            <a:r>
              <a:rPr lang="en-US" sz="2400" dirty="0" err="1">
                <a:solidFill>
                  <a:schemeClr val="tx1">
                    <a:lumMod val="65000"/>
                    <a:lumOff val="35000"/>
                  </a:schemeClr>
                </a:solidFill>
                <a:latin typeface="Arial" panose="020B0604020202020204" pitchFamily="34" charset="0"/>
                <a:cs typeface="Arial" panose="020B0604020202020204" pitchFamily="34" charset="0"/>
              </a:rPr>
              <a:t>assum</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referrentur</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enim</a:t>
            </a:r>
            <a:r>
              <a:rPr lang="en-US" sz="2400" dirty="0">
                <a:solidFill>
                  <a:schemeClr val="tx1">
                    <a:lumMod val="65000"/>
                    <a:lumOff val="35000"/>
                  </a:schemeClr>
                </a:solidFill>
                <a:latin typeface="Arial" panose="020B0604020202020204" pitchFamily="34" charset="0"/>
                <a:cs typeface="Arial" panose="020B0604020202020204" pitchFamily="34" charset="0"/>
              </a:rPr>
              <a:t> vide </a:t>
            </a:r>
            <a:r>
              <a:rPr lang="en-US" sz="2400" dirty="0" err="1">
                <a:solidFill>
                  <a:schemeClr val="tx1">
                    <a:lumMod val="65000"/>
                    <a:lumOff val="35000"/>
                  </a:schemeClr>
                </a:solidFill>
                <a:latin typeface="Arial" panose="020B0604020202020204" pitchFamily="34" charset="0"/>
                <a:cs typeface="Arial" panose="020B0604020202020204" pitchFamily="34" charset="0"/>
              </a:rPr>
              <a:t>putant</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te</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mel</a:t>
            </a:r>
            <a:r>
              <a:rPr lang="en-US" sz="2400" dirty="0">
                <a:solidFill>
                  <a:schemeClr val="tx1">
                    <a:lumMod val="65000"/>
                    <a:lumOff val="35000"/>
                  </a:schemeClr>
                </a:solidFill>
                <a:latin typeface="Arial" panose="020B0604020202020204" pitchFamily="34" charset="0"/>
                <a:cs typeface="Arial" panose="020B0604020202020204" pitchFamily="34" charset="0"/>
              </a:rPr>
              <a:t>. Cum </a:t>
            </a:r>
            <a:r>
              <a:rPr lang="en-US" sz="2400" dirty="0" err="1">
                <a:solidFill>
                  <a:schemeClr val="tx1">
                    <a:lumMod val="65000"/>
                    <a:lumOff val="35000"/>
                  </a:schemeClr>
                </a:solidFill>
                <a:latin typeface="Arial" panose="020B0604020202020204" pitchFamily="34" charset="0"/>
                <a:cs typeface="Arial" panose="020B0604020202020204" pitchFamily="34" charset="0"/>
              </a:rPr>
              <a:t>tollit</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intellegebat</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eu</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disputationi</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consequuntur</a:t>
            </a:r>
            <a:r>
              <a:rPr lang="en-US" sz="2400" dirty="0">
                <a:solidFill>
                  <a:schemeClr val="tx1">
                    <a:lumMod val="65000"/>
                    <a:lumOff val="35000"/>
                  </a:schemeClr>
                </a:solidFill>
                <a:latin typeface="Arial" panose="020B0604020202020204" pitchFamily="34" charset="0"/>
                <a:cs typeface="Arial" panose="020B0604020202020204" pitchFamily="34" charset="0"/>
              </a:rPr>
              <a:t> ex pro. Mel </a:t>
            </a:r>
            <a:r>
              <a:rPr lang="en-US" sz="2400" dirty="0" err="1">
                <a:solidFill>
                  <a:schemeClr val="tx1">
                    <a:lumMod val="65000"/>
                    <a:lumOff val="35000"/>
                  </a:schemeClr>
                </a:solidFill>
                <a:latin typeface="Arial" panose="020B0604020202020204" pitchFamily="34" charset="0"/>
                <a:cs typeface="Arial" panose="020B0604020202020204" pitchFamily="34" charset="0"/>
              </a:rPr>
              <a:t>ullum</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laoreet</a:t>
            </a:r>
            <a:r>
              <a:rPr lang="en-US" sz="2400" dirty="0">
                <a:solidFill>
                  <a:schemeClr val="tx1">
                    <a:lumMod val="65000"/>
                    <a:lumOff val="35000"/>
                  </a:schemeClr>
                </a:solidFill>
                <a:latin typeface="Arial" panose="020B0604020202020204" pitchFamily="34" charset="0"/>
                <a:cs typeface="Arial" panose="020B0604020202020204" pitchFamily="34" charset="0"/>
              </a:rPr>
              <a:t> cu, </a:t>
            </a:r>
            <a:r>
              <a:rPr lang="en-US" sz="2400" dirty="0" err="1">
                <a:solidFill>
                  <a:schemeClr val="tx1">
                    <a:lumMod val="65000"/>
                    <a:lumOff val="35000"/>
                  </a:schemeClr>
                </a:solidFill>
                <a:latin typeface="Arial" panose="020B0604020202020204" pitchFamily="34" charset="0"/>
                <a:cs typeface="Arial" panose="020B0604020202020204" pitchFamily="34" charset="0"/>
              </a:rPr>
              <a:t>aliquam</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ullamcorper</a:t>
            </a:r>
            <a:r>
              <a:rPr lang="en-US" sz="2400" dirty="0">
                <a:solidFill>
                  <a:schemeClr val="tx1">
                    <a:lumMod val="65000"/>
                    <a:lumOff val="35000"/>
                  </a:schemeClr>
                </a:solidFill>
                <a:latin typeface="Arial" panose="020B0604020202020204" pitchFamily="34" charset="0"/>
                <a:cs typeface="Arial" panose="020B0604020202020204" pitchFamily="34" charset="0"/>
              </a:rPr>
              <a:t> vis </a:t>
            </a:r>
            <a:r>
              <a:rPr lang="en-US" sz="2400" dirty="0" err="1">
                <a:solidFill>
                  <a:schemeClr val="tx1">
                    <a:lumMod val="65000"/>
                    <a:lumOff val="35000"/>
                  </a:schemeClr>
                </a:solidFill>
                <a:latin typeface="Arial" panose="020B0604020202020204" pitchFamily="34" charset="0"/>
                <a:cs typeface="Arial" panose="020B0604020202020204" pitchFamily="34" charset="0"/>
              </a:rPr>
              <a:t>ea</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iudicabit</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maluisset</a:t>
            </a:r>
            <a:r>
              <a:rPr lang="en-US" sz="2400" dirty="0">
                <a:solidFill>
                  <a:schemeClr val="tx1">
                    <a:lumMod val="65000"/>
                    <a:lumOff val="35000"/>
                  </a:schemeClr>
                </a:solidFill>
                <a:latin typeface="Arial" panose="020B0604020202020204" pitchFamily="34" charset="0"/>
                <a:cs typeface="Arial" panose="020B0604020202020204" pitchFamily="34" charset="0"/>
              </a:rPr>
              <a:t> ex </a:t>
            </a:r>
            <a:r>
              <a:rPr lang="en-US" sz="2400" dirty="0" err="1">
                <a:solidFill>
                  <a:schemeClr val="tx1">
                    <a:lumMod val="65000"/>
                    <a:lumOff val="35000"/>
                  </a:schemeClr>
                </a:solidFill>
                <a:latin typeface="Arial" panose="020B0604020202020204" pitchFamily="34" charset="0"/>
                <a:cs typeface="Arial" panose="020B0604020202020204" pitchFamily="34" charset="0"/>
              </a:rPr>
              <a:t>mel</a:t>
            </a:r>
            <a:r>
              <a:rPr lang="en-US" sz="2400" dirty="0">
                <a:solidFill>
                  <a:schemeClr val="tx1">
                    <a:lumMod val="65000"/>
                    <a:lumOff val="35000"/>
                  </a:schemeClr>
                </a:solidFill>
                <a:latin typeface="Arial" panose="020B0604020202020204" pitchFamily="34" charset="0"/>
                <a:cs typeface="Arial" panose="020B0604020202020204" pitchFamily="34" charset="0"/>
              </a:rPr>
              <a:t>. His in tale </a:t>
            </a:r>
            <a:r>
              <a:rPr lang="en-US" sz="2400" dirty="0" err="1">
                <a:solidFill>
                  <a:schemeClr val="tx1">
                    <a:lumMod val="65000"/>
                    <a:lumOff val="35000"/>
                  </a:schemeClr>
                </a:solidFill>
                <a:latin typeface="Arial" panose="020B0604020202020204" pitchFamily="34" charset="0"/>
                <a:cs typeface="Arial" panose="020B0604020202020204" pitchFamily="34" charset="0"/>
              </a:rPr>
              <a:t>saperet</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quodsi</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fabulas</a:t>
            </a:r>
            <a:r>
              <a:rPr lang="en-US" sz="2400" dirty="0">
                <a:solidFill>
                  <a:schemeClr val="tx1">
                    <a:lumMod val="65000"/>
                    <a:lumOff val="35000"/>
                  </a:schemeClr>
                </a:solidFill>
                <a:latin typeface="Arial" panose="020B0604020202020204" pitchFamily="34" charset="0"/>
                <a:cs typeface="Arial" panose="020B0604020202020204" pitchFamily="34" charset="0"/>
              </a:rPr>
              <a:t> vim in, </a:t>
            </a:r>
            <a:r>
              <a:rPr lang="en-US" sz="2400" dirty="0" err="1">
                <a:solidFill>
                  <a:schemeClr val="tx1">
                    <a:lumMod val="65000"/>
                    <a:lumOff val="35000"/>
                  </a:schemeClr>
                </a:solidFill>
                <a:latin typeface="Arial" panose="020B0604020202020204" pitchFamily="34" charset="0"/>
                <a:cs typeface="Arial" panose="020B0604020202020204" pitchFamily="34" charset="0"/>
              </a:rPr>
              <a:t>ei</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ius</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debet</a:t>
            </a:r>
            <a:r>
              <a:rPr lang="en-US" sz="2400" dirty="0">
                <a:solidFill>
                  <a:schemeClr val="tx1">
                    <a:lumMod val="65000"/>
                    <a:lumOff val="35000"/>
                  </a:schemeClr>
                </a:solidFill>
                <a:latin typeface="Arial" panose="020B0604020202020204" pitchFamily="34" charset="0"/>
                <a:cs typeface="Arial" panose="020B0604020202020204" pitchFamily="34" charset="0"/>
              </a:rPr>
              <a:t> </a:t>
            </a:r>
            <a:r>
              <a:rPr lang="en-US" sz="2400" dirty="0" err="1">
                <a:solidFill>
                  <a:schemeClr val="tx1">
                    <a:lumMod val="65000"/>
                    <a:lumOff val="35000"/>
                  </a:schemeClr>
                </a:solidFill>
                <a:latin typeface="Arial" panose="020B0604020202020204" pitchFamily="34" charset="0"/>
                <a:cs typeface="Arial" panose="020B0604020202020204" pitchFamily="34" charset="0"/>
              </a:rPr>
              <a:t>homero</a:t>
            </a:r>
            <a:r>
              <a:rPr lang="en-US" sz="2400" dirty="0">
                <a:solidFill>
                  <a:schemeClr val="tx1">
                    <a:lumMod val="65000"/>
                    <a:lumOff val="3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3134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ullet Points Slide">
    <p:spTree>
      <p:nvGrpSpPr>
        <p:cNvPr id="1" name=""/>
        <p:cNvGrpSpPr/>
        <p:nvPr/>
      </p:nvGrpSpPr>
      <p:grpSpPr>
        <a:xfrm>
          <a:off x="0" y="0"/>
          <a:ext cx="0" cy="0"/>
          <a:chOff x="0" y="0"/>
          <a:chExt cx="0" cy="0"/>
        </a:xfrm>
      </p:grpSpPr>
      <p:sp>
        <p:nvSpPr>
          <p:cNvPr id="7" name="Bullet Points ">
            <a:extLst>
              <a:ext uri="{FF2B5EF4-FFF2-40B4-BE49-F238E27FC236}">
                <a16:creationId xmlns:a16="http://schemas.microsoft.com/office/drawing/2014/main" id="{506D478E-CBEA-43F8-5B40-597A8D300C0D}"/>
              </a:ext>
            </a:extLst>
          </p:cNvPr>
          <p:cNvSpPr>
            <a:spLocks noGrp="1"/>
          </p:cNvSpPr>
          <p:nvPr>
            <p:ph type="body" sz="quarter" idx="12" hasCustomPrompt="1"/>
          </p:nvPr>
        </p:nvSpPr>
        <p:spPr>
          <a:xfrm>
            <a:off x="5425679" y="839880"/>
            <a:ext cx="3606800" cy="3259354"/>
          </a:xfrm>
          <a:prstGeom prst="rect">
            <a:avLst/>
          </a:prstGeom>
        </p:spPr>
        <p:txBody>
          <a:bodyPr>
            <a:spAutoFit/>
          </a:bodyPr>
          <a:lstStyle>
            <a:lvl1pPr marL="283464" indent="-283464">
              <a:lnSpc>
                <a:spcPts val="4200"/>
              </a:lnSpc>
              <a:spcBef>
                <a:spcPts val="0"/>
              </a:spcBef>
              <a:buFont typeface="Arial" panose="020B0604020202020204" pitchFamily="34" charset="0"/>
              <a:buChar char="•"/>
              <a:defRPr sz="2600" b="1">
                <a:solidFill>
                  <a:schemeClr val="tx1">
                    <a:lumMod val="65000"/>
                    <a:lumOff val="35000"/>
                  </a:schemeClr>
                </a:solidFill>
                <a:latin typeface="Arial" panose="020B0604020202020204" pitchFamily="34" charset="0"/>
                <a:cs typeface="Arial" panose="020B0604020202020204" pitchFamily="34" charset="0"/>
              </a:defRPr>
            </a:lvl1pPr>
            <a:lvl2pPr marL="649224" indent="-283464" defTabSz="1371600">
              <a:lnSpc>
                <a:spcPts val="4200"/>
              </a:lnSpc>
              <a:spcBef>
                <a:spcPts val="0"/>
              </a:spcBef>
              <a:buFont typeface="System Font Regular"/>
              <a:buChar char="-"/>
              <a:defRPr sz="2600">
                <a:solidFill>
                  <a:schemeClr val="tx1">
                    <a:lumMod val="65000"/>
                    <a:lumOff val="35000"/>
                  </a:schemeClr>
                </a:solidFill>
                <a:latin typeface="Arial" panose="020B0604020202020204" pitchFamily="34" charset="0"/>
                <a:cs typeface="Arial" panose="020B0604020202020204" pitchFamily="34" charset="0"/>
              </a:defRPr>
            </a:lvl2pPr>
            <a:lvl3pPr marL="1097280" indent="-283464">
              <a:lnSpc>
                <a:spcPts val="4200"/>
              </a:lnSpc>
              <a:spcBef>
                <a:spcPts val="0"/>
              </a:spcBef>
              <a:buFont typeface="System Font Regular"/>
              <a:buChar char="-"/>
              <a:defRPr sz="2400">
                <a:solidFill>
                  <a:schemeClr val="tx1">
                    <a:lumMod val="65000"/>
                    <a:lumOff val="35000"/>
                  </a:schemeClr>
                </a:solidFill>
                <a:latin typeface="Arial" panose="020B0604020202020204" pitchFamily="34" charset="0"/>
                <a:cs typeface="Arial" panose="020B0604020202020204" pitchFamily="34" charset="0"/>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Bullet One</a:t>
            </a:r>
          </a:p>
          <a:p>
            <a:pPr lvl="1"/>
            <a:r>
              <a:rPr lang="en-US" dirty="0"/>
              <a:t>Second Level</a:t>
            </a:r>
          </a:p>
          <a:p>
            <a:pPr lvl="2"/>
            <a:r>
              <a:rPr lang="en-US" dirty="0"/>
              <a:t>Third Level</a:t>
            </a:r>
          </a:p>
          <a:p>
            <a:pPr lvl="0"/>
            <a:r>
              <a:rPr lang="en-US" dirty="0"/>
              <a:t>Bullet Two</a:t>
            </a:r>
          </a:p>
          <a:p>
            <a:pPr lvl="1"/>
            <a:r>
              <a:rPr lang="en-US" dirty="0"/>
              <a:t>Second Level</a:t>
            </a:r>
          </a:p>
          <a:p>
            <a:pPr lvl="2"/>
            <a:r>
              <a:rPr lang="en-US" dirty="0"/>
              <a:t>Third Level</a:t>
            </a:r>
          </a:p>
        </p:txBody>
      </p:sp>
      <p:sp>
        <p:nvSpPr>
          <p:cNvPr id="2" name="Click to Edit Title">
            <a:extLst>
              <a:ext uri="{FF2B5EF4-FFF2-40B4-BE49-F238E27FC236}">
                <a16:creationId xmlns:a16="http://schemas.microsoft.com/office/drawing/2014/main" id="{2D1B5B0D-CC78-086C-2188-B66B472C9506}"/>
              </a:ext>
            </a:extLst>
          </p:cNvPr>
          <p:cNvSpPr>
            <a:spLocks noGrp="1"/>
          </p:cNvSpPr>
          <p:nvPr>
            <p:ph type="ctrTitle" hasCustomPrompt="1"/>
          </p:nvPr>
        </p:nvSpPr>
        <p:spPr>
          <a:xfrm>
            <a:off x="629390" y="357095"/>
            <a:ext cx="4363718" cy="618631"/>
          </a:xfrm>
          <a:prstGeom prst="rect">
            <a:avLst/>
          </a:prstGeom>
        </p:spPr>
        <p:txBody>
          <a:bodyPr anchor="t">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dirty="0"/>
              <a:t>Bullet Points</a:t>
            </a:r>
          </a:p>
        </p:txBody>
      </p:sp>
      <p:sp>
        <p:nvSpPr>
          <p:cNvPr id="4" name="Title Subhead or department name">
            <a:extLst>
              <a:ext uri="{FF2B5EF4-FFF2-40B4-BE49-F238E27FC236}">
                <a16:creationId xmlns:a16="http://schemas.microsoft.com/office/drawing/2014/main" id="{56A8B033-4104-E833-30DB-E42DB41F5F85}"/>
              </a:ext>
            </a:extLst>
          </p:cNvPr>
          <p:cNvSpPr>
            <a:spLocks noGrp="1"/>
          </p:cNvSpPr>
          <p:nvPr>
            <p:ph type="subTitle" idx="1" hasCustomPrompt="1"/>
          </p:nvPr>
        </p:nvSpPr>
        <p:spPr>
          <a:xfrm>
            <a:off x="620452" y="957182"/>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chemeClr val="bg1">
                    <a:lumMod val="50000"/>
                  </a:schemeClr>
                </a:solidFill>
                <a:latin typeface="Arial" panose="020B0604020202020204" pitchFamily="34" charset="0"/>
                <a:cs typeface="Arial" panose="020B0604020202020204" pitchFamily="34" charset="0"/>
              </a:rPr>
              <a:t>Slide Title Subhead</a:t>
            </a:r>
          </a:p>
        </p:txBody>
      </p:sp>
    </p:spTree>
    <p:extLst>
      <p:ext uri="{BB962C8B-B14F-4D97-AF65-F5344CB8AC3E}">
        <p14:creationId xmlns:p14="http://schemas.microsoft.com/office/powerpoint/2010/main" val="18759224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ondemand-prod.pax.tufts.edu/" TargetMode="Externa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52958" y="2395728"/>
            <a:ext cx="7589520" cy="1188720"/>
          </a:xfrm>
          <a:prstGeom prst="rect">
            <a:avLst/>
          </a:prstGeom>
          <a:noFill/>
          <a:ln/>
        </p:spPr>
        <p:txBody>
          <a:bodyPr wrap="square" lIns="0" tIns="0" rIns="0" bIns="0" rtlCol="0" anchor="ctr"/>
          <a:lstStyle/>
          <a:p>
            <a:pPr marL="0" indent="0">
              <a:lnSpc>
                <a:spcPts val="4000"/>
              </a:lnSpc>
              <a:buNone/>
            </a:pPr>
            <a:r>
              <a:rPr lang="en-US" sz="3400" b="1" dirty="0">
                <a:solidFill>
                  <a:srgbClr val="3172AE"/>
                </a:solidFill>
                <a:latin typeface="Arial" pitchFamily="34" charset="0"/>
                <a:ea typeface="Arial" pitchFamily="34" charset="-122"/>
                <a:cs typeface="Arial" pitchFamily="34" charset="-120"/>
              </a:rPr>
              <a:t>The Command Line,</a:t>
            </a:r>
            <a:endParaRPr lang="en-US" sz="3400" dirty="0"/>
          </a:p>
          <a:p>
            <a:pPr marL="0" indent="0">
              <a:lnSpc>
                <a:spcPts val="4000"/>
              </a:lnSpc>
              <a:buNone/>
            </a:pPr>
            <a:r>
              <a:rPr lang="en-US" sz="3400" b="1" dirty="0">
                <a:solidFill>
                  <a:srgbClr val="3172AE"/>
                </a:solidFill>
                <a:latin typeface="Arial" pitchFamily="34" charset="0"/>
                <a:ea typeface="Arial" pitchFamily="34" charset="-122"/>
                <a:cs typeface="Arial" pitchFamily="34" charset="-120"/>
              </a:rPr>
              <a:t>Text Processing, and Git</a:t>
            </a:r>
            <a:endParaRPr lang="en-US" sz="3400" dirty="0"/>
          </a:p>
        </p:txBody>
      </p:sp>
      <p:sp>
        <p:nvSpPr>
          <p:cNvPr id="3" name="Text 1"/>
          <p:cNvSpPr txBox="1"/>
          <p:nvPr/>
        </p:nvSpPr>
        <p:spPr>
          <a:xfrm>
            <a:off x="361188" y="3730752"/>
            <a:ext cx="6949440" cy="329184"/>
          </a:xfrm>
          <a:prstGeom prst="rect">
            <a:avLst/>
          </a:prstGeom>
          <a:noFill/>
          <a:ln/>
        </p:spPr>
        <p:txBody>
          <a:bodyPr wrap="square" lIns="0" tIns="0" rIns="0" bIns="0" rtlCol="0" anchor="ctr"/>
          <a:lstStyle/>
          <a:p>
            <a:pPr marL="0" indent="0">
              <a:buNone/>
            </a:pPr>
            <a:r>
              <a:rPr lang="en-US" sz="1800" dirty="0">
                <a:solidFill>
                  <a:srgbClr val="1F2933"/>
                </a:solidFill>
                <a:latin typeface="Arial" pitchFamily="34" charset="0"/>
                <a:ea typeface="Arial" pitchFamily="34" charset="-122"/>
                <a:cs typeface="Arial" pitchFamily="34" charset="-120"/>
              </a:rPr>
              <a:t>Applied Bioinformatics  ·  Week 1, Session 1</a:t>
            </a:r>
            <a:endParaRPr lang="en-US" sz="1800" dirty="0"/>
          </a:p>
        </p:txBody>
      </p:sp>
      <p:sp>
        <p:nvSpPr>
          <p:cNvPr id="4" name="Text 2"/>
          <p:cNvSpPr txBox="1"/>
          <p:nvPr/>
        </p:nvSpPr>
        <p:spPr>
          <a:xfrm>
            <a:off x="361188" y="4096512"/>
            <a:ext cx="6949440" cy="292608"/>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Department of Biology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CC2C52-5C76-9A6B-D6CE-52E02EB2768F}"/>
              </a:ext>
            </a:extLst>
          </p:cNvPr>
          <p:cNvSpPr>
            <a:spLocks noGrp="1"/>
          </p:cNvSpPr>
          <p:nvPr>
            <p:ph type="ctrTitle"/>
          </p:nvPr>
        </p:nvSpPr>
        <p:spPr>
          <a:xfrm>
            <a:off x="611964" y="351793"/>
            <a:ext cx="5624713" cy="618631"/>
          </a:xfrm>
        </p:spPr>
        <p:txBody>
          <a:bodyPr/>
          <a:lstStyle/>
          <a:p>
            <a:r>
              <a:rPr lang="en-US" dirty="0"/>
              <a:t>Course Staff</a:t>
            </a:r>
          </a:p>
        </p:txBody>
      </p:sp>
      <p:sp>
        <p:nvSpPr>
          <p:cNvPr id="10" name="Text Placeholder 9">
            <a:extLst>
              <a:ext uri="{FF2B5EF4-FFF2-40B4-BE49-F238E27FC236}">
                <a16:creationId xmlns:a16="http://schemas.microsoft.com/office/drawing/2014/main" id="{BF3B9BDD-E21B-2944-56E3-32B5FEA2E7D3}"/>
              </a:ext>
            </a:extLst>
          </p:cNvPr>
          <p:cNvSpPr>
            <a:spLocks noGrp="1"/>
          </p:cNvSpPr>
          <p:nvPr>
            <p:ph type="body" sz="half" idx="10"/>
          </p:nvPr>
        </p:nvSpPr>
        <p:spPr>
          <a:xfrm>
            <a:off x="611964" y="1810498"/>
            <a:ext cx="5960177" cy="1678408"/>
          </a:xfrm>
          <a:prstGeom prst="rect">
            <a:avLst/>
          </a:prstGeom>
        </p:spPr>
        <p:txBody>
          <a:bodyPr/>
          <a:lstStyle/>
          <a:p>
            <a:r>
              <a:rPr lang="en-US" b="1" dirty="0">
                <a:solidFill>
                  <a:schemeClr val="tx1">
                    <a:lumMod val="65000"/>
                    <a:lumOff val="35000"/>
                  </a:schemeClr>
                </a:solidFill>
                <a:latin typeface="Arial" panose="020B0604020202020204" pitchFamily="34" charset="0"/>
                <a:cs typeface="Arial" panose="020B0604020202020204" pitchFamily="34" charset="0"/>
              </a:rPr>
              <a:t>Shirley Li, </a:t>
            </a:r>
            <a:r>
              <a:rPr lang="en-US" b="1" dirty="0" err="1">
                <a:solidFill>
                  <a:schemeClr val="tx1">
                    <a:lumMod val="65000"/>
                    <a:lumOff val="35000"/>
                  </a:schemeClr>
                </a:solidFill>
                <a:latin typeface="Arial" panose="020B0604020202020204" pitchFamily="34" charset="0"/>
                <a:cs typeface="Arial" panose="020B0604020202020204" pitchFamily="34" charset="0"/>
              </a:rPr>
              <a:t>Ph.D</a:t>
            </a:r>
            <a:endParaRPr lang="en-US" b="1" dirty="0">
              <a:solidFill>
                <a:schemeClr val="tx1">
                  <a:lumMod val="65000"/>
                  <a:lumOff val="35000"/>
                </a:schemeClr>
              </a:solidFill>
              <a:latin typeface="Arial" panose="020B0604020202020204" pitchFamily="34" charset="0"/>
              <a:cs typeface="Arial" panose="020B0604020202020204" pitchFamily="34" charset="0"/>
            </a:endParaRPr>
          </a:p>
          <a:p>
            <a:r>
              <a:rPr lang="en-US" dirty="0"/>
              <a:t>Bioinformatician, Tufts TTS Research Technology</a:t>
            </a:r>
          </a:p>
          <a:p>
            <a:r>
              <a:rPr lang="en-US" dirty="0">
                <a:solidFill>
                  <a:schemeClr val="tx1">
                    <a:lumMod val="65000"/>
                    <a:lumOff val="35000"/>
                  </a:schemeClr>
                </a:solidFill>
                <a:latin typeface="Arial" panose="020B0604020202020204" pitchFamily="34" charset="0"/>
                <a:cs typeface="Arial" panose="020B0604020202020204" pitchFamily="34" charset="0"/>
              </a:rPr>
              <a:t>xue.li37@tufts.edu</a:t>
            </a:r>
          </a:p>
        </p:txBody>
      </p:sp>
      <p:sp>
        <p:nvSpPr>
          <p:cNvPr id="4" name="Text Placeholder 9">
            <a:extLst>
              <a:ext uri="{FF2B5EF4-FFF2-40B4-BE49-F238E27FC236}">
                <a16:creationId xmlns:a16="http://schemas.microsoft.com/office/drawing/2014/main" id="{681BBB54-2871-694D-CDF6-55DC88B2F16E}"/>
              </a:ext>
            </a:extLst>
          </p:cNvPr>
          <p:cNvSpPr txBox="1">
            <a:spLocks/>
          </p:cNvSpPr>
          <p:nvPr/>
        </p:nvSpPr>
        <p:spPr>
          <a:xfrm>
            <a:off x="6828724" y="1746378"/>
            <a:ext cx="5960177" cy="1806648"/>
          </a:xfrm>
          <a:prstGeom prst="rect">
            <a:avLst/>
          </a:prstGeom>
        </p:spPr>
        <p:txBody>
          <a:bodyPr>
            <a:sp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b="1" dirty="0"/>
              <a:t>Yucheng Zhang, </a:t>
            </a:r>
            <a:r>
              <a:rPr lang="en-US" b="1" dirty="0" err="1"/>
              <a:t>Ph.D</a:t>
            </a:r>
            <a:endParaRPr lang="en-US" b="1" dirty="0"/>
          </a:p>
          <a:p>
            <a:r>
              <a:rPr lang="en-US" dirty="0"/>
              <a:t>Senior Bioinformatics Engineer</a:t>
            </a:r>
          </a:p>
          <a:p>
            <a:r>
              <a:rPr lang="en-US" dirty="0"/>
              <a:t>Tufts TTS Research Technology</a:t>
            </a:r>
          </a:p>
          <a:p>
            <a:r>
              <a:rPr lang="en-US" dirty="0" err="1"/>
              <a:t>yucheng.zhang@tufts.edu</a:t>
            </a:r>
            <a:endParaRPr lang="en-US" dirty="0"/>
          </a:p>
        </p:txBody>
      </p:sp>
    </p:spTree>
    <p:extLst>
      <p:ext uri="{BB962C8B-B14F-4D97-AF65-F5344CB8AC3E}">
        <p14:creationId xmlns:p14="http://schemas.microsoft.com/office/powerpoint/2010/main" val="137266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07C264-94E5-2FDB-3D95-37488C0DE18F}"/>
              </a:ext>
            </a:extLst>
          </p:cNvPr>
          <p:cNvSpPr>
            <a:spLocks noGrp="1"/>
          </p:cNvSpPr>
          <p:nvPr>
            <p:ph type="body" sz="quarter" idx="12"/>
          </p:nvPr>
        </p:nvSpPr>
        <p:spPr>
          <a:xfrm>
            <a:off x="5425679" y="839880"/>
            <a:ext cx="3606800" cy="2188035"/>
          </a:xfrm>
        </p:spPr>
        <p:txBody>
          <a:bodyPr lIns="91440" tIns="45720" rIns="91440" bIns="45720" anchor="t">
            <a:spAutoFit/>
          </a:bodyPr>
          <a:lstStyle/>
          <a:p>
            <a:pPr marL="283210" indent="-283210"/>
            <a:r>
              <a:rPr lang="en-US" dirty="0">
                <a:latin typeface="Arial"/>
                <a:cs typeface="Arial"/>
              </a:rPr>
              <a:t>Lecture</a:t>
            </a:r>
          </a:p>
          <a:p>
            <a:pPr marL="283210" indent="-283210"/>
            <a:r>
              <a:rPr lang="en-US" dirty="0">
                <a:latin typeface="Arial"/>
                <a:cs typeface="Arial"/>
              </a:rPr>
              <a:t>Homework</a:t>
            </a:r>
          </a:p>
          <a:p>
            <a:pPr marL="283210" indent="-283210"/>
            <a:r>
              <a:rPr lang="en-US" dirty="0">
                <a:latin typeface="Arial"/>
                <a:cs typeface="Arial"/>
              </a:rPr>
              <a:t>Exam</a:t>
            </a:r>
          </a:p>
          <a:p>
            <a:pPr marL="283210" indent="-283210"/>
            <a:r>
              <a:rPr lang="en-US" dirty="0">
                <a:latin typeface="Arial"/>
                <a:cs typeface="Arial"/>
              </a:rPr>
              <a:t>Final project</a:t>
            </a:r>
            <a:endParaRPr lang="en-US" dirty="0"/>
          </a:p>
        </p:txBody>
      </p:sp>
      <p:sp>
        <p:nvSpPr>
          <p:cNvPr id="3" name="Title 2">
            <a:extLst>
              <a:ext uri="{FF2B5EF4-FFF2-40B4-BE49-F238E27FC236}">
                <a16:creationId xmlns:a16="http://schemas.microsoft.com/office/drawing/2014/main" id="{E79AB709-76D2-FC87-E8E3-3B26D9064710}"/>
              </a:ext>
            </a:extLst>
          </p:cNvPr>
          <p:cNvSpPr>
            <a:spLocks noGrp="1"/>
          </p:cNvSpPr>
          <p:nvPr>
            <p:ph type="ctrTitle"/>
          </p:nvPr>
        </p:nvSpPr>
        <p:spPr/>
        <p:txBody>
          <a:bodyPr/>
          <a:lstStyle/>
          <a:p>
            <a:r>
              <a:rPr lang="en-US" dirty="0"/>
              <a:t>Course Structure</a:t>
            </a:r>
          </a:p>
        </p:txBody>
      </p:sp>
    </p:spTree>
    <p:extLst>
      <p:ext uri="{BB962C8B-B14F-4D97-AF65-F5344CB8AC3E}">
        <p14:creationId xmlns:p14="http://schemas.microsoft.com/office/powerpoint/2010/main" val="1785802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E5EACA-3829-231B-107B-384B43ADA05D}"/>
              </a:ext>
            </a:extLst>
          </p:cNvPr>
          <p:cNvSpPr>
            <a:spLocks noGrp="1"/>
          </p:cNvSpPr>
          <p:nvPr>
            <p:ph type="body" sz="quarter" idx="12"/>
          </p:nvPr>
        </p:nvSpPr>
        <p:spPr>
          <a:xfrm>
            <a:off x="777479" y="1716180"/>
            <a:ext cx="7912100" cy="3282758"/>
          </a:xfrm>
        </p:spPr>
        <p:txBody>
          <a:bodyPr wrap="square" lIns="91440" tIns="45720" rIns="91440" bIns="45720" anchor="t">
            <a:spAutoFit/>
          </a:bodyPr>
          <a:lstStyle/>
          <a:p>
            <a:pPr marL="283210" indent="-283210"/>
            <a:r>
              <a:rPr lang="en-US" sz="3200" dirty="0">
                <a:highlight>
                  <a:srgbClr val="FFFFFF"/>
                </a:highlight>
                <a:latin typeface="Aptos"/>
                <a:cs typeface="Arial"/>
              </a:rPr>
              <a:t>Class Participation: 10%</a:t>
            </a:r>
            <a:endParaRPr lang="en-US" sz="3200" b="0" dirty="0">
              <a:highlight>
                <a:srgbClr val="FFFFFF"/>
              </a:highlight>
              <a:latin typeface="Aptos"/>
              <a:cs typeface="Arial"/>
            </a:endParaRPr>
          </a:p>
          <a:p>
            <a:pPr marL="283210" indent="-283210"/>
            <a:r>
              <a:rPr lang="en-US" sz="3200" dirty="0">
                <a:highlight>
                  <a:srgbClr val="FFFFFF"/>
                </a:highlight>
                <a:latin typeface="Aptos"/>
                <a:cs typeface="Arial"/>
              </a:rPr>
              <a:t>Homework: 30%</a:t>
            </a:r>
          </a:p>
          <a:p>
            <a:pPr marL="283210" indent="-283210"/>
            <a:r>
              <a:rPr lang="en-US" sz="3200" dirty="0">
                <a:highlight>
                  <a:srgbClr val="FFFFFF"/>
                </a:highlight>
                <a:latin typeface="Aptos"/>
                <a:cs typeface="Arial"/>
              </a:rPr>
              <a:t>Exam: 20% </a:t>
            </a:r>
          </a:p>
          <a:p>
            <a:pPr marL="283210" indent="-283210"/>
            <a:r>
              <a:rPr lang="en-US" sz="3200" dirty="0">
                <a:highlight>
                  <a:srgbClr val="FFFFFF"/>
                </a:highlight>
                <a:latin typeface="Aptos"/>
                <a:cs typeface="Arial"/>
              </a:rPr>
              <a:t>Final Project: 40%</a:t>
            </a:r>
          </a:p>
          <a:p>
            <a:pPr marL="648970" lvl="1" indent="-283210"/>
            <a:endParaRPr lang="en-US" sz="3200" dirty="0">
              <a:highlight>
                <a:srgbClr val="FFFFFF"/>
              </a:highlight>
              <a:latin typeface="Aptos"/>
            </a:endParaRPr>
          </a:p>
          <a:p>
            <a:pPr marL="283210" indent="-283210"/>
            <a:endParaRPr lang="en-US" sz="3200" dirty="0"/>
          </a:p>
        </p:txBody>
      </p:sp>
      <p:sp>
        <p:nvSpPr>
          <p:cNvPr id="3" name="Title 2">
            <a:extLst>
              <a:ext uri="{FF2B5EF4-FFF2-40B4-BE49-F238E27FC236}">
                <a16:creationId xmlns:a16="http://schemas.microsoft.com/office/drawing/2014/main" id="{C84BE54B-BDED-B2F8-648B-079F4FCDDB2A}"/>
              </a:ext>
            </a:extLst>
          </p:cNvPr>
          <p:cNvSpPr>
            <a:spLocks noGrp="1"/>
          </p:cNvSpPr>
          <p:nvPr>
            <p:ph type="ctrTitle"/>
          </p:nvPr>
        </p:nvSpPr>
        <p:spPr>
          <a:xfrm>
            <a:off x="610340" y="585695"/>
            <a:ext cx="4363718" cy="932956"/>
          </a:xfrm>
        </p:spPr>
        <p:txBody>
          <a:bodyPr/>
          <a:lstStyle/>
          <a:p>
            <a:r>
              <a:rPr lang="en-US" dirty="0"/>
              <a:t>Deliverables</a:t>
            </a:r>
          </a:p>
        </p:txBody>
      </p:sp>
    </p:spTree>
    <p:extLst>
      <p:ext uri="{BB962C8B-B14F-4D97-AF65-F5344CB8AC3E}">
        <p14:creationId xmlns:p14="http://schemas.microsoft.com/office/powerpoint/2010/main" val="4207311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65B373-E101-92FE-B276-5D3E80DBD926}"/>
              </a:ext>
            </a:extLst>
          </p:cNvPr>
          <p:cNvSpPr>
            <a:spLocks noGrp="1"/>
          </p:cNvSpPr>
          <p:nvPr>
            <p:ph type="body" sz="quarter" idx="12"/>
          </p:nvPr>
        </p:nvSpPr>
        <p:spPr>
          <a:xfrm>
            <a:off x="620451" y="1618859"/>
            <a:ext cx="10156405" cy="4342407"/>
          </a:xfrm>
        </p:spPr>
        <p:txBody>
          <a:bodyPr/>
          <a:lstStyle/>
          <a:p>
            <a:r>
              <a:rPr lang="en-US" b="0" dirty="0"/>
              <a:t>AI is widely used in bioinformatics research and practice.</a:t>
            </a:r>
          </a:p>
          <a:p>
            <a:r>
              <a:rPr lang="en-US" b="0" dirty="0"/>
              <a:t>For this course, minimize AI use in homework assignments.</a:t>
            </a:r>
          </a:p>
          <a:p>
            <a:r>
              <a:rPr lang="en-US" b="0" dirty="0"/>
              <a:t>You can use AI to conduct analysis, but writing report with AI is not allowed.</a:t>
            </a:r>
          </a:p>
          <a:p>
            <a:r>
              <a:rPr lang="en-US" b="0" dirty="0"/>
              <a:t>If you use AI to solve the homework for you, you are not going to learn anything. </a:t>
            </a:r>
          </a:p>
          <a:p>
            <a:r>
              <a:rPr lang="en-US" b="0" dirty="0"/>
              <a:t>You are encouraged to use AI responsibly in your future work.</a:t>
            </a:r>
          </a:p>
          <a:p>
            <a:r>
              <a:rPr lang="en-US" b="0" dirty="0"/>
              <a:t>Always use AI as an assistant and do not replace thinking with AI.</a:t>
            </a:r>
          </a:p>
        </p:txBody>
      </p:sp>
      <p:sp>
        <p:nvSpPr>
          <p:cNvPr id="3" name="Title 2">
            <a:extLst>
              <a:ext uri="{FF2B5EF4-FFF2-40B4-BE49-F238E27FC236}">
                <a16:creationId xmlns:a16="http://schemas.microsoft.com/office/drawing/2014/main" id="{DB487DD5-6A8D-67E9-A5E1-BD054E65BFFC}"/>
              </a:ext>
            </a:extLst>
          </p:cNvPr>
          <p:cNvSpPr>
            <a:spLocks noGrp="1"/>
          </p:cNvSpPr>
          <p:nvPr>
            <p:ph type="ctrTitle"/>
          </p:nvPr>
        </p:nvSpPr>
        <p:spPr/>
        <p:txBody>
          <a:bodyPr/>
          <a:lstStyle/>
          <a:p>
            <a:r>
              <a:rPr lang="en-US" dirty="0"/>
              <a:t>AI Policy</a:t>
            </a:r>
          </a:p>
        </p:txBody>
      </p:sp>
      <p:sp>
        <p:nvSpPr>
          <p:cNvPr id="4" name="Subtitle 3">
            <a:extLst>
              <a:ext uri="{FF2B5EF4-FFF2-40B4-BE49-F238E27FC236}">
                <a16:creationId xmlns:a16="http://schemas.microsoft.com/office/drawing/2014/main" id="{CB9F5A21-4215-A920-F87B-BC8D06DD452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41612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B4BBFC-741F-337A-551F-8F0EC76C8BEE}"/>
              </a:ext>
            </a:extLst>
          </p:cNvPr>
          <p:cNvSpPr>
            <a:spLocks noGrp="1"/>
          </p:cNvSpPr>
          <p:nvPr>
            <p:ph type="ctrTitle"/>
          </p:nvPr>
        </p:nvSpPr>
        <p:spPr>
          <a:xfrm>
            <a:off x="629390" y="357095"/>
            <a:ext cx="6477466" cy="1144929"/>
          </a:xfrm>
        </p:spPr>
        <p:txBody>
          <a:bodyPr/>
          <a:lstStyle/>
          <a:p>
            <a:r>
              <a:rPr lang="en-US" dirty="0"/>
              <a:t>Computing Environment</a:t>
            </a:r>
          </a:p>
        </p:txBody>
      </p:sp>
      <p:sp>
        <p:nvSpPr>
          <p:cNvPr id="6" name="TextBox 5">
            <a:extLst>
              <a:ext uri="{FF2B5EF4-FFF2-40B4-BE49-F238E27FC236}">
                <a16:creationId xmlns:a16="http://schemas.microsoft.com/office/drawing/2014/main" id="{035D1D33-9D5F-041F-A091-5A866839492C}"/>
              </a:ext>
            </a:extLst>
          </p:cNvPr>
          <p:cNvSpPr txBox="1"/>
          <p:nvPr/>
        </p:nvSpPr>
        <p:spPr>
          <a:xfrm>
            <a:off x="818194" y="5562165"/>
            <a:ext cx="6099858" cy="461665"/>
          </a:xfrm>
          <a:prstGeom prst="rect">
            <a:avLst/>
          </a:prstGeom>
          <a:noFill/>
        </p:spPr>
        <p:txBody>
          <a:bodyPr wrap="square">
            <a:spAutoFit/>
          </a:bodyPr>
          <a:lstStyle/>
          <a:p>
            <a:r>
              <a:rPr lang="en-US" sz="2400" dirty="0">
                <a:hlinkClick r:id="rId2"/>
              </a:rPr>
              <a:t>https://</a:t>
            </a:r>
            <a:r>
              <a:rPr lang="en-US" sz="2400" dirty="0" err="1">
                <a:hlinkClick r:id="rId2"/>
              </a:rPr>
              <a:t>ondemand-prod.pax.tufts.edu</a:t>
            </a:r>
            <a:endParaRPr lang="en-US" sz="2400" dirty="0"/>
          </a:p>
        </p:txBody>
      </p:sp>
      <p:pic>
        <p:nvPicPr>
          <p:cNvPr id="8" name="Picture 7">
            <a:extLst>
              <a:ext uri="{FF2B5EF4-FFF2-40B4-BE49-F238E27FC236}">
                <a16:creationId xmlns:a16="http://schemas.microsoft.com/office/drawing/2014/main" id="{19854266-EB89-44A1-0451-955B5C6C3E8D}"/>
              </a:ext>
            </a:extLst>
          </p:cNvPr>
          <p:cNvPicPr>
            <a:picLocks noChangeAspect="1"/>
          </p:cNvPicPr>
          <p:nvPr/>
        </p:nvPicPr>
        <p:blipFill>
          <a:blip r:embed="rId3"/>
          <a:stretch>
            <a:fillRect/>
          </a:stretch>
        </p:blipFill>
        <p:spPr>
          <a:xfrm>
            <a:off x="629389" y="1224370"/>
            <a:ext cx="10087747" cy="4337795"/>
          </a:xfrm>
          <a:prstGeom prst="rect">
            <a:avLst/>
          </a:prstGeom>
        </p:spPr>
      </p:pic>
    </p:spTree>
    <p:extLst>
      <p:ext uri="{BB962C8B-B14F-4D97-AF65-F5344CB8AC3E}">
        <p14:creationId xmlns:p14="http://schemas.microsoft.com/office/powerpoint/2010/main" val="2743067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43EEF-685B-96A0-152A-7A5933F135CB}"/>
              </a:ext>
            </a:extLst>
          </p:cNvPr>
          <p:cNvSpPr>
            <a:spLocks noGrp="1"/>
          </p:cNvSpPr>
          <p:nvPr>
            <p:ph type="ctrTitle"/>
          </p:nvPr>
        </p:nvSpPr>
        <p:spPr>
          <a:xfrm>
            <a:off x="247650" y="254851"/>
            <a:ext cx="4363718" cy="618631"/>
          </a:xfrm>
        </p:spPr>
        <p:txBody>
          <a:bodyPr/>
          <a:lstStyle/>
          <a:p>
            <a:r>
              <a:rPr lang="en-US" dirty="0"/>
              <a:t>VS Code</a:t>
            </a:r>
          </a:p>
        </p:txBody>
      </p:sp>
      <p:pic>
        <p:nvPicPr>
          <p:cNvPr id="6" name="Picture 5">
            <a:extLst>
              <a:ext uri="{FF2B5EF4-FFF2-40B4-BE49-F238E27FC236}">
                <a16:creationId xmlns:a16="http://schemas.microsoft.com/office/drawing/2014/main" id="{D92EE2CE-3D8D-41ED-ACFC-A217CAA07279}"/>
              </a:ext>
            </a:extLst>
          </p:cNvPr>
          <p:cNvPicPr>
            <a:picLocks noChangeAspect="1"/>
          </p:cNvPicPr>
          <p:nvPr/>
        </p:nvPicPr>
        <p:blipFill>
          <a:blip r:embed="rId2"/>
          <a:stretch>
            <a:fillRect/>
          </a:stretch>
        </p:blipFill>
        <p:spPr>
          <a:xfrm>
            <a:off x="1062011" y="876300"/>
            <a:ext cx="10063189" cy="5382228"/>
          </a:xfrm>
          <a:prstGeom prst="rect">
            <a:avLst/>
          </a:prstGeom>
        </p:spPr>
      </p:pic>
    </p:spTree>
    <p:extLst>
      <p:ext uri="{BB962C8B-B14F-4D97-AF65-F5344CB8AC3E}">
        <p14:creationId xmlns:p14="http://schemas.microsoft.com/office/powerpoint/2010/main" val="3408599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Today, and what you will have at the end</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OPENING</a:t>
            </a:r>
            <a:endParaRPr lang="en-US" sz="1200" dirty="0"/>
          </a:p>
        </p:txBody>
      </p:sp>
      <p:sp>
        <p:nvSpPr>
          <p:cNvPr id="4" name="Shape 2"/>
          <p:cNvSpPr/>
          <p:nvPr/>
        </p:nvSpPr>
        <p:spPr>
          <a:xfrm>
            <a:off x="615391" y="1481328"/>
            <a:ext cx="10963656" cy="859536"/>
          </a:xfrm>
          <a:prstGeom prst="roundRect">
            <a:avLst>
              <a:gd name="adj" fmla="val 6383"/>
            </a:avLst>
          </a:prstGeom>
          <a:solidFill>
            <a:srgbClr val="FAFBFC"/>
          </a:solidFill>
          <a:ln w="12700">
            <a:solidFill>
              <a:srgbClr val="FAFBFC"/>
            </a:solidFill>
            <a:prstDash val="solid"/>
          </a:ln>
        </p:spPr>
        <p:txBody>
          <a:bodyPr/>
          <a:lstStyle/>
          <a:p>
            <a:endParaRPr lang="en-US"/>
          </a:p>
        </p:txBody>
      </p:sp>
      <p:sp>
        <p:nvSpPr>
          <p:cNvPr id="5" name="Shape 3"/>
          <p:cNvSpPr/>
          <p:nvPr/>
        </p:nvSpPr>
        <p:spPr>
          <a:xfrm>
            <a:off x="889711" y="1719072"/>
            <a:ext cx="384048" cy="384048"/>
          </a:xfrm>
          <a:prstGeom prst="diamond">
            <a:avLst/>
          </a:prstGeom>
          <a:solidFill>
            <a:srgbClr val="C0CD30"/>
          </a:solidFill>
          <a:ln w="12700">
            <a:solidFill>
              <a:srgbClr val="C0CD30"/>
            </a:solidFill>
            <a:prstDash val="solid"/>
          </a:ln>
        </p:spPr>
        <p:txBody>
          <a:bodyPr/>
          <a:lstStyle/>
          <a:p>
            <a:endParaRPr lang="en-US"/>
          </a:p>
        </p:txBody>
      </p:sp>
      <p:sp>
        <p:nvSpPr>
          <p:cNvPr id="6" name="Text 4"/>
          <p:cNvSpPr txBox="1"/>
          <p:nvPr/>
        </p:nvSpPr>
        <p:spPr>
          <a:xfrm>
            <a:off x="889711" y="1783080"/>
            <a:ext cx="384048" cy="274320"/>
          </a:xfrm>
          <a:prstGeom prst="rect">
            <a:avLst/>
          </a:prstGeom>
          <a:noFill/>
          <a:ln/>
        </p:spPr>
        <p:txBody>
          <a:bodyPr wrap="square" lIns="0" tIns="0" rIns="0" bIns="0" rtlCol="0" anchor="ctr"/>
          <a:lstStyle/>
          <a:p>
            <a:pPr marL="0" indent="0" algn="ctr">
              <a:buNone/>
            </a:pPr>
            <a:r>
              <a:rPr lang="en-US" sz="1300" b="1" dirty="0">
                <a:solidFill>
                  <a:srgbClr val="4A5411"/>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511503" y="1664208"/>
            <a:ext cx="2926080" cy="274320"/>
          </a:xfrm>
          <a:prstGeom prst="rect">
            <a:avLst/>
          </a:prstGeom>
          <a:noFill/>
          <a:ln/>
        </p:spPr>
        <p:txBody>
          <a:bodyPr wrap="square" lIns="0" tIns="0" rIns="0" bIns="0" rtlCol="0" anchor="ctr"/>
          <a:lstStyle/>
          <a:p>
            <a:pPr marL="0" indent="0">
              <a:buNone/>
            </a:pPr>
            <a:r>
              <a:rPr lang="en-US" sz="1600" b="1" dirty="0">
                <a:solidFill>
                  <a:srgbClr val="1F2933"/>
                </a:solidFill>
                <a:latin typeface="Arial" pitchFamily="34" charset="0"/>
                <a:ea typeface="Arial" pitchFamily="34" charset="-122"/>
                <a:cs typeface="Arial" pitchFamily="34" charset="-120"/>
              </a:rPr>
              <a:t>How the shell works</a:t>
            </a:r>
            <a:endParaRPr lang="en-US" sz="1600" dirty="0"/>
          </a:p>
        </p:txBody>
      </p:sp>
      <p:sp>
        <p:nvSpPr>
          <p:cNvPr id="9" name="Text 7"/>
          <p:cNvSpPr txBox="1"/>
          <p:nvPr/>
        </p:nvSpPr>
        <p:spPr>
          <a:xfrm>
            <a:off x="4593031" y="1764792"/>
            <a:ext cx="6675120" cy="36576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Commands, paths, and the handful of verbs you use every day</a:t>
            </a:r>
            <a:endParaRPr lang="en-US" sz="1600" dirty="0"/>
          </a:p>
        </p:txBody>
      </p:sp>
      <p:sp>
        <p:nvSpPr>
          <p:cNvPr id="10" name="Shape 8"/>
          <p:cNvSpPr/>
          <p:nvPr/>
        </p:nvSpPr>
        <p:spPr>
          <a:xfrm>
            <a:off x="615391" y="2505456"/>
            <a:ext cx="10963656" cy="859536"/>
          </a:xfrm>
          <a:prstGeom prst="roundRect">
            <a:avLst>
              <a:gd name="adj" fmla="val 6383"/>
            </a:avLst>
          </a:prstGeom>
          <a:solidFill>
            <a:srgbClr val="EEF4FA"/>
          </a:solidFill>
          <a:ln w="12700">
            <a:solidFill>
              <a:srgbClr val="EEF4FA"/>
            </a:solidFill>
            <a:prstDash val="solid"/>
          </a:ln>
        </p:spPr>
        <p:txBody>
          <a:bodyPr/>
          <a:lstStyle/>
          <a:p>
            <a:endParaRPr lang="en-US"/>
          </a:p>
        </p:txBody>
      </p:sp>
      <p:sp>
        <p:nvSpPr>
          <p:cNvPr id="11" name="Shape 9"/>
          <p:cNvSpPr/>
          <p:nvPr/>
        </p:nvSpPr>
        <p:spPr>
          <a:xfrm>
            <a:off x="889711" y="2743200"/>
            <a:ext cx="384048" cy="384048"/>
          </a:xfrm>
          <a:prstGeom prst="diamond">
            <a:avLst/>
          </a:prstGeom>
          <a:solidFill>
            <a:srgbClr val="FFC82C"/>
          </a:solidFill>
          <a:ln w="12700">
            <a:solidFill>
              <a:srgbClr val="FFC82C"/>
            </a:solidFill>
            <a:prstDash val="solid"/>
          </a:ln>
        </p:spPr>
        <p:txBody>
          <a:bodyPr/>
          <a:lstStyle/>
          <a:p>
            <a:endParaRPr lang="en-US"/>
          </a:p>
        </p:txBody>
      </p:sp>
      <p:sp>
        <p:nvSpPr>
          <p:cNvPr id="12" name="Text 10"/>
          <p:cNvSpPr txBox="1"/>
          <p:nvPr/>
        </p:nvSpPr>
        <p:spPr>
          <a:xfrm>
            <a:off x="889711" y="2807208"/>
            <a:ext cx="384048"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1511503" y="2688336"/>
            <a:ext cx="2926080" cy="274320"/>
          </a:xfrm>
          <a:prstGeom prst="rect">
            <a:avLst/>
          </a:prstGeom>
          <a:noFill/>
          <a:ln/>
        </p:spPr>
        <p:txBody>
          <a:bodyPr wrap="square" lIns="0" tIns="0" rIns="0" bIns="0" rtlCol="0" anchor="ctr"/>
          <a:lstStyle/>
          <a:p>
            <a:pPr marL="0" indent="0">
              <a:buNone/>
            </a:pPr>
            <a:r>
              <a:rPr lang="en-US" sz="1600" b="1" dirty="0">
                <a:solidFill>
                  <a:srgbClr val="1F2933"/>
                </a:solidFill>
                <a:latin typeface="Arial" pitchFamily="34" charset="0"/>
                <a:ea typeface="Arial" pitchFamily="34" charset="-122"/>
                <a:cs typeface="Arial" pitchFamily="34" charset="-120"/>
              </a:rPr>
              <a:t>Text processing</a:t>
            </a:r>
            <a:endParaRPr lang="en-US" sz="1600" dirty="0"/>
          </a:p>
        </p:txBody>
      </p:sp>
      <p:sp>
        <p:nvSpPr>
          <p:cNvPr id="15" name="Text 13"/>
          <p:cNvSpPr txBox="1"/>
          <p:nvPr/>
        </p:nvSpPr>
        <p:spPr>
          <a:xfrm>
            <a:off x="4593031" y="2788920"/>
            <a:ext cx="6675120" cy="36576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grep, awk and sed on a real annotation file</a:t>
            </a:r>
            <a:endParaRPr lang="en-US" sz="1600" dirty="0"/>
          </a:p>
        </p:txBody>
      </p:sp>
      <p:sp>
        <p:nvSpPr>
          <p:cNvPr id="16" name="Shape 14"/>
          <p:cNvSpPr/>
          <p:nvPr/>
        </p:nvSpPr>
        <p:spPr>
          <a:xfrm>
            <a:off x="615391" y="3529584"/>
            <a:ext cx="10963656" cy="859536"/>
          </a:xfrm>
          <a:prstGeom prst="roundRect">
            <a:avLst>
              <a:gd name="adj" fmla="val 6383"/>
            </a:avLst>
          </a:prstGeom>
          <a:solidFill>
            <a:srgbClr val="FAFBFC"/>
          </a:solidFill>
          <a:ln w="12700">
            <a:solidFill>
              <a:srgbClr val="FAFBFC"/>
            </a:solidFill>
            <a:prstDash val="solid"/>
          </a:ln>
        </p:spPr>
        <p:txBody>
          <a:bodyPr/>
          <a:lstStyle/>
          <a:p>
            <a:endParaRPr lang="en-US"/>
          </a:p>
        </p:txBody>
      </p:sp>
      <p:sp>
        <p:nvSpPr>
          <p:cNvPr id="17" name="Shape 15"/>
          <p:cNvSpPr/>
          <p:nvPr/>
        </p:nvSpPr>
        <p:spPr>
          <a:xfrm>
            <a:off x="889711" y="3767328"/>
            <a:ext cx="384048" cy="384048"/>
          </a:xfrm>
          <a:prstGeom prst="diamond">
            <a:avLst/>
          </a:prstGeom>
          <a:solidFill>
            <a:srgbClr val="498BCA"/>
          </a:solidFill>
          <a:ln w="12700">
            <a:solidFill>
              <a:srgbClr val="498BCA"/>
            </a:solidFill>
            <a:prstDash val="solid"/>
          </a:ln>
        </p:spPr>
        <p:txBody>
          <a:bodyPr/>
          <a:lstStyle/>
          <a:p>
            <a:endParaRPr lang="en-US"/>
          </a:p>
        </p:txBody>
      </p:sp>
      <p:sp>
        <p:nvSpPr>
          <p:cNvPr id="18" name="Text 16"/>
          <p:cNvSpPr txBox="1"/>
          <p:nvPr/>
        </p:nvSpPr>
        <p:spPr>
          <a:xfrm>
            <a:off x="889711" y="3831336"/>
            <a:ext cx="384048"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511503" y="3712464"/>
            <a:ext cx="2926080" cy="274320"/>
          </a:xfrm>
          <a:prstGeom prst="rect">
            <a:avLst/>
          </a:prstGeom>
          <a:noFill/>
          <a:ln/>
        </p:spPr>
        <p:txBody>
          <a:bodyPr wrap="square" lIns="0" tIns="0" rIns="0" bIns="0" rtlCol="0" anchor="ctr"/>
          <a:lstStyle/>
          <a:p>
            <a:pPr marL="0" indent="0">
              <a:buNone/>
            </a:pPr>
            <a:r>
              <a:rPr lang="en-US" sz="1600" b="1" dirty="0">
                <a:solidFill>
                  <a:srgbClr val="1F2933"/>
                </a:solidFill>
                <a:latin typeface="Arial" pitchFamily="34" charset="0"/>
                <a:ea typeface="Arial" pitchFamily="34" charset="-122"/>
                <a:cs typeface="Arial" pitchFamily="34" charset="-120"/>
              </a:rPr>
              <a:t>Git from day one</a:t>
            </a:r>
            <a:endParaRPr lang="en-US" sz="1600" dirty="0"/>
          </a:p>
        </p:txBody>
      </p:sp>
      <p:sp>
        <p:nvSpPr>
          <p:cNvPr id="21" name="Text 19"/>
          <p:cNvSpPr txBox="1"/>
          <p:nvPr/>
        </p:nvSpPr>
        <p:spPr>
          <a:xfrm>
            <a:off x="4593031" y="3813048"/>
            <a:ext cx="6675120" cy="36576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init, add, commit, ignore, branch, push</a:t>
            </a:r>
            <a:endParaRPr lang="en-US" sz="1600" dirty="0"/>
          </a:p>
        </p:txBody>
      </p:sp>
      <p:sp>
        <p:nvSpPr>
          <p:cNvPr id="22" name="Shape 20"/>
          <p:cNvSpPr/>
          <p:nvPr/>
        </p:nvSpPr>
        <p:spPr>
          <a:xfrm>
            <a:off x="615391" y="4663440"/>
            <a:ext cx="10963656" cy="777240"/>
          </a:xfrm>
          <a:prstGeom prst="roundRect">
            <a:avLst>
              <a:gd name="adj" fmla="val 7059"/>
            </a:avLst>
          </a:prstGeom>
          <a:solidFill>
            <a:srgbClr val="F5F6F0"/>
          </a:solidFill>
          <a:ln w="12700">
            <a:solidFill>
              <a:srgbClr val="F5F6F0"/>
            </a:solidFill>
            <a:prstDash val="solid"/>
          </a:ln>
        </p:spPr>
        <p:txBody>
          <a:bodyPr/>
          <a:lstStyle/>
          <a:p>
            <a:endParaRPr lang="en-US" sz="2400" dirty="0"/>
          </a:p>
        </p:txBody>
      </p:sp>
      <p:sp>
        <p:nvSpPr>
          <p:cNvPr id="23" name="Text 21"/>
          <p:cNvSpPr txBox="1"/>
          <p:nvPr/>
        </p:nvSpPr>
        <p:spPr>
          <a:xfrm>
            <a:off x="999439" y="4837176"/>
            <a:ext cx="10195560" cy="411480"/>
          </a:xfrm>
          <a:prstGeom prst="rect">
            <a:avLst/>
          </a:prstGeom>
          <a:noFill/>
          <a:ln/>
        </p:spPr>
        <p:txBody>
          <a:bodyPr wrap="square" lIns="0" tIns="0" rIns="0" bIns="0" rtlCol="0" anchor="ctr"/>
          <a:lstStyle/>
          <a:p>
            <a:pPr marL="0" indent="0">
              <a:buNone/>
            </a:pPr>
            <a:r>
              <a:rPr lang="en-US" b="1" dirty="0">
                <a:solidFill>
                  <a:srgbClr val="205081"/>
                </a:solidFill>
                <a:latin typeface="Arial" pitchFamily="34" charset="0"/>
                <a:ea typeface="Arial" pitchFamily="34" charset="-122"/>
                <a:cs typeface="Arial" pitchFamily="34" charset="-120"/>
              </a:rPr>
              <a:t>You will leave with a git repository containing your first commit.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Anatomy of a command</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THE SHELL</a:t>
            </a:r>
            <a:endParaRPr lang="en-US" sz="1200" dirty="0"/>
          </a:p>
        </p:txBody>
      </p:sp>
      <p:sp>
        <p:nvSpPr>
          <p:cNvPr id="4" name="Shape 2"/>
          <p:cNvSpPr/>
          <p:nvPr/>
        </p:nvSpPr>
        <p:spPr>
          <a:xfrm>
            <a:off x="615391" y="1481328"/>
            <a:ext cx="10963656" cy="713232"/>
          </a:xfrm>
          <a:prstGeom prst="roundRect">
            <a:avLst>
              <a:gd name="adj" fmla="val 7692"/>
            </a:avLst>
          </a:prstGeom>
          <a:solidFill>
            <a:srgbClr val="1F2933"/>
          </a:solidFill>
          <a:ln w="12700">
            <a:solidFill>
              <a:srgbClr val="1F2933"/>
            </a:solidFill>
            <a:prstDash val="solid"/>
          </a:ln>
        </p:spPr>
        <p:txBody>
          <a:bodyPr/>
          <a:lstStyle/>
          <a:p>
            <a:endParaRPr lang="en-US"/>
          </a:p>
        </p:txBody>
      </p:sp>
      <p:sp>
        <p:nvSpPr>
          <p:cNvPr id="5" name="Text 3"/>
          <p:cNvSpPr txBox="1"/>
          <p:nvPr/>
        </p:nvSpPr>
        <p:spPr>
          <a:xfrm>
            <a:off x="853135" y="1645920"/>
            <a:ext cx="10506456" cy="256032"/>
          </a:xfrm>
          <a:prstGeom prst="rect">
            <a:avLst/>
          </a:prstGeom>
          <a:noFill/>
          <a:ln/>
        </p:spPr>
        <p:txBody>
          <a:bodyPr wrap="square" lIns="0" tIns="0" rIns="0" bIns="0" rtlCol="0" anchor="ctr"/>
          <a:lstStyle/>
          <a:p>
            <a:pPr marL="0" indent="0">
              <a:buNone/>
            </a:pPr>
            <a:r>
              <a:rPr lang="en-US" sz="1700" dirty="0">
                <a:solidFill>
                  <a:srgbClr val="E8EDF2"/>
                </a:solidFill>
                <a:latin typeface="Courier New" pitchFamily="34" charset="0"/>
                <a:ea typeface="Courier New" pitchFamily="34" charset="-122"/>
                <a:cs typeface="Courier New" pitchFamily="34" charset="-120"/>
              </a:rPr>
              <a:t>$ ls -lh --color=auto /cluster/tufts/</a:t>
            </a:r>
            <a:endParaRPr lang="en-US" sz="1700" dirty="0"/>
          </a:p>
        </p:txBody>
      </p:sp>
      <p:sp>
        <p:nvSpPr>
          <p:cNvPr id="6" name="Shape 4"/>
          <p:cNvSpPr/>
          <p:nvPr/>
        </p:nvSpPr>
        <p:spPr>
          <a:xfrm>
            <a:off x="615391" y="2441448"/>
            <a:ext cx="7772400" cy="676656"/>
          </a:xfrm>
          <a:prstGeom prst="roundRect">
            <a:avLst>
              <a:gd name="adj" fmla="val 8108"/>
            </a:avLst>
          </a:prstGeom>
          <a:solidFill>
            <a:srgbClr val="FAFBFC"/>
          </a:solidFill>
          <a:ln w="12700">
            <a:solidFill>
              <a:srgbClr val="FAFBFC"/>
            </a:solidFill>
            <a:prstDash val="solid"/>
          </a:ln>
        </p:spPr>
        <p:txBody>
          <a:bodyPr/>
          <a:lstStyle/>
          <a:p>
            <a:endParaRPr lang="en-US"/>
          </a:p>
        </p:txBody>
      </p:sp>
      <p:sp>
        <p:nvSpPr>
          <p:cNvPr id="7" name="Text 5"/>
          <p:cNvSpPr txBox="1"/>
          <p:nvPr/>
        </p:nvSpPr>
        <p:spPr>
          <a:xfrm>
            <a:off x="889711" y="2624328"/>
            <a:ext cx="1737360" cy="310896"/>
          </a:xfrm>
          <a:prstGeom prst="rect">
            <a:avLst/>
          </a:prstGeom>
          <a:noFill/>
          <a:ln/>
        </p:spPr>
        <p:txBody>
          <a:bodyPr wrap="square" lIns="0" tIns="0" rIns="0" bIns="0" rtlCol="0" anchor="ctr"/>
          <a:lstStyle/>
          <a:p>
            <a:pPr marL="0" indent="0">
              <a:buNone/>
            </a:pPr>
            <a:r>
              <a:rPr lang="en-US" sz="1400" b="1" dirty="0">
                <a:solidFill>
                  <a:srgbClr val="498BCA"/>
                </a:solidFill>
                <a:latin typeface="Courier New" pitchFamily="34" charset="0"/>
                <a:ea typeface="Courier New" pitchFamily="34" charset="-122"/>
                <a:cs typeface="Courier New" pitchFamily="34" charset="-120"/>
              </a:rPr>
              <a:t>ls</a:t>
            </a:r>
            <a:endParaRPr lang="en-US" sz="1400" dirty="0"/>
          </a:p>
        </p:txBody>
      </p:sp>
      <p:sp>
        <p:nvSpPr>
          <p:cNvPr id="8" name="Text 6"/>
          <p:cNvSpPr txBox="1"/>
          <p:nvPr/>
        </p:nvSpPr>
        <p:spPr>
          <a:xfrm>
            <a:off x="2764231" y="2624328"/>
            <a:ext cx="1600200" cy="310896"/>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the command</a:t>
            </a:r>
            <a:endParaRPr lang="en-US" sz="1400" dirty="0"/>
          </a:p>
        </p:txBody>
      </p:sp>
      <p:sp>
        <p:nvSpPr>
          <p:cNvPr id="9" name="Text 7"/>
          <p:cNvSpPr txBox="1"/>
          <p:nvPr/>
        </p:nvSpPr>
        <p:spPr>
          <a:xfrm>
            <a:off x="4455871" y="2624328"/>
            <a:ext cx="3794760" cy="365760"/>
          </a:xfrm>
          <a:prstGeom prst="rect">
            <a:avLst/>
          </a:prstGeom>
          <a:noFill/>
          <a:ln/>
        </p:spPr>
        <p:txBody>
          <a:bodyPr wrap="square" lIns="0" tIns="0" rIns="0" bIns="0" rtlCol="0" anchor="ctr"/>
          <a:lstStyle/>
          <a:p>
            <a:pPr marL="0" indent="0">
              <a:lnSpc>
                <a:spcPts val="1500"/>
              </a:lnSpc>
              <a:buNone/>
            </a:pPr>
            <a:r>
              <a:rPr lang="en-US" sz="1400" dirty="0">
                <a:solidFill>
                  <a:srgbClr val="6B7280"/>
                </a:solidFill>
                <a:latin typeface="Arial" pitchFamily="34" charset="0"/>
                <a:ea typeface="Arial" pitchFamily="34" charset="-122"/>
                <a:cs typeface="Arial" pitchFamily="34" charset="-120"/>
              </a:rPr>
              <a:t>The program you want to run</a:t>
            </a:r>
            <a:r>
              <a:rPr lang="en-US" sz="1150" dirty="0">
                <a:solidFill>
                  <a:srgbClr val="6B7280"/>
                </a:solidFill>
                <a:latin typeface="Arial" pitchFamily="34" charset="0"/>
                <a:ea typeface="Arial" pitchFamily="34" charset="-122"/>
                <a:cs typeface="Arial" pitchFamily="34" charset="-120"/>
              </a:rPr>
              <a:t>.</a:t>
            </a:r>
            <a:endParaRPr lang="en-US" sz="1150" dirty="0"/>
          </a:p>
        </p:txBody>
      </p:sp>
      <p:sp>
        <p:nvSpPr>
          <p:cNvPr id="10" name="Shape 8"/>
          <p:cNvSpPr/>
          <p:nvPr/>
        </p:nvSpPr>
        <p:spPr>
          <a:xfrm>
            <a:off x="615391" y="3227832"/>
            <a:ext cx="7772400" cy="676656"/>
          </a:xfrm>
          <a:prstGeom prst="roundRect">
            <a:avLst>
              <a:gd name="adj" fmla="val 8108"/>
            </a:avLst>
          </a:prstGeom>
          <a:solidFill>
            <a:srgbClr val="FAFBFC"/>
          </a:solidFill>
          <a:ln w="12700">
            <a:solidFill>
              <a:srgbClr val="FAFBFC"/>
            </a:solidFill>
            <a:prstDash val="solid"/>
          </a:ln>
        </p:spPr>
        <p:txBody>
          <a:bodyPr/>
          <a:lstStyle/>
          <a:p>
            <a:endParaRPr lang="en-US"/>
          </a:p>
        </p:txBody>
      </p:sp>
      <p:sp>
        <p:nvSpPr>
          <p:cNvPr id="11" name="Text 9"/>
          <p:cNvSpPr txBox="1"/>
          <p:nvPr/>
        </p:nvSpPr>
        <p:spPr>
          <a:xfrm>
            <a:off x="889711" y="3410712"/>
            <a:ext cx="1737360" cy="310896"/>
          </a:xfrm>
          <a:prstGeom prst="rect">
            <a:avLst/>
          </a:prstGeom>
          <a:noFill/>
          <a:ln/>
        </p:spPr>
        <p:txBody>
          <a:bodyPr wrap="square" lIns="0" tIns="0" rIns="0" bIns="0" rtlCol="0" anchor="ctr"/>
          <a:lstStyle/>
          <a:p>
            <a:pPr marL="0" indent="0">
              <a:buNone/>
            </a:pPr>
            <a:r>
              <a:rPr lang="en-US" sz="1400" b="1" dirty="0">
                <a:solidFill>
                  <a:srgbClr val="B8860B"/>
                </a:solidFill>
                <a:latin typeface="Courier New" pitchFamily="34" charset="0"/>
                <a:ea typeface="Courier New" pitchFamily="34" charset="-122"/>
                <a:cs typeface="Courier New" pitchFamily="34" charset="-120"/>
              </a:rPr>
              <a:t>-lh</a:t>
            </a:r>
            <a:endParaRPr lang="en-US" sz="1400" dirty="0"/>
          </a:p>
        </p:txBody>
      </p:sp>
      <p:sp>
        <p:nvSpPr>
          <p:cNvPr id="12" name="Text 10"/>
          <p:cNvSpPr txBox="1"/>
          <p:nvPr/>
        </p:nvSpPr>
        <p:spPr>
          <a:xfrm>
            <a:off x="2764231" y="3410712"/>
            <a:ext cx="1600200" cy="310896"/>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short options</a:t>
            </a:r>
            <a:endParaRPr lang="en-US" sz="1400" dirty="0"/>
          </a:p>
        </p:txBody>
      </p:sp>
      <p:sp>
        <p:nvSpPr>
          <p:cNvPr id="13" name="Text 11"/>
          <p:cNvSpPr txBox="1"/>
          <p:nvPr/>
        </p:nvSpPr>
        <p:spPr>
          <a:xfrm>
            <a:off x="4455871" y="3410712"/>
            <a:ext cx="3794760" cy="365760"/>
          </a:xfrm>
          <a:prstGeom prst="rect">
            <a:avLst/>
          </a:prstGeom>
          <a:noFill/>
          <a:ln/>
        </p:spPr>
        <p:txBody>
          <a:bodyPr wrap="square" lIns="0" tIns="0" rIns="0" bIns="0" rtlCol="0" anchor="ctr"/>
          <a:lstStyle/>
          <a:p>
            <a:pPr marL="0" indent="0">
              <a:lnSpc>
                <a:spcPts val="1500"/>
              </a:lnSpc>
              <a:buNone/>
            </a:pPr>
            <a:r>
              <a:rPr lang="en-US" sz="1400" dirty="0">
                <a:solidFill>
                  <a:srgbClr val="6B7280"/>
                </a:solidFill>
                <a:latin typeface="Arial" pitchFamily="34" charset="0"/>
                <a:ea typeface="Arial" pitchFamily="34" charset="-122"/>
                <a:cs typeface="Arial" pitchFamily="34" charset="-120"/>
              </a:rPr>
              <a:t>Single dash, single letters. They bundle: -lh is -l plus -h.</a:t>
            </a:r>
            <a:endParaRPr lang="en-US" sz="1400" dirty="0"/>
          </a:p>
        </p:txBody>
      </p:sp>
      <p:sp>
        <p:nvSpPr>
          <p:cNvPr id="14" name="Shape 12"/>
          <p:cNvSpPr/>
          <p:nvPr/>
        </p:nvSpPr>
        <p:spPr>
          <a:xfrm>
            <a:off x="615391" y="4014216"/>
            <a:ext cx="7772400" cy="676656"/>
          </a:xfrm>
          <a:prstGeom prst="roundRect">
            <a:avLst>
              <a:gd name="adj" fmla="val 8108"/>
            </a:avLst>
          </a:prstGeom>
          <a:solidFill>
            <a:srgbClr val="FAFBFC"/>
          </a:solidFill>
          <a:ln w="12700">
            <a:solidFill>
              <a:srgbClr val="FAFBFC"/>
            </a:solidFill>
            <a:prstDash val="solid"/>
          </a:ln>
        </p:spPr>
        <p:txBody>
          <a:bodyPr/>
          <a:lstStyle/>
          <a:p>
            <a:endParaRPr lang="en-US"/>
          </a:p>
        </p:txBody>
      </p:sp>
      <p:sp>
        <p:nvSpPr>
          <p:cNvPr id="15" name="Text 13"/>
          <p:cNvSpPr txBox="1"/>
          <p:nvPr/>
        </p:nvSpPr>
        <p:spPr>
          <a:xfrm>
            <a:off x="889711" y="4197096"/>
            <a:ext cx="1737360" cy="310896"/>
          </a:xfrm>
          <a:prstGeom prst="rect">
            <a:avLst/>
          </a:prstGeom>
          <a:noFill/>
          <a:ln/>
        </p:spPr>
        <p:txBody>
          <a:bodyPr wrap="square" lIns="0" tIns="0" rIns="0" bIns="0" rtlCol="0" anchor="ctr"/>
          <a:lstStyle/>
          <a:p>
            <a:pPr marL="0" indent="0">
              <a:buNone/>
            </a:pPr>
            <a:r>
              <a:rPr lang="en-US" sz="1400" b="1" dirty="0">
                <a:solidFill>
                  <a:srgbClr val="7C8A1E"/>
                </a:solidFill>
                <a:latin typeface="Courier New" pitchFamily="34" charset="0"/>
                <a:ea typeface="Courier New" pitchFamily="34" charset="-122"/>
                <a:cs typeface="Courier New" pitchFamily="34" charset="-120"/>
              </a:rPr>
              <a:t>--color=auto</a:t>
            </a:r>
            <a:endParaRPr lang="en-US" sz="1400" dirty="0"/>
          </a:p>
        </p:txBody>
      </p:sp>
      <p:sp>
        <p:nvSpPr>
          <p:cNvPr id="16" name="Text 14"/>
          <p:cNvSpPr txBox="1"/>
          <p:nvPr/>
        </p:nvSpPr>
        <p:spPr>
          <a:xfrm>
            <a:off x="2764231" y="4197096"/>
            <a:ext cx="1600200" cy="310896"/>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long option</a:t>
            </a:r>
            <a:endParaRPr lang="en-US" sz="1400" dirty="0"/>
          </a:p>
        </p:txBody>
      </p:sp>
      <p:sp>
        <p:nvSpPr>
          <p:cNvPr id="17" name="Text 15"/>
          <p:cNvSpPr txBox="1"/>
          <p:nvPr/>
        </p:nvSpPr>
        <p:spPr>
          <a:xfrm>
            <a:off x="4455871" y="4197096"/>
            <a:ext cx="3794760" cy="365760"/>
          </a:xfrm>
          <a:prstGeom prst="rect">
            <a:avLst/>
          </a:prstGeom>
          <a:noFill/>
          <a:ln/>
        </p:spPr>
        <p:txBody>
          <a:bodyPr wrap="square" lIns="0" tIns="0" rIns="0" bIns="0" rtlCol="0" anchor="ctr"/>
          <a:lstStyle/>
          <a:p>
            <a:pPr marL="0" indent="0">
              <a:lnSpc>
                <a:spcPts val="1500"/>
              </a:lnSpc>
              <a:buNone/>
            </a:pPr>
            <a:r>
              <a:rPr lang="en-US" sz="1400" dirty="0">
                <a:solidFill>
                  <a:srgbClr val="6B7280"/>
                </a:solidFill>
                <a:latin typeface="Arial" pitchFamily="34" charset="0"/>
                <a:ea typeface="Arial" pitchFamily="34" charset="-122"/>
                <a:cs typeface="Arial" pitchFamily="34" charset="-120"/>
              </a:rPr>
              <a:t>Double dash, whole word, sometimes with a value.</a:t>
            </a:r>
            <a:endParaRPr lang="en-US" sz="1400" dirty="0"/>
          </a:p>
        </p:txBody>
      </p:sp>
      <p:sp>
        <p:nvSpPr>
          <p:cNvPr id="18" name="Shape 16"/>
          <p:cNvSpPr/>
          <p:nvPr/>
        </p:nvSpPr>
        <p:spPr>
          <a:xfrm>
            <a:off x="615391" y="4800600"/>
            <a:ext cx="7772400" cy="676656"/>
          </a:xfrm>
          <a:prstGeom prst="roundRect">
            <a:avLst>
              <a:gd name="adj" fmla="val 8108"/>
            </a:avLst>
          </a:prstGeom>
          <a:solidFill>
            <a:srgbClr val="FAFBFC"/>
          </a:solidFill>
          <a:ln w="12700">
            <a:solidFill>
              <a:srgbClr val="FAFBFC"/>
            </a:solidFill>
            <a:prstDash val="solid"/>
          </a:ln>
        </p:spPr>
        <p:txBody>
          <a:bodyPr/>
          <a:lstStyle/>
          <a:p>
            <a:endParaRPr lang="en-US"/>
          </a:p>
        </p:txBody>
      </p:sp>
      <p:sp>
        <p:nvSpPr>
          <p:cNvPr id="19" name="Text 17"/>
          <p:cNvSpPr txBox="1"/>
          <p:nvPr/>
        </p:nvSpPr>
        <p:spPr>
          <a:xfrm>
            <a:off x="889711" y="4983480"/>
            <a:ext cx="1737360" cy="310896"/>
          </a:xfrm>
          <a:prstGeom prst="rect">
            <a:avLst/>
          </a:prstGeom>
          <a:noFill/>
          <a:ln/>
        </p:spPr>
        <p:txBody>
          <a:bodyPr wrap="square" lIns="0" tIns="0" rIns="0" bIns="0" rtlCol="0" anchor="ctr"/>
          <a:lstStyle/>
          <a:p>
            <a:pPr marL="0" indent="0">
              <a:buNone/>
            </a:pPr>
            <a:r>
              <a:rPr lang="en-US" sz="1400" b="1" dirty="0">
                <a:solidFill>
                  <a:srgbClr val="205081"/>
                </a:solidFill>
                <a:latin typeface="Courier New" pitchFamily="34" charset="0"/>
                <a:ea typeface="Courier New" pitchFamily="34" charset="-122"/>
                <a:cs typeface="Courier New" pitchFamily="34" charset="-120"/>
              </a:rPr>
              <a:t>/cluster/tufts/</a:t>
            </a:r>
            <a:endParaRPr lang="en-US" sz="1400" dirty="0"/>
          </a:p>
        </p:txBody>
      </p:sp>
      <p:sp>
        <p:nvSpPr>
          <p:cNvPr id="20" name="Text 18"/>
          <p:cNvSpPr txBox="1"/>
          <p:nvPr/>
        </p:nvSpPr>
        <p:spPr>
          <a:xfrm>
            <a:off x="2764231" y="4983480"/>
            <a:ext cx="1600200" cy="310896"/>
          </a:xfrm>
          <a:prstGeom prst="rect">
            <a:avLst/>
          </a:prstGeom>
          <a:noFill/>
          <a:ln/>
        </p:spPr>
        <p:txBody>
          <a:bodyPr wrap="square" lIns="0" tIns="0" rIns="0" bIns="0" rtlCol="0" anchor="ctr"/>
          <a:lstStyle/>
          <a:p>
            <a:pPr marL="0" indent="0">
              <a:buNone/>
            </a:pPr>
            <a:r>
              <a:rPr lang="en-US" sz="1250" b="1" dirty="0">
                <a:solidFill>
                  <a:srgbClr val="1F2933"/>
                </a:solidFill>
                <a:latin typeface="Arial" pitchFamily="34" charset="0"/>
                <a:ea typeface="Arial" pitchFamily="34" charset="-122"/>
                <a:cs typeface="Arial" pitchFamily="34" charset="-120"/>
              </a:rPr>
              <a:t>argument</a:t>
            </a:r>
            <a:endParaRPr lang="en-US" sz="1250" dirty="0"/>
          </a:p>
        </p:txBody>
      </p:sp>
      <p:sp>
        <p:nvSpPr>
          <p:cNvPr id="21" name="Text 19"/>
          <p:cNvSpPr txBox="1"/>
          <p:nvPr/>
        </p:nvSpPr>
        <p:spPr>
          <a:xfrm>
            <a:off x="4455871" y="4983480"/>
            <a:ext cx="3794760" cy="365760"/>
          </a:xfrm>
          <a:prstGeom prst="rect">
            <a:avLst/>
          </a:prstGeom>
          <a:noFill/>
          <a:ln/>
        </p:spPr>
        <p:txBody>
          <a:bodyPr wrap="square" lIns="0" tIns="0" rIns="0" bIns="0" rtlCol="0" anchor="ctr"/>
          <a:lstStyle/>
          <a:p>
            <a:pPr marL="0" indent="0">
              <a:lnSpc>
                <a:spcPts val="1500"/>
              </a:lnSpc>
              <a:buNone/>
            </a:pPr>
            <a:r>
              <a:rPr lang="en-US" sz="1400" dirty="0">
                <a:solidFill>
                  <a:srgbClr val="6B7280"/>
                </a:solidFill>
                <a:latin typeface="Arial" pitchFamily="34" charset="0"/>
                <a:ea typeface="Arial" pitchFamily="34" charset="-122"/>
                <a:cs typeface="Arial" pitchFamily="34" charset="-120"/>
              </a:rPr>
              <a:t>What the command should act on.</a:t>
            </a:r>
            <a:endParaRPr lang="en-US" sz="1400" dirty="0"/>
          </a:p>
        </p:txBody>
      </p:sp>
      <p:sp>
        <p:nvSpPr>
          <p:cNvPr id="22" name="Shape 20"/>
          <p:cNvSpPr/>
          <p:nvPr/>
        </p:nvSpPr>
        <p:spPr>
          <a:xfrm>
            <a:off x="8524951" y="2497328"/>
            <a:ext cx="3051353" cy="2935224"/>
          </a:xfrm>
          <a:prstGeom prst="roundRect">
            <a:avLst>
              <a:gd name="adj" fmla="val 1935"/>
            </a:avLst>
          </a:prstGeom>
          <a:solidFill>
            <a:srgbClr val="EEF4FA"/>
          </a:solidFill>
          <a:ln w="12700">
            <a:solidFill>
              <a:srgbClr val="EEF4FA"/>
            </a:solidFill>
            <a:prstDash val="solid"/>
          </a:ln>
        </p:spPr>
        <p:txBody>
          <a:bodyPr/>
          <a:lstStyle/>
          <a:p>
            <a:endParaRPr lang="en-US"/>
          </a:p>
        </p:txBody>
      </p:sp>
      <p:sp>
        <p:nvSpPr>
          <p:cNvPr id="23" name="Text 21"/>
          <p:cNvSpPr txBox="1"/>
          <p:nvPr/>
        </p:nvSpPr>
        <p:spPr>
          <a:xfrm>
            <a:off x="8915400" y="2680208"/>
            <a:ext cx="2468880" cy="274320"/>
          </a:xfrm>
          <a:prstGeom prst="rect">
            <a:avLst/>
          </a:prstGeom>
          <a:noFill/>
          <a:ln/>
        </p:spPr>
        <p:txBody>
          <a:bodyPr wrap="square" lIns="0" tIns="0" rIns="0" bIns="0" rtlCol="0" anchor="ctr"/>
          <a:lstStyle/>
          <a:p>
            <a:pPr marL="0" indent="0">
              <a:buNone/>
            </a:pPr>
            <a:r>
              <a:rPr lang="en-US" sz="1600" b="1" dirty="0">
                <a:solidFill>
                  <a:srgbClr val="3172AE"/>
                </a:solidFill>
                <a:latin typeface="Arial" pitchFamily="34" charset="0"/>
                <a:ea typeface="Arial" pitchFamily="34" charset="-122"/>
                <a:cs typeface="Arial" pitchFamily="34" charset="-120"/>
              </a:rPr>
              <a:t>Conventions, not rules</a:t>
            </a:r>
            <a:endParaRPr lang="en-US" sz="1600" dirty="0"/>
          </a:p>
        </p:txBody>
      </p:sp>
      <p:sp>
        <p:nvSpPr>
          <p:cNvPr id="24" name="Text 22"/>
          <p:cNvSpPr txBox="1"/>
          <p:nvPr/>
        </p:nvSpPr>
        <p:spPr>
          <a:xfrm>
            <a:off x="8890711" y="3137408"/>
            <a:ext cx="2468880" cy="2194560"/>
          </a:xfrm>
          <a:prstGeom prst="rect">
            <a:avLst/>
          </a:prstGeom>
          <a:noFill/>
          <a:ln/>
        </p:spPr>
        <p:txBody>
          <a:bodyPr wrap="square" lIns="0" tIns="0" rIns="0" bIns="0" rtlCol="0" anchor="t"/>
          <a:lstStyle/>
          <a:p>
            <a:pPr marL="177800" indent="-177800">
              <a:spcAft>
                <a:spcPts val="1100"/>
              </a:spcAft>
              <a:buSzPct val="100000"/>
              <a:buChar char="●"/>
            </a:pPr>
            <a:r>
              <a:rPr lang="en-US" sz="1400" dirty="0">
                <a:solidFill>
                  <a:srgbClr val="1F2933"/>
                </a:solidFill>
                <a:latin typeface="Arial" pitchFamily="34" charset="0"/>
                <a:ea typeface="Arial" pitchFamily="34" charset="-122"/>
                <a:cs typeface="Arial" pitchFamily="34" charset="-120"/>
              </a:rPr>
              <a:t>Order of options rarely matters.</a:t>
            </a:r>
            <a:endParaRPr lang="en-US" sz="1400" dirty="0"/>
          </a:p>
          <a:p>
            <a:pPr marL="177800" indent="-177800">
              <a:spcAft>
                <a:spcPts val="1100"/>
              </a:spcAft>
              <a:buSzPct val="100000"/>
              <a:buChar char="●"/>
            </a:pPr>
            <a:r>
              <a:rPr lang="en-US" sz="1400" dirty="0">
                <a:solidFill>
                  <a:srgbClr val="1F2933"/>
                </a:solidFill>
                <a:latin typeface="Arial" pitchFamily="34" charset="0"/>
                <a:ea typeface="Arial" pitchFamily="34" charset="-122"/>
                <a:cs typeface="Arial" pitchFamily="34" charset="-120"/>
              </a:rPr>
              <a:t>Arguments usually come last.</a:t>
            </a:r>
            <a:endParaRPr lang="en-US" sz="1400" dirty="0"/>
          </a:p>
          <a:p>
            <a:pPr marL="177800" indent="-177800">
              <a:spcAft>
                <a:spcPts val="1100"/>
              </a:spcAft>
              <a:buSzPct val="100000"/>
              <a:buChar char="●"/>
            </a:pPr>
            <a:r>
              <a:rPr lang="en-US" sz="1400" dirty="0">
                <a:solidFill>
                  <a:srgbClr val="1F2933"/>
                </a:solidFill>
                <a:latin typeface="Arial" pitchFamily="34" charset="0"/>
                <a:ea typeface="Arial" pitchFamily="34" charset="-122"/>
                <a:cs typeface="Arial" pitchFamily="34" charset="-120"/>
              </a:rPr>
              <a:t>Spaces separate things, so filenames with spaces cause pain.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Where you are, and how to say where you want to go</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THE SHELL</a:t>
            </a:r>
            <a:endParaRPr lang="en-US" sz="1200" dirty="0"/>
          </a:p>
        </p:txBody>
      </p:sp>
      <p:sp>
        <p:nvSpPr>
          <p:cNvPr id="4" name="Text 2"/>
          <p:cNvSpPr txBox="1"/>
          <p:nvPr/>
        </p:nvSpPr>
        <p:spPr>
          <a:xfrm>
            <a:off x="605231" y="1527048"/>
            <a:ext cx="2926080" cy="274320"/>
          </a:xfrm>
          <a:prstGeom prst="rect">
            <a:avLst/>
          </a:prstGeom>
          <a:noFill/>
          <a:ln/>
        </p:spPr>
        <p:txBody>
          <a:bodyPr wrap="square" lIns="0" tIns="0" rIns="0" bIns="0" rtlCol="0" anchor="ctr"/>
          <a:lstStyle/>
          <a:p>
            <a:pPr marL="0" indent="0">
              <a:buNone/>
            </a:pPr>
            <a:r>
              <a:rPr lang="en-US" sz="1300" b="1" dirty="0">
                <a:solidFill>
                  <a:srgbClr val="205081"/>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3311855" y="1527048"/>
            <a:ext cx="2743200" cy="27432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the root. Everything hangs off this.</a:t>
            </a:r>
            <a:endParaRPr lang="en-US" sz="1400" dirty="0"/>
          </a:p>
        </p:txBody>
      </p:sp>
      <p:sp>
        <p:nvSpPr>
          <p:cNvPr id="6" name="Text 4"/>
          <p:cNvSpPr txBox="1"/>
          <p:nvPr/>
        </p:nvSpPr>
        <p:spPr>
          <a:xfrm>
            <a:off x="989279" y="1929384"/>
            <a:ext cx="2926080" cy="274320"/>
          </a:xfrm>
          <a:prstGeom prst="rect">
            <a:avLst/>
          </a:prstGeom>
          <a:noFill/>
          <a:ln/>
        </p:spPr>
        <p:txBody>
          <a:bodyPr wrap="square" lIns="0" tIns="0" rIns="0" bIns="0" rtlCol="0" anchor="ctr"/>
          <a:lstStyle/>
          <a:p>
            <a:pPr marL="0" indent="0">
              <a:buNone/>
            </a:pPr>
            <a:r>
              <a:rPr lang="en-US" sz="1300" b="1" dirty="0">
                <a:solidFill>
                  <a:srgbClr val="1F2933"/>
                </a:solidFill>
                <a:latin typeface="Courier New" pitchFamily="34" charset="0"/>
                <a:ea typeface="Courier New" pitchFamily="34" charset="-122"/>
                <a:cs typeface="Courier New" pitchFamily="34" charset="-120"/>
              </a:rPr>
              <a:t>cluster/home/</a:t>
            </a:r>
            <a:endParaRPr lang="en-US" sz="1300" dirty="0"/>
          </a:p>
        </p:txBody>
      </p:sp>
      <p:sp>
        <p:nvSpPr>
          <p:cNvPr id="7" name="Text 5"/>
          <p:cNvSpPr txBox="1"/>
          <p:nvPr/>
        </p:nvSpPr>
        <p:spPr>
          <a:xfrm>
            <a:off x="1373327" y="2331720"/>
            <a:ext cx="2926080" cy="274320"/>
          </a:xfrm>
          <a:prstGeom prst="rect">
            <a:avLst/>
          </a:prstGeom>
          <a:noFill/>
          <a:ln/>
        </p:spPr>
        <p:txBody>
          <a:bodyPr wrap="square" lIns="0" tIns="0" rIns="0" bIns="0" rtlCol="0" anchor="ctr"/>
          <a:lstStyle/>
          <a:p>
            <a:pPr marL="0" indent="0">
              <a:buNone/>
            </a:pPr>
            <a:r>
              <a:rPr lang="en-US" sz="1300" dirty="0">
                <a:solidFill>
                  <a:srgbClr val="498BCA"/>
                </a:solidFill>
                <a:latin typeface="Courier New" pitchFamily="34" charset="0"/>
                <a:ea typeface="Courier New" pitchFamily="34" charset="-122"/>
                <a:cs typeface="Courier New" pitchFamily="34" charset="-120"/>
              </a:rPr>
              <a:t>user01/</a:t>
            </a:r>
            <a:endParaRPr lang="en-US" sz="1300" dirty="0"/>
          </a:p>
        </p:txBody>
      </p:sp>
      <p:sp>
        <p:nvSpPr>
          <p:cNvPr id="8" name="Text 6"/>
          <p:cNvSpPr txBox="1"/>
          <p:nvPr/>
        </p:nvSpPr>
        <p:spPr>
          <a:xfrm>
            <a:off x="3643071" y="2331720"/>
            <a:ext cx="2743200" cy="27432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your home, also written ~</a:t>
            </a:r>
            <a:endParaRPr lang="en-US" sz="1400" dirty="0"/>
          </a:p>
        </p:txBody>
      </p:sp>
      <p:sp>
        <p:nvSpPr>
          <p:cNvPr id="10" name="Text 8"/>
          <p:cNvSpPr txBox="1"/>
          <p:nvPr/>
        </p:nvSpPr>
        <p:spPr>
          <a:xfrm>
            <a:off x="989279" y="2953512"/>
            <a:ext cx="2926080" cy="274320"/>
          </a:xfrm>
          <a:prstGeom prst="rect">
            <a:avLst/>
          </a:prstGeom>
          <a:noFill/>
          <a:ln/>
        </p:spPr>
        <p:txBody>
          <a:bodyPr wrap="square" lIns="0" tIns="0" rIns="0" bIns="0" rtlCol="0" anchor="ctr"/>
          <a:lstStyle/>
          <a:p>
            <a:pPr marL="0" indent="0">
              <a:buNone/>
            </a:pPr>
            <a:r>
              <a:rPr lang="en-US" sz="1300" b="1" dirty="0">
                <a:solidFill>
                  <a:srgbClr val="FFC82C"/>
                </a:solidFill>
                <a:latin typeface="Courier New" pitchFamily="34" charset="0"/>
                <a:ea typeface="Courier New" pitchFamily="34" charset="-122"/>
                <a:cs typeface="Courier New" pitchFamily="34" charset="-120"/>
              </a:rPr>
              <a:t>cluster/tufts/</a:t>
            </a:r>
            <a:r>
              <a:rPr lang="en-US" sz="1300" b="1" dirty="0" err="1">
                <a:solidFill>
                  <a:srgbClr val="FFC82C"/>
                </a:solidFill>
                <a:latin typeface="Courier New" pitchFamily="34" charset="0"/>
                <a:ea typeface="Courier New" pitchFamily="34" charset="-122"/>
                <a:cs typeface="Courier New" pitchFamily="34" charset="-120"/>
              </a:rPr>
              <a:t>mylab</a:t>
            </a:r>
            <a:endParaRPr lang="en-US" sz="1300" dirty="0"/>
          </a:p>
        </p:txBody>
      </p:sp>
      <p:sp>
        <p:nvSpPr>
          <p:cNvPr id="14" name="Shape 12"/>
          <p:cNvSpPr/>
          <p:nvPr/>
        </p:nvSpPr>
        <p:spPr>
          <a:xfrm>
            <a:off x="6634480" y="1435608"/>
            <a:ext cx="5175504" cy="1572768"/>
          </a:xfrm>
          <a:prstGeom prst="roundRect">
            <a:avLst>
              <a:gd name="adj" fmla="val 3488"/>
            </a:avLst>
          </a:prstGeom>
          <a:solidFill>
            <a:srgbClr val="EEF4FA"/>
          </a:solidFill>
          <a:ln w="12700">
            <a:solidFill>
              <a:srgbClr val="EEF4FA"/>
            </a:solidFill>
            <a:prstDash val="solid"/>
          </a:ln>
        </p:spPr>
        <p:txBody>
          <a:bodyPr/>
          <a:lstStyle/>
          <a:p>
            <a:endParaRPr lang="en-US"/>
          </a:p>
        </p:txBody>
      </p:sp>
      <p:sp>
        <p:nvSpPr>
          <p:cNvPr id="15" name="Text 13"/>
          <p:cNvSpPr txBox="1"/>
          <p:nvPr/>
        </p:nvSpPr>
        <p:spPr>
          <a:xfrm>
            <a:off x="6936232" y="1513332"/>
            <a:ext cx="4572000" cy="274320"/>
          </a:xfrm>
          <a:prstGeom prst="rect">
            <a:avLst/>
          </a:prstGeom>
          <a:noFill/>
          <a:ln/>
        </p:spPr>
        <p:txBody>
          <a:bodyPr wrap="square" lIns="0" tIns="0" rIns="0" bIns="0" rtlCol="0" anchor="ctr"/>
          <a:lstStyle/>
          <a:p>
            <a:pPr marL="0" indent="0">
              <a:buNone/>
            </a:pPr>
            <a:r>
              <a:rPr lang="en-US" sz="1600" b="1" dirty="0">
                <a:solidFill>
                  <a:srgbClr val="3172AE"/>
                </a:solidFill>
                <a:latin typeface="Arial" pitchFamily="34" charset="0"/>
                <a:ea typeface="Arial" pitchFamily="34" charset="-122"/>
                <a:cs typeface="Arial" pitchFamily="34" charset="-120"/>
              </a:rPr>
              <a:t>Absolute vs. relative</a:t>
            </a:r>
            <a:endParaRPr lang="en-US" sz="1600" dirty="0"/>
          </a:p>
        </p:txBody>
      </p:sp>
      <p:sp>
        <p:nvSpPr>
          <p:cNvPr id="16" name="Text 14"/>
          <p:cNvSpPr txBox="1"/>
          <p:nvPr/>
        </p:nvSpPr>
        <p:spPr>
          <a:xfrm>
            <a:off x="6936232" y="1856232"/>
            <a:ext cx="3974592" cy="256032"/>
          </a:xfrm>
          <a:prstGeom prst="rect">
            <a:avLst/>
          </a:prstGeom>
          <a:noFill/>
          <a:ln/>
        </p:spPr>
        <p:txBody>
          <a:bodyPr wrap="square" lIns="0" tIns="0" rIns="0" bIns="0" rtlCol="0" anchor="ctr"/>
          <a:lstStyle/>
          <a:p>
            <a:pPr marL="0" indent="0">
              <a:buNone/>
            </a:pPr>
            <a:r>
              <a:rPr lang="en-US" sz="1400" dirty="0">
                <a:solidFill>
                  <a:srgbClr val="1F2933"/>
                </a:solidFill>
                <a:latin typeface="Courier New" pitchFamily="34" charset="0"/>
                <a:ea typeface="Courier New" pitchFamily="34" charset="-122"/>
                <a:cs typeface="Courier New" pitchFamily="34" charset="-120"/>
              </a:rPr>
              <a:t>/cluster/tufts/</a:t>
            </a:r>
            <a:r>
              <a:rPr lang="en-US" sz="1400" dirty="0" err="1">
                <a:solidFill>
                  <a:srgbClr val="1F2933"/>
                </a:solidFill>
                <a:latin typeface="Courier New" pitchFamily="34" charset="0"/>
                <a:ea typeface="Courier New" pitchFamily="34" charset="-122"/>
                <a:cs typeface="Courier New" pitchFamily="34" charset="-120"/>
              </a:rPr>
              <a:t>biocontainers</a:t>
            </a:r>
            <a:endParaRPr lang="en-US" sz="1400" dirty="0"/>
          </a:p>
        </p:txBody>
      </p:sp>
      <p:sp>
        <p:nvSpPr>
          <p:cNvPr id="17" name="Text 15"/>
          <p:cNvSpPr txBox="1"/>
          <p:nvPr/>
        </p:nvSpPr>
        <p:spPr>
          <a:xfrm>
            <a:off x="6927088" y="2157984"/>
            <a:ext cx="4572000" cy="237744"/>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starts at / — always means the same place</a:t>
            </a:r>
            <a:endParaRPr lang="en-US" sz="1200" dirty="0"/>
          </a:p>
        </p:txBody>
      </p:sp>
      <p:sp>
        <p:nvSpPr>
          <p:cNvPr id="18" name="Text 16"/>
          <p:cNvSpPr txBox="1"/>
          <p:nvPr/>
        </p:nvSpPr>
        <p:spPr>
          <a:xfrm>
            <a:off x="6927088" y="2450592"/>
            <a:ext cx="3108960" cy="256032"/>
          </a:xfrm>
          <a:prstGeom prst="rect">
            <a:avLst/>
          </a:prstGeom>
          <a:noFill/>
          <a:ln/>
        </p:spPr>
        <p:txBody>
          <a:bodyPr wrap="square" lIns="0" tIns="0" rIns="0" bIns="0" rtlCol="0" anchor="ctr"/>
          <a:lstStyle/>
          <a:p>
            <a:pPr marL="0" indent="0">
              <a:buNone/>
            </a:pPr>
            <a:r>
              <a:rPr lang="en-US" sz="1400" dirty="0">
                <a:solidFill>
                  <a:srgbClr val="1F2933"/>
                </a:solidFill>
                <a:latin typeface="Courier New" pitchFamily="34" charset="0"/>
                <a:ea typeface="Courier New" pitchFamily="34" charset="-122"/>
                <a:cs typeface="Courier New" pitchFamily="34" charset="-120"/>
              </a:rPr>
              <a:t>data/counts.tsv</a:t>
            </a:r>
            <a:endParaRPr lang="en-US" sz="1400" dirty="0"/>
          </a:p>
        </p:txBody>
      </p:sp>
      <p:sp>
        <p:nvSpPr>
          <p:cNvPr id="19" name="Text 17"/>
          <p:cNvSpPr txBox="1"/>
          <p:nvPr/>
        </p:nvSpPr>
        <p:spPr>
          <a:xfrm>
            <a:off x="6927088" y="2747772"/>
            <a:ext cx="4572000" cy="237744"/>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depends entirely on where you are standing</a:t>
            </a:r>
            <a:endParaRPr lang="en-US" sz="1200" dirty="0"/>
          </a:p>
        </p:txBody>
      </p:sp>
      <p:sp>
        <p:nvSpPr>
          <p:cNvPr id="20" name="Shape 18"/>
          <p:cNvSpPr/>
          <p:nvPr/>
        </p:nvSpPr>
        <p:spPr>
          <a:xfrm>
            <a:off x="6634480" y="3200400"/>
            <a:ext cx="5175504" cy="1783080"/>
          </a:xfrm>
          <a:prstGeom prst="roundRect">
            <a:avLst>
              <a:gd name="adj" fmla="val 3077"/>
            </a:avLst>
          </a:prstGeom>
          <a:solidFill>
            <a:srgbClr val="F5F6F0"/>
          </a:solidFill>
          <a:ln w="12700">
            <a:solidFill>
              <a:srgbClr val="F5F6F0"/>
            </a:solidFill>
            <a:prstDash val="solid"/>
          </a:ln>
        </p:spPr>
        <p:txBody>
          <a:bodyPr/>
          <a:lstStyle/>
          <a:p>
            <a:endParaRPr lang="en-US"/>
          </a:p>
        </p:txBody>
      </p:sp>
      <p:sp>
        <p:nvSpPr>
          <p:cNvPr id="21" name="Text 19"/>
          <p:cNvSpPr txBox="1"/>
          <p:nvPr/>
        </p:nvSpPr>
        <p:spPr>
          <a:xfrm>
            <a:off x="6927088" y="3346704"/>
            <a:ext cx="4572000" cy="274320"/>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Four shortcuts worth memorising now</a:t>
            </a:r>
            <a:endParaRPr lang="en-US" sz="1600" dirty="0"/>
          </a:p>
        </p:txBody>
      </p:sp>
      <p:sp>
        <p:nvSpPr>
          <p:cNvPr id="22" name="Text 20"/>
          <p:cNvSpPr txBox="1"/>
          <p:nvPr/>
        </p:nvSpPr>
        <p:spPr>
          <a:xfrm>
            <a:off x="6927088" y="3712464"/>
            <a:ext cx="548640" cy="256032"/>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a:t>
            </a:r>
            <a:endParaRPr lang="en-US" sz="1600" dirty="0"/>
          </a:p>
        </p:txBody>
      </p:sp>
      <p:sp>
        <p:nvSpPr>
          <p:cNvPr id="23" name="Text 21"/>
          <p:cNvSpPr txBox="1"/>
          <p:nvPr/>
        </p:nvSpPr>
        <p:spPr>
          <a:xfrm>
            <a:off x="7548880" y="3712464"/>
            <a:ext cx="4023360" cy="256032"/>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your home directory</a:t>
            </a:r>
            <a:endParaRPr lang="en-US" sz="1400" dirty="0"/>
          </a:p>
        </p:txBody>
      </p:sp>
      <p:sp>
        <p:nvSpPr>
          <p:cNvPr id="24" name="Text 22"/>
          <p:cNvSpPr txBox="1"/>
          <p:nvPr/>
        </p:nvSpPr>
        <p:spPr>
          <a:xfrm>
            <a:off x="6927088" y="4014216"/>
            <a:ext cx="548640" cy="256032"/>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a:t>
            </a:r>
            <a:endParaRPr lang="en-US" sz="1600" dirty="0"/>
          </a:p>
        </p:txBody>
      </p:sp>
      <p:sp>
        <p:nvSpPr>
          <p:cNvPr id="25" name="Text 23"/>
          <p:cNvSpPr txBox="1"/>
          <p:nvPr/>
        </p:nvSpPr>
        <p:spPr>
          <a:xfrm>
            <a:off x="7548880" y="4014216"/>
            <a:ext cx="4023360" cy="256032"/>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right here</a:t>
            </a:r>
            <a:endParaRPr lang="en-US" sz="1400" dirty="0"/>
          </a:p>
        </p:txBody>
      </p:sp>
      <p:sp>
        <p:nvSpPr>
          <p:cNvPr id="26" name="Text 24"/>
          <p:cNvSpPr txBox="1"/>
          <p:nvPr/>
        </p:nvSpPr>
        <p:spPr>
          <a:xfrm>
            <a:off x="6927088" y="4315968"/>
            <a:ext cx="548640" cy="256032"/>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a:t>
            </a:r>
            <a:endParaRPr lang="en-US" sz="1600" dirty="0"/>
          </a:p>
        </p:txBody>
      </p:sp>
      <p:sp>
        <p:nvSpPr>
          <p:cNvPr id="27" name="Text 25"/>
          <p:cNvSpPr txBox="1"/>
          <p:nvPr/>
        </p:nvSpPr>
        <p:spPr>
          <a:xfrm>
            <a:off x="7548880" y="4315968"/>
            <a:ext cx="4023360" cy="256032"/>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one level up</a:t>
            </a:r>
            <a:endParaRPr lang="en-US" sz="1400" dirty="0"/>
          </a:p>
        </p:txBody>
      </p:sp>
      <p:sp>
        <p:nvSpPr>
          <p:cNvPr id="28" name="Text 26"/>
          <p:cNvSpPr txBox="1"/>
          <p:nvPr/>
        </p:nvSpPr>
        <p:spPr>
          <a:xfrm>
            <a:off x="6927088" y="4617720"/>
            <a:ext cx="548640" cy="256032"/>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a:t>
            </a:r>
            <a:endParaRPr lang="en-US" sz="1600" dirty="0"/>
          </a:p>
        </p:txBody>
      </p:sp>
      <p:sp>
        <p:nvSpPr>
          <p:cNvPr id="29" name="Text 27"/>
          <p:cNvSpPr txBox="1"/>
          <p:nvPr/>
        </p:nvSpPr>
        <p:spPr>
          <a:xfrm>
            <a:off x="7548880" y="4617720"/>
            <a:ext cx="4023360" cy="256032"/>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the last place you were</a:t>
            </a:r>
            <a:endParaRPr lang="en-US" sz="1400" dirty="0"/>
          </a:p>
        </p:txBody>
      </p:sp>
      <p:sp>
        <p:nvSpPr>
          <p:cNvPr id="30" name="Shape 28"/>
          <p:cNvSpPr/>
          <p:nvPr/>
        </p:nvSpPr>
        <p:spPr>
          <a:xfrm>
            <a:off x="513791" y="3950208"/>
            <a:ext cx="5852160" cy="1566672"/>
          </a:xfrm>
          <a:prstGeom prst="roundRect">
            <a:avLst>
              <a:gd name="adj" fmla="val 3797"/>
            </a:avLst>
          </a:prstGeom>
          <a:solidFill>
            <a:srgbClr val="1F2933"/>
          </a:solidFill>
          <a:ln w="12700">
            <a:solidFill>
              <a:srgbClr val="1F2933"/>
            </a:solidFill>
            <a:prstDash val="solid"/>
          </a:ln>
        </p:spPr>
        <p:txBody>
          <a:bodyPr/>
          <a:lstStyle/>
          <a:p>
            <a:endParaRPr lang="en-US"/>
          </a:p>
        </p:txBody>
      </p:sp>
      <p:sp>
        <p:nvSpPr>
          <p:cNvPr id="31" name="Text 29"/>
          <p:cNvSpPr txBox="1"/>
          <p:nvPr/>
        </p:nvSpPr>
        <p:spPr>
          <a:xfrm>
            <a:off x="619455" y="4114800"/>
            <a:ext cx="5394960" cy="192024"/>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pwd</a:t>
            </a:r>
            <a:endParaRPr lang="en-US" sz="1600" dirty="0"/>
          </a:p>
        </p:txBody>
      </p:sp>
      <p:sp>
        <p:nvSpPr>
          <p:cNvPr id="32" name="Text 30"/>
          <p:cNvSpPr txBox="1"/>
          <p:nvPr/>
        </p:nvSpPr>
        <p:spPr>
          <a:xfrm>
            <a:off x="610311" y="4365752"/>
            <a:ext cx="5394960" cy="192024"/>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/cluster/home/user01</a:t>
            </a:r>
            <a:endParaRPr lang="en-US" sz="1400" dirty="0"/>
          </a:p>
        </p:txBody>
      </p:sp>
      <p:sp>
        <p:nvSpPr>
          <p:cNvPr id="33" name="Text 31"/>
          <p:cNvSpPr txBox="1"/>
          <p:nvPr/>
        </p:nvSpPr>
        <p:spPr>
          <a:xfrm>
            <a:off x="600151" y="4616704"/>
            <a:ext cx="5394960" cy="192024"/>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cd ../../tufts/</a:t>
            </a:r>
            <a:r>
              <a:rPr lang="en-US" sz="1400" dirty="0" err="1">
                <a:solidFill>
                  <a:srgbClr val="8FBF5F"/>
                </a:solidFill>
                <a:latin typeface="Courier New" pitchFamily="34" charset="0"/>
                <a:ea typeface="Courier New" pitchFamily="34" charset="-122"/>
                <a:cs typeface="Courier New" pitchFamily="34" charset="-120"/>
              </a:rPr>
              <a:t>mylab</a:t>
            </a:r>
            <a:r>
              <a:rPr lang="en-US" sz="1400" dirty="0">
                <a:solidFill>
                  <a:srgbClr val="8FBF5F"/>
                </a:solidFill>
                <a:latin typeface="Courier New" pitchFamily="34" charset="0"/>
                <a:ea typeface="Courier New" pitchFamily="34" charset="-122"/>
                <a:cs typeface="Courier New" pitchFamily="34" charset="-120"/>
              </a:rPr>
              <a:t>/user01</a:t>
            </a:r>
            <a:endParaRPr lang="en-US" sz="1400" dirty="0"/>
          </a:p>
        </p:txBody>
      </p:sp>
      <p:sp>
        <p:nvSpPr>
          <p:cNvPr id="34" name="Text 32"/>
          <p:cNvSpPr txBox="1"/>
          <p:nvPr/>
        </p:nvSpPr>
        <p:spPr>
          <a:xfrm>
            <a:off x="3364992" y="4608576"/>
            <a:ext cx="5394960" cy="192024"/>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    # relative, and fragile</a:t>
            </a:r>
            <a:endParaRPr lang="en-US" sz="1400" dirty="0"/>
          </a:p>
        </p:txBody>
      </p:sp>
      <p:sp>
        <p:nvSpPr>
          <p:cNvPr id="35" name="Text 33"/>
          <p:cNvSpPr txBox="1"/>
          <p:nvPr/>
        </p:nvSpPr>
        <p:spPr>
          <a:xfrm>
            <a:off x="599135" y="4948936"/>
            <a:ext cx="5394960" cy="192024"/>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cd /cluster/tufts/</a:t>
            </a:r>
            <a:r>
              <a:rPr lang="en-US" sz="1600" dirty="0" err="1">
                <a:solidFill>
                  <a:srgbClr val="8FBF5F"/>
                </a:solidFill>
                <a:latin typeface="Courier New" pitchFamily="34" charset="0"/>
                <a:ea typeface="Courier New" pitchFamily="34" charset="-122"/>
                <a:cs typeface="Courier New" pitchFamily="34" charset="-120"/>
              </a:rPr>
              <a:t>mylab</a:t>
            </a:r>
            <a:r>
              <a:rPr lang="en-US" sz="1600" dirty="0">
                <a:solidFill>
                  <a:srgbClr val="8FBF5F"/>
                </a:solidFill>
                <a:latin typeface="Courier New" pitchFamily="34" charset="0"/>
                <a:ea typeface="Courier New" pitchFamily="34" charset="-122"/>
                <a:cs typeface="Courier New" pitchFamily="34" charset="-120"/>
              </a:rPr>
              <a:t>/user01</a:t>
            </a:r>
            <a:endParaRPr lang="en-US" sz="1600" dirty="0"/>
          </a:p>
        </p:txBody>
      </p:sp>
      <p:sp>
        <p:nvSpPr>
          <p:cNvPr id="36" name="Text 34"/>
          <p:cNvSpPr txBox="1"/>
          <p:nvPr/>
        </p:nvSpPr>
        <p:spPr>
          <a:xfrm>
            <a:off x="214782" y="5200396"/>
            <a:ext cx="5394960" cy="192024"/>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    # absolute, boring, correct</a:t>
            </a:r>
            <a:endParaRPr lang="en-US" sz="1400" dirty="0"/>
          </a:p>
        </p:txBody>
      </p:sp>
      <p:sp>
        <p:nvSpPr>
          <p:cNvPr id="37" name="Text 5">
            <a:extLst>
              <a:ext uri="{FF2B5EF4-FFF2-40B4-BE49-F238E27FC236}">
                <a16:creationId xmlns:a16="http://schemas.microsoft.com/office/drawing/2014/main" id="{4A6F5298-A2DD-4650-971F-BF65A01D89E0}"/>
              </a:ext>
            </a:extLst>
          </p:cNvPr>
          <p:cNvSpPr txBox="1"/>
          <p:nvPr/>
        </p:nvSpPr>
        <p:spPr>
          <a:xfrm>
            <a:off x="1373327" y="3374136"/>
            <a:ext cx="2926080" cy="274320"/>
          </a:xfrm>
          <a:prstGeom prst="rect">
            <a:avLst/>
          </a:prstGeom>
          <a:noFill/>
          <a:ln/>
        </p:spPr>
        <p:txBody>
          <a:bodyPr wrap="square" lIns="0" tIns="0" rIns="0" bIns="0" rtlCol="0" anchor="ctr"/>
          <a:lstStyle/>
          <a:p>
            <a:pPr marL="0" indent="0">
              <a:buNone/>
            </a:pPr>
            <a:r>
              <a:rPr lang="en-US" sz="1300" dirty="0">
                <a:solidFill>
                  <a:srgbClr val="498BCA"/>
                </a:solidFill>
                <a:latin typeface="Courier New" pitchFamily="34" charset="0"/>
                <a:ea typeface="Courier New" pitchFamily="34" charset="-122"/>
                <a:cs typeface="Courier New" pitchFamily="34" charset="-120"/>
              </a:rPr>
              <a:t>user01/</a:t>
            </a:r>
            <a:endParaRPr lang="en-US" sz="1300" dirty="0"/>
          </a:p>
        </p:txBody>
      </p:sp>
      <p:sp>
        <p:nvSpPr>
          <p:cNvPr id="38" name="Text 6">
            <a:extLst>
              <a:ext uri="{FF2B5EF4-FFF2-40B4-BE49-F238E27FC236}">
                <a16:creationId xmlns:a16="http://schemas.microsoft.com/office/drawing/2014/main" id="{5F1C8602-6849-DFAB-2F86-5999785F423B}"/>
              </a:ext>
            </a:extLst>
          </p:cNvPr>
          <p:cNvSpPr txBox="1"/>
          <p:nvPr/>
        </p:nvSpPr>
        <p:spPr>
          <a:xfrm>
            <a:off x="3622751" y="3374136"/>
            <a:ext cx="2743200" cy="27432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your folder in your research group</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Ten commands cover most of your day</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THE SHELL</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2595142697"/>
              </p:ext>
            </p:extLst>
          </p:nvPr>
        </p:nvGraphicFramePr>
        <p:xfrm>
          <a:off x="615391" y="1481328"/>
          <a:ext cx="10963656" cy="3432048"/>
        </p:xfrm>
        <a:graphic>
          <a:graphicData uri="http://schemas.openxmlformats.org/drawingml/2006/table">
            <a:tbl>
              <a:tblPr/>
              <a:tblGrid>
                <a:gridCol w="21031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020056">
                  <a:extLst>
                    <a:ext uri="{9D8B030D-6E8A-4147-A177-3AD203B41FA5}">
                      <a16:colId xmlns:a16="http://schemas.microsoft.com/office/drawing/2014/main" val="20002"/>
                    </a:ext>
                  </a:extLst>
                </a:gridCol>
              </a:tblGrid>
              <a:tr h="292608">
                <a:tc>
                  <a:txBody>
                    <a:bodyPr/>
                    <a:lstStyle/>
                    <a:p>
                      <a:pPr marL="0" indent="0">
                        <a:buNone/>
                      </a:pPr>
                      <a:r>
                        <a:rPr lang="en-US" sz="1400" b="1" dirty="0">
                          <a:solidFill>
                            <a:srgbClr val="FFFFFF"/>
                          </a:solidFill>
                          <a:latin typeface="Arial" pitchFamily="34" charset="0"/>
                          <a:ea typeface="Arial" pitchFamily="34" charset="-122"/>
                          <a:cs typeface="Arial" pitchFamily="34" charset="-120"/>
                        </a:rPr>
                        <a:t>Command</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What it does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The flag you will actually use</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extLst>
                  <a:ext uri="{0D108BD9-81ED-4DB2-BD59-A6C34878D82A}">
                    <a16:rowId xmlns:a16="http://schemas.microsoft.com/office/drawing/2014/main" val="10000"/>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pwd</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Print where you are</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ls</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List what is here</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-lh   long listing, readable sizes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cd</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Change directory</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cd with no argument goes home</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less</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Page through a file</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q to quit, / to search, G to end</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head / tail</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First or last lines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-n 20   how many lines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wc</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Count lines, words, bytes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-l    lines only</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mkdir</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Make a directory</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-p    make parents too, no error if it exists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1400" b="1" dirty="0">
                          <a:solidFill>
                            <a:srgbClr val="1F2933"/>
                          </a:solidFill>
                          <a:latin typeface="Courier New" pitchFamily="34" charset="0"/>
                          <a:ea typeface="Courier New" pitchFamily="34" charset="-122"/>
                          <a:cs typeface="Courier New" pitchFamily="34" charset="-120"/>
                        </a:rPr>
                        <a:t>cp / mv</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Copy or move</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1F2933"/>
                          </a:solidFill>
                          <a:latin typeface="Arial" pitchFamily="34" charset="0"/>
                          <a:ea typeface="Arial" pitchFamily="34" charset="-122"/>
                          <a:cs typeface="Arial" pitchFamily="34" charset="-120"/>
                        </a:rPr>
                        <a:t>-r    recursive, for directories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8"/>
                  </a:ext>
                </a:extLst>
              </a:tr>
              <a:tr h="347472">
                <a:tc>
                  <a:txBody>
                    <a:bodyPr/>
                    <a:lstStyle/>
                    <a:p>
                      <a:pPr marL="0" indent="0">
                        <a:buNone/>
                      </a:pPr>
                      <a:r>
                        <a:rPr lang="en-US" sz="1400" b="1" dirty="0">
                          <a:solidFill>
                            <a:srgbClr val="C0392B"/>
                          </a:solidFill>
                          <a:latin typeface="Courier New" pitchFamily="34" charset="0"/>
                          <a:ea typeface="Courier New" pitchFamily="34" charset="-122"/>
                          <a:cs typeface="Courier New" pitchFamily="34" charset="-120"/>
                        </a:rPr>
                        <a:t>rm</a:t>
                      </a:r>
                      <a:endParaRPr lang="en-US" sz="1400" dirty="0">
                        <a:latin typeface="Courier New" charset="0"/>
                        <a:ea typeface="Courier New" charset="0"/>
                        <a:cs typeface="Courier New"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C0392B"/>
                          </a:solidFill>
                          <a:latin typeface="Arial" pitchFamily="34" charset="0"/>
                          <a:ea typeface="Arial" pitchFamily="34" charset="-122"/>
                          <a:cs typeface="Arial" pitchFamily="34" charset="-120"/>
                        </a:rPr>
                        <a:t>Delete. Permanently.</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marL="0" indent="0">
                        <a:buNone/>
                      </a:pPr>
                      <a:r>
                        <a:rPr lang="en-US" sz="1400" dirty="0">
                          <a:solidFill>
                            <a:srgbClr val="C0392B"/>
                          </a:solidFill>
                          <a:latin typeface="Arial" pitchFamily="34" charset="0"/>
                          <a:ea typeface="Arial" pitchFamily="34" charset="-122"/>
                          <a:cs typeface="Arial" pitchFamily="34" charset="-120"/>
                        </a:rPr>
                        <a:t>see the next slide before using this</a:t>
                      </a:r>
                      <a:endParaRPr lang="en-US" sz="1400" dirty="0">
                        <a:latin typeface="Arial" charset="0"/>
                        <a:ea typeface="Arial" charset="0"/>
                        <a:cs typeface="Arial" charset="0"/>
                      </a:endParaRPr>
                    </a:p>
                  </a:txBody>
                  <a:tcPr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rm has no undo</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THE SHELL</a:t>
            </a:r>
            <a:endParaRPr lang="en-US" sz="1200" dirty="0"/>
          </a:p>
        </p:txBody>
      </p:sp>
      <p:sp>
        <p:nvSpPr>
          <p:cNvPr id="4" name="Shape 2"/>
          <p:cNvSpPr/>
          <p:nvPr/>
        </p:nvSpPr>
        <p:spPr>
          <a:xfrm>
            <a:off x="615391" y="1481328"/>
            <a:ext cx="10963656" cy="914400"/>
          </a:xfrm>
          <a:prstGeom prst="roundRect">
            <a:avLst>
              <a:gd name="adj" fmla="val 6000"/>
            </a:avLst>
          </a:prstGeom>
          <a:solidFill>
            <a:srgbClr val="FDEDEC"/>
          </a:solidFill>
          <a:ln w="19050">
            <a:solidFill>
              <a:srgbClr val="C0392B"/>
            </a:solidFill>
            <a:prstDash val="solid"/>
          </a:ln>
        </p:spPr>
        <p:txBody>
          <a:bodyPr/>
          <a:lstStyle/>
          <a:p>
            <a:endParaRPr lang="en-US"/>
          </a:p>
        </p:txBody>
      </p:sp>
      <p:sp>
        <p:nvSpPr>
          <p:cNvPr id="5" name="Text 3"/>
          <p:cNvSpPr txBox="1"/>
          <p:nvPr/>
        </p:nvSpPr>
        <p:spPr>
          <a:xfrm>
            <a:off x="999439" y="1682496"/>
            <a:ext cx="10195560" cy="310896"/>
          </a:xfrm>
          <a:prstGeom prst="rect">
            <a:avLst/>
          </a:prstGeom>
          <a:noFill/>
          <a:ln/>
        </p:spPr>
        <p:txBody>
          <a:bodyPr wrap="square" lIns="0" tIns="0" rIns="0" bIns="0" rtlCol="0" anchor="ctr"/>
          <a:lstStyle/>
          <a:p>
            <a:pPr marL="0" indent="0">
              <a:buNone/>
            </a:pPr>
            <a:r>
              <a:rPr lang="en-US" sz="1600" b="1" dirty="0">
                <a:solidFill>
                  <a:srgbClr val="C0392B"/>
                </a:solidFill>
                <a:latin typeface="Arial" pitchFamily="34" charset="0"/>
                <a:ea typeface="Arial" pitchFamily="34" charset="-122"/>
                <a:cs typeface="Arial" pitchFamily="34" charset="-120"/>
              </a:rPr>
              <a:t>There is no recycle bin, no Ctrl+Z, and on most clusters no snapshot. Deleted means gone.</a:t>
            </a:r>
            <a:endParaRPr lang="en-US" sz="1600" dirty="0"/>
          </a:p>
        </p:txBody>
      </p:sp>
      <p:sp>
        <p:nvSpPr>
          <p:cNvPr id="6" name="Text 4"/>
          <p:cNvSpPr txBox="1"/>
          <p:nvPr/>
        </p:nvSpPr>
        <p:spPr>
          <a:xfrm>
            <a:off x="999439" y="2029968"/>
            <a:ext cx="10195560" cy="27432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This is the single most common way students lose a week of work, and it is entirely preventable.</a:t>
            </a:r>
            <a:endParaRPr lang="en-US" sz="1600" dirty="0"/>
          </a:p>
        </p:txBody>
      </p:sp>
      <p:sp>
        <p:nvSpPr>
          <p:cNvPr id="7" name="Shape 5"/>
          <p:cNvSpPr/>
          <p:nvPr/>
        </p:nvSpPr>
        <p:spPr>
          <a:xfrm>
            <a:off x="615391" y="2578608"/>
            <a:ext cx="5989320" cy="1572768"/>
          </a:xfrm>
          <a:prstGeom prst="roundRect">
            <a:avLst>
              <a:gd name="adj" fmla="val 3488"/>
            </a:avLst>
          </a:prstGeom>
          <a:solidFill>
            <a:srgbClr val="1F2933"/>
          </a:solidFill>
          <a:ln w="12700">
            <a:solidFill>
              <a:srgbClr val="1F2933"/>
            </a:solidFill>
            <a:prstDash val="solid"/>
          </a:ln>
        </p:spPr>
        <p:txBody>
          <a:bodyPr/>
          <a:lstStyle/>
          <a:p>
            <a:endParaRPr lang="en-US"/>
          </a:p>
        </p:txBody>
      </p:sp>
      <p:sp>
        <p:nvSpPr>
          <p:cNvPr id="8" name="Text 6"/>
          <p:cNvSpPr txBox="1"/>
          <p:nvPr/>
        </p:nvSpPr>
        <p:spPr>
          <a:xfrm>
            <a:off x="853135" y="2743200"/>
            <a:ext cx="5532120" cy="274320"/>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 Before deleting with a wildcard, look first:</a:t>
            </a:r>
            <a:endParaRPr lang="en-US" sz="1400" dirty="0"/>
          </a:p>
        </p:txBody>
      </p:sp>
      <p:sp>
        <p:nvSpPr>
          <p:cNvPr id="9" name="Text 7"/>
          <p:cNvSpPr txBox="1"/>
          <p:nvPr/>
        </p:nvSpPr>
        <p:spPr>
          <a:xfrm>
            <a:off x="853135" y="3017520"/>
            <a:ext cx="5532120" cy="274320"/>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a:t>
            </a:r>
            <a:r>
              <a:rPr lang="en-US" sz="1600" dirty="0">
                <a:solidFill>
                  <a:srgbClr val="8FBF5F"/>
                </a:solidFill>
                <a:latin typeface="Courier New" pitchFamily="34" charset="0"/>
                <a:ea typeface="Courier New" pitchFamily="34" charset="-122"/>
                <a:cs typeface="Courier New" pitchFamily="34" charset="-120"/>
              </a:rPr>
              <a:t>ls</a:t>
            </a:r>
            <a:r>
              <a:rPr lang="en-US" sz="1400" dirty="0">
                <a:solidFill>
                  <a:srgbClr val="8FBF5F"/>
                </a:solidFill>
                <a:latin typeface="Courier New" pitchFamily="34" charset="0"/>
                <a:ea typeface="Courier New" pitchFamily="34" charset="-122"/>
                <a:cs typeface="Courier New" pitchFamily="34" charset="-120"/>
              </a:rPr>
              <a:t> *.tmp</a:t>
            </a:r>
            <a:endParaRPr lang="en-US" sz="1400" dirty="0"/>
          </a:p>
        </p:txBody>
      </p:sp>
      <p:sp>
        <p:nvSpPr>
          <p:cNvPr id="10" name="Text 8"/>
          <p:cNvSpPr txBox="1"/>
          <p:nvPr/>
        </p:nvSpPr>
        <p:spPr>
          <a:xfrm>
            <a:off x="853135" y="3291840"/>
            <a:ext cx="5532120" cy="274320"/>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run1.tmp  run2.tmp  run3.tmp</a:t>
            </a:r>
            <a:endParaRPr lang="en-US" sz="1400" dirty="0"/>
          </a:p>
        </p:txBody>
      </p:sp>
      <p:sp>
        <p:nvSpPr>
          <p:cNvPr id="11" name="Text 9"/>
          <p:cNvSpPr txBox="1"/>
          <p:nvPr/>
        </p:nvSpPr>
        <p:spPr>
          <a:xfrm>
            <a:off x="853135" y="3566160"/>
            <a:ext cx="5532120" cy="274320"/>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 Same line, one word changed:</a:t>
            </a:r>
            <a:endParaRPr lang="en-US" sz="1400" dirty="0"/>
          </a:p>
        </p:txBody>
      </p:sp>
      <p:sp>
        <p:nvSpPr>
          <p:cNvPr id="12" name="Text 10"/>
          <p:cNvSpPr txBox="1"/>
          <p:nvPr/>
        </p:nvSpPr>
        <p:spPr>
          <a:xfrm>
            <a:off x="853135" y="3840480"/>
            <a:ext cx="5532120" cy="274320"/>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rm *.tmp</a:t>
            </a:r>
            <a:endParaRPr lang="en-US" sz="1400" dirty="0"/>
          </a:p>
        </p:txBody>
      </p:sp>
      <p:sp>
        <p:nvSpPr>
          <p:cNvPr id="13" name="Shape 11"/>
          <p:cNvSpPr/>
          <p:nvPr/>
        </p:nvSpPr>
        <p:spPr>
          <a:xfrm>
            <a:off x="6812280" y="2578608"/>
            <a:ext cx="4764024" cy="1572768"/>
          </a:xfrm>
          <a:prstGeom prst="roundRect">
            <a:avLst>
              <a:gd name="adj" fmla="val 3488"/>
            </a:avLst>
          </a:prstGeom>
          <a:solidFill>
            <a:srgbClr val="F5F6F0"/>
          </a:solidFill>
          <a:ln w="12700">
            <a:solidFill>
              <a:srgbClr val="F5F6F0"/>
            </a:solidFill>
            <a:prstDash val="solid"/>
          </a:ln>
        </p:spPr>
        <p:txBody>
          <a:bodyPr/>
          <a:lstStyle/>
          <a:p>
            <a:endParaRPr lang="en-US"/>
          </a:p>
        </p:txBody>
      </p:sp>
      <p:sp>
        <p:nvSpPr>
          <p:cNvPr id="14" name="Text 12"/>
          <p:cNvSpPr txBox="1"/>
          <p:nvPr/>
        </p:nvSpPr>
        <p:spPr>
          <a:xfrm>
            <a:off x="7104888" y="2743200"/>
            <a:ext cx="4206240" cy="274320"/>
          </a:xfrm>
          <a:prstGeom prst="rect">
            <a:avLst/>
          </a:prstGeom>
          <a:noFill/>
          <a:ln/>
        </p:spPr>
        <p:txBody>
          <a:bodyPr wrap="square" lIns="0" tIns="0" rIns="0" bIns="0" rtlCol="0" anchor="ctr"/>
          <a:lstStyle/>
          <a:p>
            <a:pPr marL="0" indent="0">
              <a:buNone/>
            </a:pPr>
            <a:r>
              <a:rPr lang="en-US" sz="1600" b="1" dirty="0">
                <a:solidFill>
                  <a:srgbClr val="C0392B"/>
                </a:solidFill>
                <a:latin typeface="Arial" pitchFamily="34" charset="0"/>
                <a:ea typeface="Arial" pitchFamily="34" charset="-122"/>
                <a:cs typeface="Arial" pitchFamily="34" charset="-120"/>
              </a:rPr>
              <a:t>The one that really hurts</a:t>
            </a:r>
            <a:endParaRPr lang="en-US" sz="1600" dirty="0"/>
          </a:p>
        </p:txBody>
      </p:sp>
      <p:sp>
        <p:nvSpPr>
          <p:cNvPr id="15" name="Text 13"/>
          <p:cNvSpPr txBox="1"/>
          <p:nvPr/>
        </p:nvSpPr>
        <p:spPr>
          <a:xfrm>
            <a:off x="7104888" y="3054096"/>
            <a:ext cx="4206240" cy="274320"/>
          </a:xfrm>
          <a:prstGeom prst="rect">
            <a:avLst/>
          </a:prstGeom>
          <a:noFill/>
          <a:ln/>
        </p:spPr>
        <p:txBody>
          <a:bodyPr wrap="square" lIns="0" tIns="0" rIns="0" bIns="0" rtlCol="0" anchor="ctr"/>
          <a:lstStyle/>
          <a:p>
            <a:pPr marL="0" indent="0">
              <a:buNone/>
            </a:pPr>
            <a:r>
              <a:rPr lang="en-US" sz="1400" b="1" dirty="0">
                <a:solidFill>
                  <a:srgbClr val="1F2933"/>
                </a:solidFill>
                <a:latin typeface="Courier New" pitchFamily="34" charset="0"/>
                <a:ea typeface="Courier New" pitchFamily="34" charset="-122"/>
                <a:cs typeface="Courier New" pitchFamily="34" charset="-120"/>
              </a:rPr>
              <a:t>rm -rf $PROJECT/*</a:t>
            </a:r>
            <a:endParaRPr lang="en-US" sz="1400" dirty="0"/>
          </a:p>
        </p:txBody>
      </p:sp>
      <p:sp>
        <p:nvSpPr>
          <p:cNvPr id="16" name="Text 14"/>
          <p:cNvSpPr txBox="1"/>
          <p:nvPr/>
        </p:nvSpPr>
        <p:spPr>
          <a:xfrm>
            <a:off x="7104888" y="3364992"/>
            <a:ext cx="4206240" cy="658368"/>
          </a:xfrm>
          <a:prstGeom prst="rect">
            <a:avLst/>
          </a:prstGeom>
          <a:noFill/>
          <a:ln/>
        </p:spPr>
        <p:txBody>
          <a:bodyPr wrap="square" lIns="0" tIns="0" rIns="0" bIns="0" rtlCol="0" anchor="ctr"/>
          <a:lstStyle/>
          <a:p>
            <a:pPr marL="0" indent="0">
              <a:lnSpc>
                <a:spcPts val="1500"/>
              </a:lnSpc>
              <a:buNone/>
            </a:pPr>
            <a:r>
              <a:rPr lang="en-US" sz="1200" dirty="0">
                <a:solidFill>
                  <a:srgbClr val="6B7280"/>
                </a:solidFill>
                <a:latin typeface="Arial" pitchFamily="34" charset="0"/>
                <a:ea typeface="Arial" pitchFamily="34" charset="-122"/>
                <a:cs typeface="Arial" pitchFamily="34" charset="-120"/>
              </a:rPr>
              <a:t>If $PROJECT is unset or empty, that line becomes rm -rf /* and tries to delete everything you have permission to touch. Always echo a variable before you delete with it.</a:t>
            </a:r>
            <a:endParaRPr lang="en-US" sz="1200" dirty="0"/>
          </a:p>
        </p:txBody>
      </p:sp>
      <p:sp>
        <p:nvSpPr>
          <p:cNvPr id="17" name="Text 15"/>
          <p:cNvSpPr txBox="1"/>
          <p:nvPr/>
        </p:nvSpPr>
        <p:spPr>
          <a:xfrm>
            <a:off x="615391" y="4389120"/>
            <a:ext cx="4572000" cy="274320"/>
          </a:xfrm>
          <a:prstGeom prst="rect">
            <a:avLst/>
          </a:prstGeom>
          <a:noFill/>
          <a:ln/>
        </p:spPr>
        <p:txBody>
          <a:bodyPr wrap="square" lIns="0" tIns="0" rIns="0" bIns="0" rtlCol="0" anchor="ctr"/>
          <a:lstStyle/>
          <a:p>
            <a:pPr marL="0" indent="0">
              <a:buNone/>
            </a:pPr>
            <a:r>
              <a:rPr lang="en-US" b="1" dirty="0">
                <a:solidFill>
                  <a:srgbClr val="3172AE"/>
                </a:solidFill>
                <a:latin typeface="Arial" pitchFamily="34" charset="0"/>
                <a:ea typeface="Arial" pitchFamily="34" charset="-122"/>
                <a:cs typeface="Arial" pitchFamily="34" charset="-120"/>
              </a:rPr>
              <a:t>Four habits that will save you</a:t>
            </a:r>
            <a:endParaRPr lang="en-US" dirty="0"/>
          </a:p>
        </p:txBody>
      </p:sp>
      <p:sp>
        <p:nvSpPr>
          <p:cNvPr id="18" name="Text 16"/>
          <p:cNvSpPr txBox="1"/>
          <p:nvPr/>
        </p:nvSpPr>
        <p:spPr>
          <a:xfrm>
            <a:off x="615391" y="4764024"/>
            <a:ext cx="10963656" cy="8229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3"/>
                </a:solidFill>
                <a:latin typeface="Arial" pitchFamily="34" charset="0"/>
                <a:ea typeface="Arial" pitchFamily="34" charset="-122"/>
                <a:cs typeface="Arial" pitchFamily="34" charset="-120"/>
              </a:rPr>
              <a:t>Run ls with the exact pattern first, then edit the line to say rm.</a:t>
            </a:r>
            <a:endParaRPr lang="en-US" sz="1600" dirty="0"/>
          </a:p>
          <a:p>
            <a:pPr marL="177800" indent="-177800">
              <a:spcAft>
                <a:spcPts val="500"/>
              </a:spcAft>
              <a:buSzPct val="100000"/>
              <a:buChar char="●"/>
            </a:pPr>
            <a:r>
              <a:rPr lang="en-US" sz="1600" dirty="0">
                <a:solidFill>
                  <a:srgbClr val="1F2933"/>
                </a:solidFill>
                <a:latin typeface="Arial" pitchFamily="34" charset="0"/>
                <a:ea typeface="Arial" pitchFamily="34" charset="-122"/>
                <a:cs typeface="Arial" pitchFamily="34" charset="-120"/>
              </a:rPr>
              <a:t>Use rm -i while you are learning. The prompt is worth the annoyance.</a:t>
            </a:r>
            <a:endParaRPr lang="en-US" sz="1600" dirty="0"/>
          </a:p>
          <a:p>
            <a:pPr marL="177800" indent="-177800">
              <a:spcAft>
                <a:spcPts val="500"/>
              </a:spcAft>
              <a:buSzPct val="100000"/>
              <a:buChar char="●"/>
            </a:pPr>
            <a:r>
              <a:rPr lang="en-US" sz="1600" dirty="0">
                <a:solidFill>
                  <a:srgbClr val="1F2933"/>
                </a:solidFill>
                <a:latin typeface="Arial" pitchFamily="34" charset="0"/>
                <a:ea typeface="Arial" pitchFamily="34" charset="-122"/>
                <a:cs typeface="Arial" pitchFamily="34" charset="-120"/>
              </a:rPr>
              <a:t>Never use rm -rf on a path you have not just printed.</a:t>
            </a:r>
            <a:endParaRPr lang="en-US" sz="1600" dirty="0"/>
          </a:p>
          <a:p>
            <a:pPr marL="177800" indent="-177800">
              <a:spcAft>
                <a:spcPts val="500"/>
              </a:spcAft>
              <a:buSzPct val="100000"/>
              <a:buChar char="●"/>
            </a:pPr>
            <a:r>
              <a:rPr lang="en-US" sz="1600" dirty="0">
                <a:solidFill>
                  <a:srgbClr val="1F2933"/>
                </a:solidFill>
                <a:latin typeface="Arial" pitchFamily="34" charset="0"/>
                <a:ea typeface="Arial" pitchFamily="34" charset="-122"/>
                <a:cs typeface="Arial" pitchFamily="34" charset="-120"/>
              </a:rPr>
              <a:t>Keep raw data read-only: chmod -w. You will thank yourself.</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Three errors, three completely different problems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THE SHELL</a:t>
            </a:r>
            <a:endParaRPr lang="en-US" sz="1200" dirty="0"/>
          </a:p>
        </p:txBody>
      </p:sp>
      <p:sp>
        <p:nvSpPr>
          <p:cNvPr id="4" name="Shape 2"/>
          <p:cNvSpPr/>
          <p:nvPr/>
        </p:nvSpPr>
        <p:spPr>
          <a:xfrm>
            <a:off x="604876" y="1488440"/>
            <a:ext cx="7589520" cy="1042416"/>
          </a:xfrm>
          <a:prstGeom prst="roundRect">
            <a:avLst>
              <a:gd name="adj" fmla="val 5263"/>
            </a:avLst>
          </a:prstGeom>
          <a:solidFill>
            <a:srgbClr val="FAFBFC"/>
          </a:solidFill>
          <a:ln w="12700">
            <a:solidFill>
              <a:srgbClr val="FAFBFC"/>
            </a:solidFill>
            <a:prstDash val="solid"/>
          </a:ln>
        </p:spPr>
        <p:txBody>
          <a:bodyPr/>
          <a:lstStyle/>
          <a:p>
            <a:endParaRPr lang="en-US"/>
          </a:p>
        </p:txBody>
      </p:sp>
      <p:sp>
        <p:nvSpPr>
          <p:cNvPr id="5" name="Text 3"/>
          <p:cNvSpPr txBox="1"/>
          <p:nvPr/>
        </p:nvSpPr>
        <p:spPr>
          <a:xfrm>
            <a:off x="889711" y="1497584"/>
            <a:ext cx="7040880" cy="274320"/>
          </a:xfrm>
          <a:prstGeom prst="rect">
            <a:avLst/>
          </a:prstGeom>
          <a:noFill/>
          <a:ln/>
        </p:spPr>
        <p:txBody>
          <a:bodyPr wrap="square" lIns="0" tIns="0" rIns="0" bIns="0" rtlCol="0" anchor="ctr"/>
          <a:lstStyle/>
          <a:p>
            <a:pPr marL="0" indent="0">
              <a:buNone/>
            </a:pPr>
            <a:r>
              <a:rPr lang="en-US" sz="1400" b="1" dirty="0">
                <a:solidFill>
                  <a:srgbClr val="C0392B"/>
                </a:solidFill>
                <a:latin typeface="Courier New" pitchFamily="34" charset="0"/>
                <a:ea typeface="Courier New" pitchFamily="34" charset="-122"/>
                <a:cs typeface="Courier New" pitchFamily="34" charset="-120"/>
              </a:rPr>
              <a:t>bash: flye: command not found</a:t>
            </a:r>
            <a:endParaRPr lang="en-US" sz="1400" dirty="0"/>
          </a:p>
        </p:txBody>
      </p:sp>
      <p:sp>
        <p:nvSpPr>
          <p:cNvPr id="6" name="Text 4"/>
          <p:cNvSpPr txBox="1"/>
          <p:nvPr/>
        </p:nvSpPr>
        <p:spPr>
          <a:xfrm>
            <a:off x="889711" y="1790192"/>
            <a:ext cx="7040880" cy="256032"/>
          </a:xfrm>
          <a:prstGeom prst="rect">
            <a:avLst/>
          </a:prstGeom>
          <a:noFill/>
          <a:ln/>
        </p:spPr>
        <p:txBody>
          <a:bodyPr wrap="square" lIns="0" tIns="0" rIns="0" bIns="0" rtlCol="0" anchor="ctr"/>
          <a:lstStyle/>
          <a:p>
            <a:pPr marL="0" indent="0">
              <a:buNone/>
            </a:pPr>
            <a:r>
              <a:rPr lang="en-US" sz="1200" b="1" dirty="0">
                <a:solidFill>
                  <a:srgbClr val="1F2933"/>
                </a:solidFill>
                <a:latin typeface="Arial" pitchFamily="34" charset="0"/>
                <a:ea typeface="Arial" pitchFamily="34" charset="-122"/>
                <a:cs typeface="Arial" pitchFamily="34" charset="-120"/>
              </a:rPr>
              <a:t>The shell </a:t>
            </a:r>
            <a:r>
              <a:rPr lang="en-US" sz="1400" b="1" dirty="0">
                <a:solidFill>
                  <a:srgbClr val="1F2933"/>
                </a:solidFill>
                <a:latin typeface="Arial" pitchFamily="34" charset="0"/>
                <a:ea typeface="Arial" pitchFamily="34" charset="-122"/>
                <a:cs typeface="Arial" pitchFamily="34" charset="-120"/>
              </a:rPr>
              <a:t>could</a:t>
            </a:r>
            <a:r>
              <a:rPr lang="en-US" sz="1200" b="1" dirty="0">
                <a:solidFill>
                  <a:srgbClr val="1F2933"/>
                </a:solidFill>
                <a:latin typeface="Arial" pitchFamily="34" charset="0"/>
                <a:ea typeface="Arial" pitchFamily="34" charset="-122"/>
                <a:cs typeface="Arial" pitchFamily="34" charset="-120"/>
              </a:rPr>
              <a:t> not find a program by that name.</a:t>
            </a:r>
            <a:endParaRPr lang="en-US" sz="1200" dirty="0"/>
          </a:p>
        </p:txBody>
      </p:sp>
      <p:sp>
        <p:nvSpPr>
          <p:cNvPr id="7" name="Text 5"/>
          <p:cNvSpPr txBox="1"/>
          <p:nvPr/>
        </p:nvSpPr>
        <p:spPr>
          <a:xfrm>
            <a:off x="889711" y="2126996"/>
            <a:ext cx="7086600" cy="310896"/>
          </a:xfrm>
          <a:prstGeom prst="rect">
            <a:avLst/>
          </a:prstGeom>
          <a:noFill/>
          <a:ln/>
        </p:spPr>
        <p:txBody>
          <a:bodyPr wrap="square" lIns="0" tIns="0" rIns="0" bIns="0" rtlCol="0" anchor="ctr"/>
          <a:lstStyle/>
          <a:p>
            <a:pPr marL="0" indent="0">
              <a:lnSpc>
                <a:spcPts val="1450"/>
              </a:lnSpc>
              <a:buNone/>
            </a:pPr>
            <a:r>
              <a:rPr lang="en-US" sz="1200" dirty="0">
                <a:solidFill>
                  <a:srgbClr val="6B7280"/>
                </a:solidFill>
                <a:latin typeface="Arial" pitchFamily="34" charset="0"/>
                <a:ea typeface="Arial" pitchFamily="34" charset="-122"/>
                <a:cs typeface="Arial" pitchFamily="34" charset="-120"/>
              </a:rPr>
              <a:t>It is not installed, or the module is not loaded, or your conda environment is not activated. Nothing to do with your file.</a:t>
            </a:r>
            <a:endParaRPr lang="en-US" sz="1200" dirty="0"/>
          </a:p>
        </p:txBody>
      </p:sp>
      <p:sp>
        <p:nvSpPr>
          <p:cNvPr id="8" name="Shape 6"/>
          <p:cNvSpPr/>
          <p:nvPr/>
        </p:nvSpPr>
        <p:spPr>
          <a:xfrm>
            <a:off x="615391" y="2651760"/>
            <a:ext cx="7589520" cy="1042416"/>
          </a:xfrm>
          <a:prstGeom prst="roundRect">
            <a:avLst>
              <a:gd name="adj" fmla="val 5263"/>
            </a:avLst>
          </a:prstGeom>
          <a:solidFill>
            <a:srgbClr val="FAFBFC"/>
          </a:solidFill>
          <a:ln w="12700">
            <a:solidFill>
              <a:srgbClr val="FAFBFC"/>
            </a:solidFill>
            <a:prstDash val="solid"/>
          </a:ln>
        </p:spPr>
        <p:txBody>
          <a:bodyPr/>
          <a:lstStyle/>
          <a:p>
            <a:endParaRPr lang="en-US"/>
          </a:p>
        </p:txBody>
      </p:sp>
      <p:sp>
        <p:nvSpPr>
          <p:cNvPr id="9" name="Text 7"/>
          <p:cNvSpPr txBox="1"/>
          <p:nvPr/>
        </p:nvSpPr>
        <p:spPr>
          <a:xfrm>
            <a:off x="889711" y="2779776"/>
            <a:ext cx="7040880" cy="274320"/>
          </a:xfrm>
          <a:prstGeom prst="rect">
            <a:avLst/>
          </a:prstGeom>
          <a:noFill/>
          <a:ln/>
        </p:spPr>
        <p:txBody>
          <a:bodyPr wrap="square" lIns="0" tIns="0" rIns="0" bIns="0" rtlCol="0" anchor="ctr"/>
          <a:lstStyle/>
          <a:p>
            <a:pPr marL="0" indent="0">
              <a:buNone/>
            </a:pPr>
            <a:r>
              <a:rPr lang="en-US" sz="1400" b="1" dirty="0">
                <a:solidFill>
                  <a:srgbClr val="B8860B"/>
                </a:solidFill>
                <a:latin typeface="Courier New" pitchFamily="34" charset="0"/>
                <a:ea typeface="Courier New" pitchFamily="34" charset="-122"/>
                <a:cs typeface="Courier New" pitchFamily="34" charset="-120"/>
              </a:rPr>
              <a:t>No such file or directory</a:t>
            </a:r>
            <a:endParaRPr lang="en-US" sz="1400" dirty="0"/>
          </a:p>
        </p:txBody>
      </p:sp>
      <p:sp>
        <p:nvSpPr>
          <p:cNvPr id="10" name="Text 8"/>
          <p:cNvSpPr txBox="1"/>
          <p:nvPr/>
        </p:nvSpPr>
        <p:spPr>
          <a:xfrm>
            <a:off x="889711" y="3072384"/>
            <a:ext cx="7040880" cy="256032"/>
          </a:xfrm>
          <a:prstGeom prst="rect">
            <a:avLst/>
          </a:prstGeom>
          <a:noFill/>
          <a:ln/>
        </p:spPr>
        <p:txBody>
          <a:bodyPr wrap="square" lIns="0" tIns="0" rIns="0" bIns="0" rtlCol="0" anchor="ctr"/>
          <a:lstStyle/>
          <a:p>
            <a:pPr marL="0" indent="0">
              <a:buNone/>
            </a:pPr>
            <a:r>
              <a:rPr lang="en-US" sz="1200" b="1" dirty="0">
                <a:solidFill>
                  <a:srgbClr val="1F2933"/>
                </a:solidFill>
                <a:latin typeface="Arial" pitchFamily="34" charset="0"/>
                <a:ea typeface="Arial" pitchFamily="34" charset="-122"/>
                <a:cs typeface="Arial" pitchFamily="34" charset="-120"/>
              </a:rPr>
              <a:t>The program ran. It could not find the file you named.</a:t>
            </a:r>
            <a:endParaRPr lang="en-US" sz="1200" dirty="0"/>
          </a:p>
        </p:txBody>
      </p:sp>
      <p:sp>
        <p:nvSpPr>
          <p:cNvPr id="11" name="Text 9"/>
          <p:cNvSpPr txBox="1"/>
          <p:nvPr/>
        </p:nvSpPr>
        <p:spPr>
          <a:xfrm>
            <a:off x="889711" y="3328416"/>
            <a:ext cx="7086600" cy="310896"/>
          </a:xfrm>
          <a:prstGeom prst="rect">
            <a:avLst/>
          </a:prstGeom>
          <a:noFill/>
          <a:ln/>
        </p:spPr>
        <p:txBody>
          <a:bodyPr wrap="square" lIns="0" tIns="0" rIns="0" bIns="0" rtlCol="0" anchor="ctr"/>
          <a:lstStyle/>
          <a:p>
            <a:pPr marL="0" indent="0">
              <a:lnSpc>
                <a:spcPts val="1450"/>
              </a:lnSpc>
              <a:buNone/>
            </a:pPr>
            <a:r>
              <a:rPr lang="en-US" sz="1200" dirty="0">
                <a:solidFill>
                  <a:srgbClr val="6B7280"/>
                </a:solidFill>
                <a:latin typeface="Arial" pitchFamily="34" charset="0"/>
                <a:ea typeface="Arial" pitchFamily="34" charset="-122"/>
                <a:cs typeface="Arial" pitchFamily="34" charset="-120"/>
              </a:rPr>
              <a:t>Check your path and your spelling. Run ls on the directory. Usually a typo or a wrong working directory.</a:t>
            </a:r>
            <a:endParaRPr lang="en-US" sz="1200" dirty="0"/>
          </a:p>
        </p:txBody>
      </p:sp>
      <p:sp>
        <p:nvSpPr>
          <p:cNvPr id="12" name="Shape 10"/>
          <p:cNvSpPr/>
          <p:nvPr/>
        </p:nvSpPr>
        <p:spPr>
          <a:xfrm>
            <a:off x="615391" y="3822192"/>
            <a:ext cx="7589520" cy="1042416"/>
          </a:xfrm>
          <a:prstGeom prst="roundRect">
            <a:avLst>
              <a:gd name="adj" fmla="val 5263"/>
            </a:avLst>
          </a:prstGeom>
          <a:solidFill>
            <a:srgbClr val="FAFBFC"/>
          </a:solidFill>
          <a:ln w="12700">
            <a:solidFill>
              <a:srgbClr val="FAFBFC"/>
            </a:solidFill>
            <a:prstDash val="solid"/>
          </a:ln>
        </p:spPr>
        <p:txBody>
          <a:bodyPr/>
          <a:lstStyle/>
          <a:p>
            <a:endParaRPr lang="en-US"/>
          </a:p>
        </p:txBody>
      </p:sp>
      <p:sp>
        <p:nvSpPr>
          <p:cNvPr id="13" name="Text 11"/>
          <p:cNvSpPr txBox="1"/>
          <p:nvPr/>
        </p:nvSpPr>
        <p:spPr>
          <a:xfrm>
            <a:off x="889711" y="3950208"/>
            <a:ext cx="7040880" cy="274320"/>
          </a:xfrm>
          <a:prstGeom prst="rect">
            <a:avLst/>
          </a:prstGeom>
          <a:noFill/>
          <a:ln/>
        </p:spPr>
        <p:txBody>
          <a:bodyPr wrap="square" lIns="0" tIns="0" rIns="0" bIns="0" rtlCol="0" anchor="ctr"/>
          <a:lstStyle/>
          <a:p>
            <a:pPr marL="0" indent="0">
              <a:buNone/>
            </a:pPr>
            <a:r>
              <a:rPr lang="en-US" sz="1400" b="1" dirty="0">
                <a:solidFill>
                  <a:srgbClr val="205081"/>
                </a:solidFill>
                <a:latin typeface="Courier New" pitchFamily="34" charset="0"/>
                <a:ea typeface="Courier New" pitchFamily="34" charset="-122"/>
                <a:cs typeface="Courier New" pitchFamily="34" charset="-120"/>
              </a:rPr>
              <a:t>Permission denied</a:t>
            </a:r>
            <a:endParaRPr lang="en-US" sz="1400" dirty="0"/>
          </a:p>
        </p:txBody>
      </p:sp>
      <p:sp>
        <p:nvSpPr>
          <p:cNvPr id="14" name="Text 12"/>
          <p:cNvSpPr txBox="1"/>
          <p:nvPr/>
        </p:nvSpPr>
        <p:spPr>
          <a:xfrm>
            <a:off x="889711" y="4242816"/>
            <a:ext cx="7040880" cy="256032"/>
          </a:xfrm>
          <a:prstGeom prst="rect">
            <a:avLst/>
          </a:prstGeom>
          <a:noFill/>
          <a:ln/>
        </p:spPr>
        <p:txBody>
          <a:bodyPr wrap="square" lIns="0" tIns="0" rIns="0" bIns="0" rtlCol="0" anchor="ctr"/>
          <a:lstStyle/>
          <a:p>
            <a:pPr marL="0" indent="0">
              <a:buNone/>
            </a:pPr>
            <a:r>
              <a:rPr lang="en-US" sz="1200" b="1" dirty="0">
                <a:solidFill>
                  <a:srgbClr val="1F2933"/>
                </a:solidFill>
                <a:latin typeface="Arial" pitchFamily="34" charset="0"/>
                <a:ea typeface="Arial" pitchFamily="34" charset="-122"/>
                <a:cs typeface="Arial" pitchFamily="34" charset="-120"/>
              </a:rPr>
              <a:t>The program ran, found the file, and was not allowed to touch it.</a:t>
            </a:r>
            <a:endParaRPr lang="en-US" sz="1200" dirty="0"/>
          </a:p>
        </p:txBody>
      </p:sp>
      <p:sp>
        <p:nvSpPr>
          <p:cNvPr id="15" name="Text 13"/>
          <p:cNvSpPr txBox="1"/>
          <p:nvPr/>
        </p:nvSpPr>
        <p:spPr>
          <a:xfrm>
            <a:off x="889711" y="4498848"/>
            <a:ext cx="7086600" cy="310896"/>
          </a:xfrm>
          <a:prstGeom prst="rect">
            <a:avLst/>
          </a:prstGeom>
          <a:noFill/>
          <a:ln/>
        </p:spPr>
        <p:txBody>
          <a:bodyPr wrap="square" lIns="0" tIns="0" rIns="0" bIns="0" rtlCol="0" anchor="ctr"/>
          <a:lstStyle/>
          <a:p>
            <a:pPr marL="0" indent="0">
              <a:lnSpc>
                <a:spcPts val="1450"/>
              </a:lnSpc>
              <a:buNone/>
            </a:pPr>
            <a:r>
              <a:rPr lang="en-US" sz="1100" dirty="0">
                <a:solidFill>
                  <a:srgbClr val="6B7280"/>
                </a:solidFill>
                <a:latin typeface="Arial" pitchFamily="34" charset="0"/>
                <a:ea typeface="Arial" pitchFamily="34" charset="-122"/>
                <a:cs typeface="Arial" pitchFamily="34" charset="-120"/>
              </a:rPr>
              <a:t>Check ls -l. You may be writing to a read-only share, or trying to execute something that is not executable.</a:t>
            </a:r>
            <a:endParaRPr lang="en-US" sz="1100" dirty="0"/>
          </a:p>
        </p:txBody>
      </p:sp>
      <p:sp>
        <p:nvSpPr>
          <p:cNvPr id="28" name="Text 26"/>
          <p:cNvSpPr txBox="1"/>
          <p:nvPr/>
        </p:nvSpPr>
        <p:spPr>
          <a:xfrm>
            <a:off x="615391" y="5029200"/>
            <a:ext cx="10963656" cy="320040"/>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Read the error before you search for it. Most of them tell you exactly what is wrong.</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Look at a file without opening all of it</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6675120" cy="2148840"/>
          </a:xfrm>
          <a:prstGeom prst="roundRect">
            <a:avLst>
              <a:gd name="adj" fmla="val 2553"/>
            </a:avLst>
          </a:prstGeom>
          <a:solidFill>
            <a:srgbClr val="1F2933"/>
          </a:solidFill>
          <a:ln w="12700">
            <a:solidFill>
              <a:srgbClr val="1F2933"/>
            </a:solidFill>
            <a:prstDash val="solid"/>
          </a:ln>
        </p:spPr>
        <p:txBody>
          <a:bodyPr/>
          <a:lstStyle/>
          <a:p>
            <a:endParaRPr lang="en-US"/>
          </a:p>
        </p:txBody>
      </p:sp>
      <p:sp>
        <p:nvSpPr>
          <p:cNvPr id="5" name="Text 3"/>
          <p:cNvSpPr txBox="1"/>
          <p:nvPr/>
        </p:nvSpPr>
        <p:spPr>
          <a:xfrm>
            <a:off x="853135" y="1645920"/>
            <a:ext cx="6217920" cy="265176"/>
          </a:xfrm>
          <a:prstGeom prst="rect">
            <a:avLst/>
          </a:prstGeom>
          <a:noFill/>
          <a:ln/>
        </p:spPr>
        <p:txBody>
          <a:bodyPr wrap="square" lIns="0" tIns="0" rIns="0" bIns="0" rtlCol="0" anchor="ctr"/>
          <a:lstStyle/>
          <a:p>
            <a:pPr marL="0" indent="0">
              <a:buNone/>
            </a:pPr>
            <a:r>
              <a:rPr lang="en-US" sz="1100" dirty="0">
                <a:solidFill>
                  <a:srgbClr val="8FBF5F"/>
                </a:solidFill>
                <a:latin typeface="Courier New" pitchFamily="34" charset="0"/>
                <a:ea typeface="Courier New" pitchFamily="34" charset="-122"/>
                <a:cs typeface="Courier New" pitchFamily="34" charset="-120"/>
              </a:rPr>
              <a:t>$ head -n 4 sample_R1.fastq</a:t>
            </a:r>
            <a:endParaRPr lang="en-US" sz="1100" dirty="0"/>
          </a:p>
        </p:txBody>
      </p:sp>
      <p:sp>
        <p:nvSpPr>
          <p:cNvPr id="6" name="Text 4"/>
          <p:cNvSpPr txBox="1"/>
          <p:nvPr/>
        </p:nvSpPr>
        <p:spPr>
          <a:xfrm>
            <a:off x="853135" y="1911096"/>
            <a:ext cx="6217920" cy="265176"/>
          </a:xfrm>
          <a:prstGeom prst="rect">
            <a:avLst/>
          </a:prstGeom>
          <a:noFill/>
          <a:ln/>
        </p:spPr>
        <p:txBody>
          <a:bodyPr wrap="square" lIns="0" tIns="0" rIns="0" bIns="0" rtlCol="0" anchor="ctr"/>
          <a:lstStyle/>
          <a:p>
            <a:pPr marL="0" indent="0">
              <a:buNone/>
            </a:pPr>
            <a:r>
              <a:rPr lang="en-US" sz="1100" dirty="0">
                <a:solidFill>
                  <a:srgbClr val="FFC82C"/>
                </a:solidFill>
                <a:latin typeface="Courier New" pitchFamily="34" charset="0"/>
                <a:ea typeface="Courier New" pitchFamily="34" charset="-122"/>
                <a:cs typeface="Courier New" pitchFamily="34" charset="-120"/>
              </a:rPr>
              <a:t>@A00534:398:HGVF7DSX3:1:1101:5900:1063 1:N:0:ATCACG</a:t>
            </a:r>
            <a:endParaRPr lang="en-US" sz="1100" dirty="0"/>
          </a:p>
        </p:txBody>
      </p:sp>
      <p:sp>
        <p:nvSpPr>
          <p:cNvPr id="7" name="Text 5"/>
          <p:cNvSpPr txBox="1"/>
          <p:nvPr/>
        </p:nvSpPr>
        <p:spPr>
          <a:xfrm>
            <a:off x="853135" y="2176272"/>
            <a:ext cx="6217920" cy="265176"/>
          </a:xfrm>
          <a:prstGeom prst="rect">
            <a:avLst/>
          </a:prstGeom>
          <a:noFill/>
          <a:ln/>
        </p:spPr>
        <p:txBody>
          <a:bodyPr wrap="square" lIns="0" tIns="0" rIns="0" bIns="0" rtlCol="0" anchor="ctr"/>
          <a:lstStyle/>
          <a:p>
            <a:pPr marL="0" indent="0">
              <a:buNone/>
            </a:pPr>
            <a:r>
              <a:rPr lang="en-US" sz="1100" dirty="0">
                <a:solidFill>
                  <a:srgbClr val="E8EDF2"/>
                </a:solidFill>
                <a:latin typeface="Courier New" pitchFamily="34" charset="0"/>
                <a:ea typeface="Courier New" pitchFamily="34" charset="-122"/>
                <a:cs typeface="Courier New" pitchFamily="34" charset="-120"/>
              </a:rPr>
              <a:t>GATTACAGGCGTGAACCACCGCGCCCGGCCTTTTTAAGTAGCTGGG</a:t>
            </a:r>
            <a:endParaRPr lang="en-US" sz="1100" dirty="0"/>
          </a:p>
        </p:txBody>
      </p:sp>
      <p:sp>
        <p:nvSpPr>
          <p:cNvPr id="8" name="Text 6"/>
          <p:cNvSpPr txBox="1"/>
          <p:nvPr/>
        </p:nvSpPr>
        <p:spPr>
          <a:xfrm>
            <a:off x="853135" y="2441448"/>
            <a:ext cx="6217920" cy="265176"/>
          </a:xfrm>
          <a:prstGeom prst="rect">
            <a:avLst/>
          </a:prstGeom>
          <a:noFill/>
          <a:ln/>
        </p:spPr>
        <p:txBody>
          <a:bodyPr wrap="square" lIns="0" tIns="0" rIns="0" bIns="0" rtlCol="0" anchor="ctr"/>
          <a:lstStyle/>
          <a:p>
            <a:pPr marL="0" indent="0">
              <a:buNone/>
            </a:pPr>
            <a:r>
              <a:rPr lang="en-US" sz="1100" dirty="0">
                <a:solidFill>
                  <a:srgbClr val="E8EDF2"/>
                </a:solidFill>
                <a:latin typeface="Courier New" pitchFamily="34" charset="0"/>
                <a:ea typeface="Courier New" pitchFamily="34" charset="-122"/>
                <a:cs typeface="Courier New" pitchFamily="34" charset="-120"/>
              </a:rPr>
              <a:t>+</a:t>
            </a:r>
            <a:endParaRPr lang="en-US" sz="1100" dirty="0"/>
          </a:p>
        </p:txBody>
      </p:sp>
      <p:sp>
        <p:nvSpPr>
          <p:cNvPr id="9" name="Text 7"/>
          <p:cNvSpPr txBox="1"/>
          <p:nvPr/>
        </p:nvSpPr>
        <p:spPr>
          <a:xfrm>
            <a:off x="853135" y="2706624"/>
            <a:ext cx="6217920" cy="265176"/>
          </a:xfrm>
          <a:prstGeom prst="rect">
            <a:avLst/>
          </a:prstGeom>
          <a:noFill/>
          <a:ln/>
        </p:spPr>
        <p:txBody>
          <a:bodyPr wrap="square" lIns="0" tIns="0" rIns="0" bIns="0" rtlCol="0" anchor="ctr"/>
          <a:lstStyle/>
          <a:p>
            <a:pPr marL="0" indent="0">
              <a:buNone/>
            </a:pPr>
            <a:r>
              <a:rPr lang="en-US" sz="1100" dirty="0">
                <a:solidFill>
                  <a:srgbClr val="E8EDF2"/>
                </a:solidFill>
                <a:latin typeface="Courier New" pitchFamily="34" charset="0"/>
                <a:ea typeface="Courier New" pitchFamily="34" charset="-122"/>
                <a:cs typeface="Courier New" pitchFamily="34" charset="-120"/>
              </a:rPr>
              <a:t>FFFFFFF:FFFFFFFFFFFFFFFF,FFFFFFFFFF:FFF,FF:FFF</a:t>
            </a:r>
            <a:endParaRPr lang="en-US" sz="1100" dirty="0"/>
          </a:p>
        </p:txBody>
      </p:sp>
      <p:sp>
        <p:nvSpPr>
          <p:cNvPr id="10" name="Text 8"/>
          <p:cNvSpPr txBox="1"/>
          <p:nvPr/>
        </p:nvSpPr>
        <p:spPr>
          <a:xfrm>
            <a:off x="853135" y="2971800"/>
            <a:ext cx="6217920" cy="265176"/>
          </a:xfrm>
          <a:prstGeom prst="rect">
            <a:avLst/>
          </a:prstGeom>
          <a:noFill/>
          <a:ln/>
        </p:spPr>
        <p:txBody>
          <a:bodyPr wrap="square" lIns="0" tIns="0" rIns="0" bIns="0" rtlCol="0" anchor="ctr"/>
          <a:lstStyle/>
          <a:p>
            <a:pPr marL="0" indent="0">
              <a:buNone/>
            </a:pPr>
            <a:r>
              <a:rPr lang="en-US" sz="1100" dirty="0">
                <a:solidFill>
                  <a:srgbClr val="8FBF5F"/>
                </a:solidFill>
                <a:latin typeface="Courier New" pitchFamily="34" charset="0"/>
                <a:ea typeface="Courier New" pitchFamily="34" charset="-122"/>
                <a:cs typeface="Courier New" pitchFamily="34" charset="-120"/>
              </a:rPr>
              <a:t>$ wc -l sample_R1.fastq</a:t>
            </a:r>
            <a:endParaRPr lang="en-US" sz="1100" dirty="0"/>
          </a:p>
        </p:txBody>
      </p:sp>
      <p:sp>
        <p:nvSpPr>
          <p:cNvPr id="11" name="Text 9"/>
          <p:cNvSpPr txBox="1"/>
          <p:nvPr/>
        </p:nvSpPr>
        <p:spPr>
          <a:xfrm>
            <a:off x="853135" y="3236976"/>
            <a:ext cx="6217920" cy="265176"/>
          </a:xfrm>
          <a:prstGeom prst="rect">
            <a:avLst/>
          </a:prstGeom>
          <a:noFill/>
          <a:ln/>
        </p:spPr>
        <p:txBody>
          <a:bodyPr wrap="square" lIns="0" tIns="0" rIns="0" bIns="0" rtlCol="0" anchor="ctr"/>
          <a:lstStyle/>
          <a:p>
            <a:pPr marL="0" indent="0">
              <a:buNone/>
            </a:pPr>
            <a:r>
              <a:rPr lang="en-US" sz="1100" dirty="0">
                <a:solidFill>
                  <a:srgbClr val="AFBACA"/>
                </a:solidFill>
                <a:latin typeface="Courier New" pitchFamily="34" charset="0"/>
                <a:ea typeface="Courier New" pitchFamily="34" charset="-122"/>
                <a:cs typeface="Courier New" pitchFamily="34" charset="-120"/>
              </a:rPr>
              <a:t>4000000 sample_R1.fastq        # so 1,000,000 reads</a:t>
            </a:r>
            <a:endParaRPr lang="en-US" sz="1100" dirty="0"/>
          </a:p>
        </p:txBody>
      </p:sp>
      <p:sp>
        <p:nvSpPr>
          <p:cNvPr id="12" name="Shape 10"/>
          <p:cNvSpPr/>
          <p:nvPr/>
        </p:nvSpPr>
        <p:spPr>
          <a:xfrm>
            <a:off x="7178040" y="1481328"/>
            <a:ext cx="4398264" cy="2148840"/>
          </a:xfrm>
          <a:prstGeom prst="roundRect">
            <a:avLst>
              <a:gd name="adj" fmla="val 2553"/>
            </a:avLst>
          </a:prstGeom>
          <a:solidFill>
            <a:srgbClr val="EEF4FA"/>
          </a:solidFill>
          <a:ln w="12700">
            <a:solidFill>
              <a:srgbClr val="EEF4FA"/>
            </a:solidFill>
            <a:prstDash val="solid"/>
          </a:ln>
        </p:spPr>
        <p:txBody>
          <a:bodyPr/>
          <a:lstStyle/>
          <a:p>
            <a:endParaRPr lang="en-US"/>
          </a:p>
        </p:txBody>
      </p:sp>
      <p:sp>
        <p:nvSpPr>
          <p:cNvPr id="13" name="Text 11"/>
          <p:cNvSpPr txBox="1"/>
          <p:nvPr/>
        </p:nvSpPr>
        <p:spPr>
          <a:xfrm>
            <a:off x="7452360" y="1645920"/>
            <a:ext cx="3840480" cy="274320"/>
          </a:xfrm>
          <a:prstGeom prst="rect">
            <a:avLst/>
          </a:prstGeom>
          <a:noFill/>
          <a:ln/>
        </p:spPr>
        <p:txBody>
          <a:bodyPr wrap="square" lIns="0" tIns="0" rIns="0" bIns="0" rtlCol="0" anchor="ctr"/>
          <a:lstStyle/>
          <a:p>
            <a:pPr marL="0" indent="0">
              <a:buNone/>
            </a:pPr>
            <a:r>
              <a:rPr lang="en-US" sz="1600" b="1" dirty="0">
                <a:solidFill>
                  <a:srgbClr val="3172AE"/>
                </a:solidFill>
                <a:latin typeface="Arial" pitchFamily="34" charset="0"/>
                <a:ea typeface="Arial" pitchFamily="34" charset="-122"/>
                <a:cs typeface="Arial" pitchFamily="34" charset="-120"/>
              </a:rPr>
              <a:t>Compressed files</a:t>
            </a:r>
            <a:endParaRPr lang="en-US" sz="1600" dirty="0"/>
          </a:p>
        </p:txBody>
      </p:sp>
      <p:sp>
        <p:nvSpPr>
          <p:cNvPr id="14" name="Text 12"/>
          <p:cNvSpPr txBox="1"/>
          <p:nvPr/>
        </p:nvSpPr>
        <p:spPr>
          <a:xfrm>
            <a:off x="7452360" y="1929384"/>
            <a:ext cx="3931920" cy="548640"/>
          </a:xfrm>
          <a:prstGeom prst="rect">
            <a:avLst/>
          </a:prstGeom>
          <a:noFill/>
          <a:ln/>
        </p:spPr>
        <p:txBody>
          <a:bodyPr wrap="square" lIns="0" tIns="0" rIns="0" bIns="0" rtlCol="0" anchor="ctr"/>
          <a:lstStyle/>
          <a:p>
            <a:pPr marL="0" indent="0">
              <a:lnSpc>
                <a:spcPts val="1700"/>
              </a:lnSpc>
              <a:buNone/>
            </a:pPr>
            <a:r>
              <a:rPr lang="en-US" sz="1600" dirty="0">
                <a:solidFill>
                  <a:srgbClr val="1F2933"/>
                </a:solidFill>
                <a:latin typeface="Courier New" pitchFamily="34" charset="0"/>
                <a:ea typeface="Courier New" pitchFamily="34" charset="-122"/>
                <a:cs typeface="Courier New" pitchFamily="34" charset="-120"/>
              </a:rPr>
              <a:t>zcat reads.fastq.gz | head -n 4</a:t>
            </a:r>
            <a:endParaRPr lang="en-US" sz="1600" dirty="0"/>
          </a:p>
          <a:p>
            <a:pPr marL="0" indent="0">
              <a:lnSpc>
                <a:spcPts val="1700"/>
              </a:lnSpc>
              <a:buNone/>
            </a:pPr>
            <a:r>
              <a:rPr lang="en-US" sz="1600" dirty="0">
                <a:solidFill>
                  <a:srgbClr val="1F2933"/>
                </a:solidFill>
                <a:latin typeface="Courier New" pitchFamily="34" charset="0"/>
                <a:ea typeface="Courier New" pitchFamily="34" charset="-122"/>
                <a:cs typeface="Courier New" pitchFamily="34" charset="-120"/>
              </a:rPr>
              <a:t>zless reads.fastq.gz</a:t>
            </a:r>
            <a:endParaRPr lang="en-US" sz="1600" dirty="0"/>
          </a:p>
        </p:txBody>
      </p:sp>
      <p:sp>
        <p:nvSpPr>
          <p:cNvPr id="15" name="Text 13"/>
          <p:cNvSpPr txBox="1"/>
          <p:nvPr/>
        </p:nvSpPr>
        <p:spPr>
          <a:xfrm>
            <a:off x="7452360" y="2551176"/>
            <a:ext cx="3931920" cy="548640"/>
          </a:xfrm>
          <a:prstGeom prst="rect">
            <a:avLst/>
          </a:prstGeom>
          <a:noFill/>
          <a:ln/>
        </p:spPr>
        <p:txBody>
          <a:bodyPr wrap="square" lIns="0" tIns="0" rIns="0" bIns="0" rtlCol="0" anchor="ctr"/>
          <a:lstStyle/>
          <a:p>
            <a:pPr marL="0" indent="0">
              <a:lnSpc>
                <a:spcPts val="1500"/>
              </a:lnSpc>
              <a:buNone/>
            </a:pPr>
            <a:r>
              <a:rPr lang="en-US" sz="1400" dirty="0">
                <a:solidFill>
                  <a:srgbClr val="6B7280"/>
                </a:solidFill>
                <a:latin typeface="Arial" pitchFamily="34" charset="0"/>
                <a:ea typeface="Arial" pitchFamily="34" charset="-122"/>
                <a:cs typeface="Arial" pitchFamily="34" charset="-120"/>
              </a:rPr>
              <a:t>Never gunzip a FASTQ just to look at it. Almost every bioinformatics tool reads .gz directly, and decompressing a run will fill your quota.</a:t>
            </a:r>
            <a:endParaRPr lang="en-US" sz="1400" dirty="0"/>
          </a:p>
        </p:txBody>
      </p:sp>
      <p:sp>
        <p:nvSpPr>
          <p:cNvPr id="16" name="Text 14"/>
          <p:cNvSpPr txBox="1"/>
          <p:nvPr/>
        </p:nvSpPr>
        <p:spPr>
          <a:xfrm>
            <a:off x="7452360" y="3172968"/>
            <a:ext cx="3931920" cy="411480"/>
          </a:xfrm>
          <a:prstGeom prst="rect">
            <a:avLst/>
          </a:prstGeom>
          <a:noFill/>
          <a:ln/>
        </p:spPr>
        <p:txBody>
          <a:bodyPr wrap="square" lIns="0" tIns="0" rIns="0" bIns="0" rtlCol="0" anchor="ctr"/>
          <a:lstStyle/>
          <a:p>
            <a:pPr marL="0" indent="0">
              <a:lnSpc>
                <a:spcPts val="1400"/>
              </a:lnSpc>
              <a:buNone/>
            </a:pPr>
            <a:r>
              <a:rPr lang="en-US" sz="1200" i="1" dirty="0">
                <a:solidFill>
                  <a:srgbClr val="9AA5B1"/>
                </a:solidFill>
                <a:latin typeface="Arial" pitchFamily="34" charset="0"/>
                <a:ea typeface="Arial" pitchFamily="34" charset="-122"/>
                <a:cs typeface="Arial" pitchFamily="34" charset="-120"/>
              </a:rPr>
              <a:t>zcat big.gz | head sometimes prints a broken-pipe warning. That is head closing the tap early. It is normal.</a:t>
            </a:r>
            <a:endParaRPr lang="en-US" sz="1200" dirty="0"/>
          </a:p>
        </p:txBody>
      </p:sp>
      <p:sp>
        <p:nvSpPr>
          <p:cNvPr id="17" name="Shape 15"/>
          <p:cNvSpPr/>
          <p:nvPr/>
        </p:nvSpPr>
        <p:spPr>
          <a:xfrm>
            <a:off x="615391" y="4224528"/>
            <a:ext cx="10963656" cy="1302512"/>
          </a:xfrm>
          <a:prstGeom prst="roundRect">
            <a:avLst>
              <a:gd name="adj" fmla="val 5217"/>
            </a:avLst>
          </a:prstGeom>
          <a:solidFill>
            <a:srgbClr val="FFF8E6"/>
          </a:solidFill>
          <a:ln w="19050">
            <a:solidFill>
              <a:srgbClr val="FFC82C"/>
            </a:solidFill>
            <a:prstDash val="solid"/>
          </a:ln>
        </p:spPr>
        <p:txBody>
          <a:bodyPr/>
          <a:lstStyle/>
          <a:p>
            <a:endParaRPr lang="en-US"/>
          </a:p>
        </p:txBody>
      </p:sp>
      <p:sp>
        <p:nvSpPr>
          <p:cNvPr id="18" name="Text 16"/>
          <p:cNvSpPr txBox="1"/>
          <p:nvPr/>
        </p:nvSpPr>
        <p:spPr>
          <a:xfrm>
            <a:off x="999439" y="4389120"/>
            <a:ext cx="3657600" cy="292608"/>
          </a:xfrm>
          <a:prstGeom prst="rect">
            <a:avLst/>
          </a:prstGeom>
          <a:noFill/>
          <a:ln/>
        </p:spPr>
        <p:txBody>
          <a:bodyPr wrap="square" lIns="0" tIns="0" rIns="0" bIns="0" rtlCol="0" anchor="ctr"/>
          <a:lstStyle/>
          <a:p>
            <a:pPr marL="0" indent="0">
              <a:buNone/>
            </a:pPr>
            <a:r>
              <a:rPr lang="en-US" sz="2000" b="1" dirty="0">
                <a:solidFill>
                  <a:srgbClr val="9C7A00"/>
                </a:solidFill>
                <a:latin typeface="Arial" pitchFamily="34" charset="0"/>
                <a:ea typeface="Arial" pitchFamily="34" charset="-122"/>
                <a:cs typeface="Arial" pitchFamily="34" charset="-120"/>
              </a:rPr>
              <a:t>Do not cat a 40 GB file.</a:t>
            </a:r>
            <a:endParaRPr lang="en-US" sz="2000" dirty="0"/>
          </a:p>
        </p:txBody>
      </p:sp>
      <p:sp>
        <p:nvSpPr>
          <p:cNvPr id="19" name="Text 17"/>
          <p:cNvSpPr txBox="1"/>
          <p:nvPr/>
        </p:nvSpPr>
        <p:spPr>
          <a:xfrm>
            <a:off x="999439" y="4823968"/>
            <a:ext cx="10195560" cy="502920"/>
          </a:xfrm>
          <a:prstGeom prst="rect">
            <a:avLst/>
          </a:prstGeom>
          <a:noFill/>
          <a:ln/>
        </p:spPr>
        <p:txBody>
          <a:bodyPr wrap="square" lIns="0" tIns="0" rIns="0" bIns="0" rtlCol="0" anchor="ctr"/>
          <a:lstStyle/>
          <a:p>
            <a:pPr marL="0" indent="0">
              <a:lnSpc>
                <a:spcPts val="1600"/>
              </a:lnSpc>
              <a:buNone/>
            </a:pPr>
            <a:r>
              <a:rPr lang="en-US" sz="1600" dirty="0">
                <a:solidFill>
                  <a:srgbClr val="1F2933"/>
                </a:solidFill>
                <a:latin typeface="Arial" pitchFamily="34" charset="0"/>
                <a:ea typeface="Arial" pitchFamily="34" charset="-122"/>
                <a:cs typeface="Arial" pitchFamily="34" charset="-120"/>
              </a:rPr>
              <a:t>cat writes the whole thing to your screen and there is no graceful way to stop it on a slow connection. less is lazy, it reads only the part you are looking at, so it opens a 40 GB file instantly. Use less for exploring, head for peeking, and cat only for small files or for feeding a pipe.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The pipe: the idea that makes the shell powerful</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2377440" cy="658368"/>
          </a:xfrm>
          <a:prstGeom prst="roundRect">
            <a:avLst>
              <a:gd name="adj" fmla="val 8333"/>
            </a:avLst>
          </a:prstGeom>
          <a:solidFill>
            <a:srgbClr val="EEF4FA"/>
          </a:solidFill>
          <a:ln w="12700">
            <a:solidFill>
              <a:srgbClr val="498BCA"/>
            </a:solidFill>
            <a:prstDash val="solid"/>
          </a:ln>
        </p:spPr>
        <p:txBody>
          <a:bodyPr/>
          <a:lstStyle/>
          <a:p>
            <a:endParaRPr lang="en-US"/>
          </a:p>
        </p:txBody>
      </p:sp>
      <p:sp>
        <p:nvSpPr>
          <p:cNvPr id="5" name="Text 3"/>
          <p:cNvSpPr txBox="1"/>
          <p:nvPr/>
        </p:nvSpPr>
        <p:spPr>
          <a:xfrm>
            <a:off x="743407" y="1664208"/>
            <a:ext cx="2121408" cy="310896"/>
          </a:xfrm>
          <a:prstGeom prst="rect">
            <a:avLst/>
          </a:prstGeom>
          <a:noFill/>
          <a:ln/>
        </p:spPr>
        <p:txBody>
          <a:bodyPr wrap="square" lIns="0" tIns="0" rIns="0" bIns="0" rtlCol="0" anchor="ctr"/>
          <a:lstStyle/>
          <a:p>
            <a:pPr marL="0" indent="0" algn="ctr">
              <a:buNone/>
            </a:pPr>
            <a:r>
              <a:rPr lang="en-US" sz="1600" dirty="0">
                <a:solidFill>
                  <a:srgbClr val="1F2933"/>
                </a:solidFill>
                <a:latin typeface="Courier New" pitchFamily="34" charset="0"/>
                <a:ea typeface="Courier New" pitchFamily="34" charset="-122"/>
                <a:cs typeface="Courier New" pitchFamily="34" charset="-120"/>
              </a:rPr>
              <a:t>zcat reads.gz</a:t>
            </a:r>
            <a:endParaRPr lang="en-US" sz="1600" dirty="0"/>
          </a:p>
        </p:txBody>
      </p:sp>
      <p:sp>
        <p:nvSpPr>
          <p:cNvPr id="6" name="Text 4"/>
          <p:cNvSpPr txBox="1"/>
          <p:nvPr/>
        </p:nvSpPr>
        <p:spPr>
          <a:xfrm>
            <a:off x="2992831" y="1600200"/>
            <a:ext cx="411480" cy="420624"/>
          </a:xfrm>
          <a:prstGeom prst="rect">
            <a:avLst/>
          </a:prstGeom>
          <a:noFill/>
          <a:ln/>
        </p:spPr>
        <p:txBody>
          <a:bodyPr wrap="square" lIns="0" tIns="0" rIns="0" bIns="0" rtlCol="0" anchor="ctr"/>
          <a:lstStyle/>
          <a:p>
            <a:pPr marL="0" indent="0" algn="ctr">
              <a:buNone/>
            </a:pPr>
            <a:r>
              <a:rPr lang="en-US" sz="2200" b="1" dirty="0">
                <a:solidFill>
                  <a:srgbClr val="FFC82C"/>
                </a:solidFill>
                <a:latin typeface="Arial" pitchFamily="34" charset="0"/>
                <a:ea typeface="Arial" pitchFamily="34" charset="-122"/>
                <a:cs typeface="Arial" pitchFamily="34" charset="-120"/>
              </a:rPr>
              <a:t>|</a:t>
            </a:r>
            <a:endParaRPr lang="en-US" sz="2200" dirty="0"/>
          </a:p>
        </p:txBody>
      </p:sp>
      <p:sp>
        <p:nvSpPr>
          <p:cNvPr id="7" name="Shape 5"/>
          <p:cNvSpPr/>
          <p:nvPr/>
        </p:nvSpPr>
        <p:spPr>
          <a:xfrm>
            <a:off x="3404311" y="1481328"/>
            <a:ext cx="2377440" cy="658368"/>
          </a:xfrm>
          <a:prstGeom prst="roundRect">
            <a:avLst>
              <a:gd name="adj" fmla="val 8333"/>
            </a:avLst>
          </a:prstGeom>
          <a:solidFill>
            <a:srgbClr val="FAFBFC"/>
          </a:solidFill>
          <a:ln w="12700">
            <a:solidFill>
              <a:srgbClr val="498BCA"/>
            </a:solidFill>
            <a:prstDash val="solid"/>
          </a:ln>
        </p:spPr>
        <p:txBody>
          <a:bodyPr/>
          <a:lstStyle/>
          <a:p>
            <a:endParaRPr lang="en-US"/>
          </a:p>
        </p:txBody>
      </p:sp>
      <p:sp>
        <p:nvSpPr>
          <p:cNvPr id="8" name="Text 6"/>
          <p:cNvSpPr txBox="1"/>
          <p:nvPr/>
        </p:nvSpPr>
        <p:spPr>
          <a:xfrm>
            <a:off x="3532327" y="1664208"/>
            <a:ext cx="2121408" cy="310896"/>
          </a:xfrm>
          <a:prstGeom prst="rect">
            <a:avLst/>
          </a:prstGeom>
          <a:noFill/>
          <a:ln/>
        </p:spPr>
        <p:txBody>
          <a:bodyPr wrap="square" lIns="0" tIns="0" rIns="0" bIns="0" rtlCol="0" anchor="ctr"/>
          <a:lstStyle/>
          <a:p>
            <a:pPr marL="0" indent="0" algn="ctr">
              <a:buNone/>
            </a:pPr>
            <a:r>
              <a:rPr lang="en-US" sz="1600" dirty="0">
                <a:solidFill>
                  <a:srgbClr val="1F2933"/>
                </a:solidFill>
                <a:latin typeface="Courier New" pitchFamily="34" charset="0"/>
                <a:ea typeface="Courier New" pitchFamily="34" charset="-122"/>
                <a:cs typeface="Courier New" pitchFamily="34" charset="-120"/>
              </a:rPr>
              <a:t>grep pattern</a:t>
            </a:r>
            <a:endParaRPr lang="en-US" sz="1600" dirty="0"/>
          </a:p>
        </p:txBody>
      </p:sp>
      <p:sp>
        <p:nvSpPr>
          <p:cNvPr id="9" name="Text 7"/>
          <p:cNvSpPr txBox="1"/>
          <p:nvPr/>
        </p:nvSpPr>
        <p:spPr>
          <a:xfrm>
            <a:off x="5781751" y="1600200"/>
            <a:ext cx="411480" cy="420624"/>
          </a:xfrm>
          <a:prstGeom prst="rect">
            <a:avLst/>
          </a:prstGeom>
          <a:noFill/>
          <a:ln/>
        </p:spPr>
        <p:txBody>
          <a:bodyPr wrap="square" lIns="0" tIns="0" rIns="0" bIns="0" rtlCol="0" anchor="ctr"/>
          <a:lstStyle/>
          <a:p>
            <a:pPr marL="0" indent="0" algn="ctr">
              <a:buNone/>
            </a:pPr>
            <a:r>
              <a:rPr lang="en-US" sz="2200" b="1" dirty="0">
                <a:solidFill>
                  <a:srgbClr val="FFC82C"/>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6193231" y="1481328"/>
            <a:ext cx="2377440" cy="658368"/>
          </a:xfrm>
          <a:prstGeom prst="roundRect">
            <a:avLst>
              <a:gd name="adj" fmla="val 8333"/>
            </a:avLst>
          </a:prstGeom>
          <a:solidFill>
            <a:srgbClr val="FAFBFC"/>
          </a:solidFill>
          <a:ln w="12700">
            <a:solidFill>
              <a:srgbClr val="498BCA"/>
            </a:solidFill>
            <a:prstDash val="solid"/>
          </a:ln>
        </p:spPr>
        <p:txBody>
          <a:bodyPr/>
          <a:lstStyle/>
          <a:p>
            <a:endParaRPr lang="en-US"/>
          </a:p>
        </p:txBody>
      </p:sp>
      <p:sp>
        <p:nvSpPr>
          <p:cNvPr id="11" name="Text 9"/>
          <p:cNvSpPr txBox="1"/>
          <p:nvPr/>
        </p:nvSpPr>
        <p:spPr>
          <a:xfrm>
            <a:off x="6321247" y="1664208"/>
            <a:ext cx="2121408" cy="310896"/>
          </a:xfrm>
          <a:prstGeom prst="rect">
            <a:avLst/>
          </a:prstGeom>
          <a:noFill/>
          <a:ln/>
        </p:spPr>
        <p:txBody>
          <a:bodyPr wrap="square" lIns="0" tIns="0" rIns="0" bIns="0" rtlCol="0" anchor="ctr"/>
          <a:lstStyle/>
          <a:p>
            <a:pPr marL="0" indent="0" algn="ctr">
              <a:buNone/>
            </a:pPr>
            <a:r>
              <a:rPr lang="en-US" sz="1600" dirty="0">
                <a:solidFill>
                  <a:srgbClr val="1F2933"/>
                </a:solidFill>
                <a:latin typeface="Courier New" pitchFamily="34" charset="0"/>
                <a:ea typeface="Courier New" pitchFamily="34" charset="-122"/>
                <a:cs typeface="Courier New" pitchFamily="34" charset="-120"/>
              </a:rPr>
              <a:t>sort</a:t>
            </a:r>
            <a:endParaRPr lang="en-US" sz="1600" dirty="0"/>
          </a:p>
        </p:txBody>
      </p:sp>
      <p:sp>
        <p:nvSpPr>
          <p:cNvPr id="12" name="Text 10"/>
          <p:cNvSpPr txBox="1"/>
          <p:nvPr/>
        </p:nvSpPr>
        <p:spPr>
          <a:xfrm>
            <a:off x="8570671" y="1600200"/>
            <a:ext cx="411480" cy="420624"/>
          </a:xfrm>
          <a:prstGeom prst="rect">
            <a:avLst/>
          </a:prstGeom>
          <a:noFill/>
          <a:ln/>
        </p:spPr>
        <p:txBody>
          <a:bodyPr wrap="square" lIns="0" tIns="0" rIns="0" bIns="0" rtlCol="0" anchor="ctr"/>
          <a:lstStyle/>
          <a:p>
            <a:pPr marL="0" indent="0" algn="ctr">
              <a:buNone/>
            </a:pPr>
            <a:r>
              <a:rPr lang="en-US" sz="2200" b="1" dirty="0">
                <a:solidFill>
                  <a:srgbClr val="FFC82C"/>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8982151" y="1481328"/>
            <a:ext cx="2377440" cy="658368"/>
          </a:xfrm>
          <a:prstGeom prst="roundRect">
            <a:avLst>
              <a:gd name="adj" fmla="val 8333"/>
            </a:avLst>
          </a:prstGeom>
          <a:solidFill>
            <a:srgbClr val="FAFBFC"/>
          </a:solidFill>
          <a:ln w="12700">
            <a:solidFill>
              <a:srgbClr val="498BCA"/>
            </a:solidFill>
            <a:prstDash val="solid"/>
          </a:ln>
        </p:spPr>
        <p:txBody>
          <a:bodyPr/>
          <a:lstStyle/>
          <a:p>
            <a:endParaRPr lang="en-US"/>
          </a:p>
        </p:txBody>
      </p:sp>
      <p:sp>
        <p:nvSpPr>
          <p:cNvPr id="14" name="Text 12"/>
          <p:cNvSpPr txBox="1"/>
          <p:nvPr/>
        </p:nvSpPr>
        <p:spPr>
          <a:xfrm>
            <a:off x="9110167" y="1664208"/>
            <a:ext cx="2121408" cy="310896"/>
          </a:xfrm>
          <a:prstGeom prst="rect">
            <a:avLst/>
          </a:prstGeom>
          <a:noFill/>
          <a:ln/>
        </p:spPr>
        <p:txBody>
          <a:bodyPr wrap="square" lIns="0" tIns="0" rIns="0" bIns="0" rtlCol="0" anchor="ctr"/>
          <a:lstStyle/>
          <a:p>
            <a:pPr marL="0" indent="0" algn="ctr">
              <a:buNone/>
            </a:pPr>
            <a:r>
              <a:rPr lang="en-US" sz="1600" dirty="0">
                <a:solidFill>
                  <a:srgbClr val="1F2933"/>
                </a:solidFill>
                <a:latin typeface="Courier New" pitchFamily="34" charset="0"/>
                <a:ea typeface="Courier New" pitchFamily="34" charset="-122"/>
                <a:cs typeface="Courier New" pitchFamily="34" charset="-120"/>
              </a:rPr>
              <a:t>uniq -c</a:t>
            </a:r>
            <a:endParaRPr lang="en-US" sz="1600" dirty="0"/>
          </a:p>
        </p:txBody>
      </p:sp>
      <p:sp>
        <p:nvSpPr>
          <p:cNvPr id="15" name="Text 13"/>
          <p:cNvSpPr txBox="1"/>
          <p:nvPr/>
        </p:nvSpPr>
        <p:spPr>
          <a:xfrm>
            <a:off x="615391" y="2286000"/>
            <a:ext cx="10963656" cy="274320"/>
          </a:xfrm>
          <a:prstGeom prst="rect">
            <a:avLst/>
          </a:prstGeom>
          <a:noFill/>
          <a:ln/>
        </p:spPr>
        <p:txBody>
          <a:bodyPr wrap="square" lIns="0" tIns="0" rIns="0" bIns="0" rtlCol="0" anchor="ctr"/>
          <a:lstStyle/>
          <a:p>
            <a:pPr marL="0" indent="0">
              <a:buNone/>
            </a:pPr>
            <a:r>
              <a:rPr lang="en-US" sz="1600" dirty="0">
                <a:solidFill>
                  <a:srgbClr val="6B7280"/>
                </a:solidFill>
                <a:latin typeface="Arial" pitchFamily="34" charset="0"/>
                <a:ea typeface="Arial" pitchFamily="34" charset="-122"/>
                <a:cs typeface="Arial" pitchFamily="34" charset="-120"/>
              </a:rPr>
              <a:t>The standard output of each command becomes the standard input of the next. Nothing is written to disk in between.</a:t>
            </a:r>
            <a:endParaRPr lang="en-US" sz="1600" dirty="0"/>
          </a:p>
        </p:txBody>
      </p:sp>
      <p:sp>
        <p:nvSpPr>
          <p:cNvPr id="16" name="Shape 14"/>
          <p:cNvSpPr/>
          <p:nvPr/>
        </p:nvSpPr>
        <p:spPr>
          <a:xfrm>
            <a:off x="615391" y="2715768"/>
            <a:ext cx="6455664" cy="1463040"/>
          </a:xfrm>
          <a:prstGeom prst="roundRect">
            <a:avLst>
              <a:gd name="adj" fmla="val 3750"/>
            </a:avLst>
          </a:prstGeom>
          <a:solidFill>
            <a:srgbClr val="1F2933"/>
          </a:solidFill>
          <a:ln w="12700">
            <a:solidFill>
              <a:srgbClr val="1F2933"/>
            </a:solidFill>
            <a:prstDash val="solid"/>
          </a:ln>
        </p:spPr>
        <p:txBody>
          <a:bodyPr/>
          <a:lstStyle/>
          <a:p>
            <a:endParaRPr lang="en-US" sz="1600"/>
          </a:p>
        </p:txBody>
      </p:sp>
      <p:sp>
        <p:nvSpPr>
          <p:cNvPr id="17" name="Text 15"/>
          <p:cNvSpPr txBox="1"/>
          <p:nvPr/>
        </p:nvSpPr>
        <p:spPr>
          <a:xfrm>
            <a:off x="729565" y="2880360"/>
            <a:ext cx="6217920" cy="274320"/>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 How many reads start with the adapter sequence?</a:t>
            </a:r>
            <a:endParaRPr lang="en-US" sz="1400" dirty="0"/>
          </a:p>
        </p:txBody>
      </p:sp>
      <p:sp>
        <p:nvSpPr>
          <p:cNvPr id="18" name="Text 16"/>
          <p:cNvSpPr txBox="1"/>
          <p:nvPr/>
        </p:nvSpPr>
        <p:spPr>
          <a:xfrm>
            <a:off x="729565" y="3154680"/>
            <a:ext cx="6217920" cy="274320"/>
          </a:xfrm>
          <a:prstGeom prst="rect">
            <a:avLst/>
          </a:prstGeom>
          <a:noFill/>
          <a:ln/>
        </p:spPr>
        <p:txBody>
          <a:bodyPr wrap="square" lIns="0" tIns="0" rIns="0" bIns="0" rtlCol="0" anchor="ctr"/>
          <a:lstStyle/>
          <a:p>
            <a:pPr marL="0" indent="0">
              <a:buNone/>
            </a:pPr>
            <a:r>
              <a:rPr lang="en-US" sz="1200" dirty="0">
                <a:solidFill>
                  <a:srgbClr val="8FBF5F"/>
                </a:solidFill>
                <a:latin typeface="Courier New" pitchFamily="34" charset="0"/>
                <a:ea typeface="Courier New" pitchFamily="34" charset="-122"/>
                <a:cs typeface="Courier New" pitchFamily="34" charset="-120"/>
              </a:rPr>
              <a:t>$ zcat sample_R1.fastq.gz | awk 'NR%4==2' | grep -c '^AGATCGGAAGAG'</a:t>
            </a:r>
            <a:endParaRPr lang="en-US" sz="1200" dirty="0"/>
          </a:p>
        </p:txBody>
      </p:sp>
      <p:sp>
        <p:nvSpPr>
          <p:cNvPr id="19" name="Text 17"/>
          <p:cNvSpPr txBox="1"/>
          <p:nvPr/>
        </p:nvSpPr>
        <p:spPr>
          <a:xfrm>
            <a:off x="729565" y="3529584"/>
            <a:ext cx="6217920" cy="274320"/>
          </a:xfrm>
          <a:prstGeom prst="rect">
            <a:avLst/>
          </a:prstGeom>
          <a:noFill/>
          <a:ln/>
        </p:spPr>
        <p:txBody>
          <a:bodyPr wrap="square" lIns="0" tIns="0" rIns="0" bIns="0" rtlCol="0" anchor="ctr"/>
          <a:lstStyle/>
          <a:p>
            <a:pPr marL="0" indent="0">
              <a:buNone/>
            </a:pPr>
            <a:r>
              <a:rPr lang="en-US" sz="1200" dirty="0">
                <a:solidFill>
                  <a:srgbClr val="FFC82C"/>
                </a:solidFill>
                <a:latin typeface="Courier New" pitchFamily="34" charset="0"/>
                <a:ea typeface="Courier New" pitchFamily="34" charset="-122"/>
                <a:cs typeface="Courier New" pitchFamily="34" charset="-120"/>
              </a:rPr>
              <a:t>18423</a:t>
            </a:r>
            <a:endParaRPr lang="en-US" sz="1200" dirty="0"/>
          </a:p>
        </p:txBody>
      </p:sp>
      <p:sp>
        <p:nvSpPr>
          <p:cNvPr id="20" name="Shape 18"/>
          <p:cNvSpPr/>
          <p:nvPr/>
        </p:nvSpPr>
        <p:spPr>
          <a:xfrm>
            <a:off x="7178040" y="2715768"/>
            <a:ext cx="4398264" cy="1463040"/>
          </a:xfrm>
          <a:prstGeom prst="roundRect">
            <a:avLst>
              <a:gd name="adj" fmla="val 3750"/>
            </a:avLst>
          </a:prstGeom>
          <a:solidFill>
            <a:srgbClr val="F5F6F0"/>
          </a:solidFill>
          <a:ln w="12700">
            <a:solidFill>
              <a:srgbClr val="F5F6F0"/>
            </a:solidFill>
            <a:prstDash val="solid"/>
          </a:ln>
        </p:spPr>
        <p:txBody>
          <a:bodyPr/>
          <a:lstStyle/>
          <a:p>
            <a:endParaRPr lang="en-US"/>
          </a:p>
        </p:txBody>
      </p:sp>
      <p:sp>
        <p:nvSpPr>
          <p:cNvPr id="21" name="Text 19"/>
          <p:cNvSpPr txBox="1"/>
          <p:nvPr/>
        </p:nvSpPr>
        <p:spPr>
          <a:xfrm>
            <a:off x="7341147" y="2871216"/>
            <a:ext cx="3840480" cy="256032"/>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Why this matters</a:t>
            </a:r>
            <a:endParaRPr lang="en-US" sz="1600" dirty="0"/>
          </a:p>
        </p:txBody>
      </p:sp>
      <p:sp>
        <p:nvSpPr>
          <p:cNvPr id="22" name="Text 20"/>
          <p:cNvSpPr txBox="1"/>
          <p:nvPr/>
        </p:nvSpPr>
        <p:spPr>
          <a:xfrm>
            <a:off x="7341147" y="3163824"/>
            <a:ext cx="4121288" cy="914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No intermediate files to name, track or delete.</a:t>
            </a:r>
            <a:endParaRPr lang="en-US" sz="1400" dirty="0"/>
          </a:p>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Works on files larger than your disk.</a:t>
            </a:r>
            <a:endParaRPr lang="en-US" sz="1400" dirty="0"/>
          </a:p>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Each stage is a small tool you can test on its own.</a:t>
            </a:r>
            <a:endParaRPr lang="en-US" sz="1400" dirty="0"/>
          </a:p>
        </p:txBody>
      </p:sp>
      <p:sp>
        <p:nvSpPr>
          <p:cNvPr id="23" name="Shape 21"/>
          <p:cNvSpPr/>
          <p:nvPr/>
        </p:nvSpPr>
        <p:spPr>
          <a:xfrm>
            <a:off x="615391" y="4279392"/>
            <a:ext cx="10963656" cy="960120"/>
          </a:xfrm>
          <a:prstGeom prst="roundRect">
            <a:avLst>
              <a:gd name="adj" fmla="val 5714"/>
            </a:avLst>
          </a:prstGeom>
          <a:solidFill>
            <a:srgbClr val="EEF4FA"/>
          </a:solidFill>
          <a:ln w="12700">
            <a:solidFill>
              <a:srgbClr val="EEF4FA"/>
            </a:solidFill>
            <a:prstDash val="solid"/>
          </a:ln>
        </p:spPr>
        <p:txBody>
          <a:bodyPr/>
          <a:lstStyle/>
          <a:p>
            <a:endParaRPr lang="en-US"/>
          </a:p>
        </p:txBody>
      </p:sp>
      <p:sp>
        <p:nvSpPr>
          <p:cNvPr id="24" name="Text 22"/>
          <p:cNvSpPr txBox="1"/>
          <p:nvPr/>
        </p:nvSpPr>
        <p:spPr>
          <a:xfrm>
            <a:off x="999439" y="4480560"/>
            <a:ext cx="10195560" cy="548640"/>
          </a:xfrm>
          <a:prstGeom prst="rect">
            <a:avLst/>
          </a:prstGeom>
          <a:noFill/>
          <a:ln/>
        </p:spPr>
        <p:txBody>
          <a:bodyPr wrap="square" lIns="0" tIns="0" rIns="0" bIns="0" rtlCol="0" anchor="ctr"/>
          <a:lstStyle/>
          <a:p>
            <a:pPr marL="0" indent="0">
              <a:lnSpc>
                <a:spcPts val="1800"/>
              </a:lnSpc>
              <a:buNone/>
            </a:pPr>
            <a:r>
              <a:rPr lang="en-US" b="1" dirty="0">
                <a:solidFill>
                  <a:srgbClr val="3172AE"/>
                </a:solidFill>
                <a:latin typeface="Arial" pitchFamily="34" charset="0"/>
                <a:ea typeface="Arial" pitchFamily="34" charset="-122"/>
                <a:cs typeface="Arial" pitchFamily="34" charset="-120"/>
              </a:rPr>
              <a:t>Build pipelines one stage at a time. </a:t>
            </a:r>
          </a:p>
          <a:p>
            <a:pPr marL="0" indent="0">
              <a:lnSpc>
                <a:spcPts val="1800"/>
              </a:lnSpc>
              <a:buNone/>
            </a:pPr>
            <a:endParaRPr lang="en-US" b="1" dirty="0">
              <a:solidFill>
                <a:srgbClr val="3172AE"/>
              </a:solidFill>
              <a:latin typeface="Arial" pitchFamily="34" charset="0"/>
              <a:ea typeface="Arial" pitchFamily="34" charset="-122"/>
              <a:cs typeface="Arial" pitchFamily="34" charset="-120"/>
            </a:endParaRPr>
          </a:p>
          <a:p>
            <a:pPr marL="0" indent="0">
              <a:lnSpc>
                <a:spcPts val="1800"/>
              </a:lnSpc>
              <a:buNone/>
            </a:pPr>
            <a:r>
              <a:rPr lang="en-US" b="1" dirty="0">
                <a:solidFill>
                  <a:srgbClr val="3172AE"/>
                </a:solidFill>
                <a:latin typeface="Arial" pitchFamily="34" charset="0"/>
                <a:ea typeface="Arial" pitchFamily="34" charset="-122"/>
                <a:cs typeface="Arial" pitchFamily="34" charset="-120"/>
              </a:rPr>
              <a:t>Run the first command, look at the output, then add the next pipe.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Redirection, and the one that eats your file</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6492240" cy="512064"/>
          </a:xfrm>
          <a:prstGeom prst="roundRect">
            <a:avLst>
              <a:gd name="adj" fmla="val 10714"/>
            </a:avLst>
          </a:prstGeom>
          <a:solidFill>
            <a:srgbClr val="FAFBFC"/>
          </a:solidFill>
          <a:ln w="12700">
            <a:solidFill>
              <a:srgbClr val="FAFBFC"/>
            </a:solidFill>
            <a:prstDash val="solid"/>
          </a:ln>
        </p:spPr>
        <p:txBody>
          <a:bodyPr/>
          <a:lstStyle/>
          <a:p>
            <a:endParaRPr lang="en-US"/>
          </a:p>
        </p:txBody>
      </p:sp>
      <p:sp>
        <p:nvSpPr>
          <p:cNvPr id="5" name="Text 3"/>
          <p:cNvSpPr txBox="1"/>
          <p:nvPr/>
        </p:nvSpPr>
        <p:spPr>
          <a:xfrm>
            <a:off x="871423" y="1600200"/>
            <a:ext cx="640080" cy="292608"/>
          </a:xfrm>
          <a:prstGeom prst="rect">
            <a:avLst/>
          </a:prstGeom>
          <a:noFill/>
          <a:ln/>
        </p:spPr>
        <p:txBody>
          <a:bodyPr wrap="square" lIns="0" tIns="0" rIns="0" bIns="0" rtlCol="0" anchor="ctr"/>
          <a:lstStyle/>
          <a:p>
            <a:pPr marL="0" indent="0">
              <a:buNone/>
            </a:pPr>
            <a:r>
              <a:rPr lang="en-US" sz="1600" b="1" dirty="0">
                <a:solidFill>
                  <a:srgbClr val="C0392B"/>
                </a:solidFill>
                <a:latin typeface="Courier New" pitchFamily="34" charset="0"/>
                <a:ea typeface="Courier New" pitchFamily="34" charset="-122"/>
                <a:cs typeface="Courier New" pitchFamily="34" charset="-120"/>
              </a:rPr>
              <a:t>&gt;</a:t>
            </a:r>
            <a:endParaRPr lang="en-US" sz="1600" dirty="0"/>
          </a:p>
        </p:txBody>
      </p:sp>
      <p:sp>
        <p:nvSpPr>
          <p:cNvPr id="6" name="Text 4"/>
          <p:cNvSpPr txBox="1"/>
          <p:nvPr/>
        </p:nvSpPr>
        <p:spPr>
          <a:xfrm>
            <a:off x="1621231" y="1618488"/>
            <a:ext cx="2286000" cy="256032"/>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send output to a file</a:t>
            </a:r>
            <a:endParaRPr lang="en-US" sz="1400" dirty="0"/>
          </a:p>
        </p:txBody>
      </p:sp>
      <p:sp>
        <p:nvSpPr>
          <p:cNvPr id="7" name="Text 5"/>
          <p:cNvSpPr txBox="1"/>
          <p:nvPr/>
        </p:nvSpPr>
        <p:spPr>
          <a:xfrm>
            <a:off x="3583459" y="1618488"/>
            <a:ext cx="3432732" cy="219456"/>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Overwrites without warning or confirmation.</a:t>
            </a:r>
            <a:endParaRPr lang="en-US" sz="1400" dirty="0"/>
          </a:p>
        </p:txBody>
      </p:sp>
      <p:sp>
        <p:nvSpPr>
          <p:cNvPr id="8" name="Shape 6"/>
          <p:cNvSpPr/>
          <p:nvPr/>
        </p:nvSpPr>
        <p:spPr>
          <a:xfrm>
            <a:off x="615391" y="2084832"/>
            <a:ext cx="6492240" cy="512064"/>
          </a:xfrm>
          <a:prstGeom prst="roundRect">
            <a:avLst>
              <a:gd name="adj" fmla="val 10714"/>
            </a:avLst>
          </a:prstGeom>
          <a:solidFill>
            <a:srgbClr val="FAFBFC"/>
          </a:solidFill>
          <a:ln w="12700">
            <a:solidFill>
              <a:srgbClr val="FAFBFC"/>
            </a:solidFill>
            <a:prstDash val="solid"/>
          </a:ln>
        </p:spPr>
        <p:txBody>
          <a:bodyPr/>
          <a:lstStyle/>
          <a:p>
            <a:endParaRPr lang="en-US"/>
          </a:p>
        </p:txBody>
      </p:sp>
      <p:sp>
        <p:nvSpPr>
          <p:cNvPr id="9" name="Text 7"/>
          <p:cNvSpPr txBox="1"/>
          <p:nvPr/>
        </p:nvSpPr>
        <p:spPr>
          <a:xfrm>
            <a:off x="871423" y="2203704"/>
            <a:ext cx="640080" cy="292608"/>
          </a:xfrm>
          <a:prstGeom prst="rect">
            <a:avLst/>
          </a:prstGeom>
          <a:noFill/>
          <a:ln/>
        </p:spPr>
        <p:txBody>
          <a:bodyPr wrap="square" lIns="0" tIns="0" rIns="0" bIns="0" rtlCol="0" anchor="ctr"/>
          <a:lstStyle/>
          <a:p>
            <a:pPr marL="0" indent="0">
              <a:buNone/>
            </a:pPr>
            <a:r>
              <a:rPr lang="en-US" sz="1600" b="1" dirty="0">
                <a:solidFill>
                  <a:srgbClr val="2E7D32"/>
                </a:solidFill>
                <a:latin typeface="Courier New" pitchFamily="34" charset="0"/>
                <a:ea typeface="Courier New" pitchFamily="34" charset="-122"/>
                <a:cs typeface="Courier New" pitchFamily="34" charset="-120"/>
              </a:rPr>
              <a:t>&gt;&gt;</a:t>
            </a:r>
            <a:endParaRPr lang="en-US" sz="1600" dirty="0"/>
          </a:p>
        </p:txBody>
      </p:sp>
      <p:sp>
        <p:nvSpPr>
          <p:cNvPr id="10" name="Text 8"/>
          <p:cNvSpPr txBox="1"/>
          <p:nvPr/>
        </p:nvSpPr>
        <p:spPr>
          <a:xfrm>
            <a:off x="1621231" y="2221992"/>
            <a:ext cx="2286000" cy="256032"/>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append to a file</a:t>
            </a:r>
            <a:endParaRPr lang="en-US" sz="1400" dirty="0"/>
          </a:p>
        </p:txBody>
      </p:sp>
      <p:sp>
        <p:nvSpPr>
          <p:cNvPr id="11" name="Text 9"/>
          <p:cNvSpPr txBox="1"/>
          <p:nvPr/>
        </p:nvSpPr>
        <p:spPr>
          <a:xfrm>
            <a:off x="3583459" y="2221992"/>
            <a:ext cx="3432732" cy="219456"/>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Safe. Adds to the end.</a:t>
            </a:r>
            <a:endParaRPr lang="en-US" sz="1400" dirty="0"/>
          </a:p>
        </p:txBody>
      </p:sp>
      <p:sp>
        <p:nvSpPr>
          <p:cNvPr id="12" name="Shape 10"/>
          <p:cNvSpPr/>
          <p:nvPr/>
        </p:nvSpPr>
        <p:spPr>
          <a:xfrm>
            <a:off x="615391" y="2688336"/>
            <a:ext cx="6492240" cy="512064"/>
          </a:xfrm>
          <a:prstGeom prst="roundRect">
            <a:avLst>
              <a:gd name="adj" fmla="val 10714"/>
            </a:avLst>
          </a:prstGeom>
          <a:solidFill>
            <a:srgbClr val="FAFBFC"/>
          </a:solidFill>
          <a:ln w="12700">
            <a:solidFill>
              <a:srgbClr val="FAFBFC"/>
            </a:solidFill>
            <a:prstDash val="solid"/>
          </a:ln>
        </p:spPr>
        <p:txBody>
          <a:bodyPr/>
          <a:lstStyle/>
          <a:p>
            <a:endParaRPr lang="en-US"/>
          </a:p>
        </p:txBody>
      </p:sp>
      <p:sp>
        <p:nvSpPr>
          <p:cNvPr id="13" name="Text 11"/>
          <p:cNvSpPr txBox="1"/>
          <p:nvPr/>
        </p:nvSpPr>
        <p:spPr>
          <a:xfrm>
            <a:off x="871423" y="2807208"/>
            <a:ext cx="640080" cy="292608"/>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2&gt;</a:t>
            </a:r>
            <a:endParaRPr lang="en-US" sz="1600" dirty="0"/>
          </a:p>
        </p:txBody>
      </p:sp>
      <p:sp>
        <p:nvSpPr>
          <p:cNvPr id="14" name="Text 12"/>
          <p:cNvSpPr txBox="1"/>
          <p:nvPr/>
        </p:nvSpPr>
        <p:spPr>
          <a:xfrm>
            <a:off x="1621231" y="2825496"/>
            <a:ext cx="2286000" cy="256032"/>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send errors to a file</a:t>
            </a:r>
            <a:endParaRPr lang="en-US" sz="1400" dirty="0"/>
          </a:p>
        </p:txBody>
      </p:sp>
      <p:sp>
        <p:nvSpPr>
          <p:cNvPr id="15" name="Text 13"/>
          <p:cNvSpPr txBox="1"/>
          <p:nvPr/>
        </p:nvSpPr>
        <p:spPr>
          <a:xfrm>
            <a:off x="3583459" y="2825496"/>
            <a:ext cx="3432732" cy="219456"/>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Errors travel on a separate stream, remember.</a:t>
            </a:r>
            <a:endParaRPr lang="en-US" sz="1400" dirty="0"/>
          </a:p>
        </p:txBody>
      </p:sp>
      <p:sp>
        <p:nvSpPr>
          <p:cNvPr id="16" name="Shape 14"/>
          <p:cNvSpPr/>
          <p:nvPr/>
        </p:nvSpPr>
        <p:spPr>
          <a:xfrm>
            <a:off x="615391" y="3291840"/>
            <a:ext cx="6492240" cy="512064"/>
          </a:xfrm>
          <a:prstGeom prst="roundRect">
            <a:avLst>
              <a:gd name="adj" fmla="val 10714"/>
            </a:avLst>
          </a:prstGeom>
          <a:solidFill>
            <a:srgbClr val="FAFBFC"/>
          </a:solidFill>
          <a:ln w="12700">
            <a:solidFill>
              <a:srgbClr val="FAFBFC"/>
            </a:solidFill>
            <a:prstDash val="solid"/>
          </a:ln>
        </p:spPr>
        <p:txBody>
          <a:bodyPr/>
          <a:lstStyle/>
          <a:p>
            <a:endParaRPr lang="en-US"/>
          </a:p>
        </p:txBody>
      </p:sp>
      <p:sp>
        <p:nvSpPr>
          <p:cNvPr id="17" name="Text 15"/>
          <p:cNvSpPr txBox="1"/>
          <p:nvPr/>
        </p:nvSpPr>
        <p:spPr>
          <a:xfrm>
            <a:off x="871423" y="3410712"/>
            <a:ext cx="640080" cy="292608"/>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&amp;&gt;</a:t>
            </a:r>
            <a:endParaRPr lang="en-US" sz="1600" dirty="0"/>
          </a:p>
        </p:txBody>
      </p:sp>
      <p:sp>
        <p:nvSpPr>
          <p:cNvPr id="18" name="Text 16"/>
          <p:cNvSpPr txBox="1"/>
          <p:nvPr/>
        </p:nvSpPr>
        <p:spPr>
          <a:xfrm>
            <a:off x="1621231" y="3429000"/>
            <a:ext cx="2286000" cy="256032"/>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send both to a file</a:t>
            </a:r>
            <a:endParaRPr lang="en-US" sz="1400" dirty="0"/>
          </a:p>
        </p:txBody>
      </p:sp>
      <p:sp>
        <p:nvSpPr>
          <p:cNvPr id="19" name="Text 17"/>
          <p:cNvSpPr txBox="1"/>
          <p:nvPr/>
        </p:nvSpPr>
        <p:spPr>
          <a:xfrm>
            <a:off x="3583459" y="3429000"/>
            <a:ext cx="3432732" cy="219456"/>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Useful for job logs on the cluster.</a:t>
            </a:r>
            <a:endParaRPr lang="en-US" sz="1400" dirty="0"/>
          </a:p>
        </p:txBody>
      </p:sp>
      <p:sp>
        <p:nvSpPr>
          <p:cNvPr id="20" name="Shape 18"/>
          <p:cNvSpPr/>
          <p:nvPr/>
        </p:nvSpPr>
        <p:spPr>
          <a:xfrm>
            <a:off x="615391" y="3895344"/>
            <a:ext cx="6492240" cy="512064"/>
          </a:xfrm>
          <a:prstGeom prst="roundRect">
            <a:avLst>
              <a:gd name="adj" fmla="val 10714"/>
            </a:avLst>
          </a:prstGeom>
          <a:solidFill>
            <a:srgbClr val="FAFBFC"/>
          </a:solidFill>
          <a:ln w="12700">
            <a:solidFill>
              <a:srgbClr val="FAFBFC"/>
            </a:solidFill>
            <a:prstDash val="solid"/>
          </a:ln>
        </p:spPr>
        <p:txBody>
          <a:bodyPr/>
          <a:lstStyle/>
          <a:p>
            <a:endParaRPr lang="en-US"/>
          </a:p>
        </p:txBody>
      </p:sp>
      <p:sp>
        <p:nvSpPr>
          <p:cNvPr id="21" name="Text 19"/>
          <p:cNvSpPr txBox="1"/>
          <p:nvPr/>
        </p:nvSpPr>
        <p:spPr>
          <a:xfrm>
            <a:off x="871423" y="4014216"/>
            <a:ext cx="640080" cy="292608"/>
          </a:xfrm>
          <a:prstGeom prst="rect">
            <a:avLst/>
          </a:prstGeom>
          <a:noFill/>
          <a:ln/>
        </p:spPr>
        <p:txBody>
          <a:bodyPr wrap="square" lIns="0" tIns="0" rIns="0" bIns="0" rtlCol="0" anchor="ctr"/>
          <a:lstStyle/>
          <a:p>
            <a:pPr marL="0" indent="0">
              <a:buNone/>
            </a:pPr>
            <a:r>
              <a:rPr lang="en-US" sz="1600" b="1" dirty="0">
                <a:solidFill>
                  <a:srgbClr val="9AA5B1"/>
                </a:solidFill>
                <a:latin typeface="Courier New" pitchFamily="34" charset="0"/>
                <a:ea typeface="Courier New" pitchFamily="34" charset="-122"/>
                <a:cs typeface="Courier New" pitchFamily="34" charset="-120"/>
              </a:rPr>
              <a:t>&lt;</a:t>
            </a:r>
            <a:endParaRPr lang="en-US" sz="1600" dirty="0"/>
          </a:p>
        </p:txBody>
      </p:sp>
      <p:sp>
        <p:nvSpPr>
          <p:cNvPr id="22" name="Text 20"/>
          <p:cNvSpPr txBox="1"/>
          <p:nvPr/>
        </p:nvSpPr>
        <p:spPr>
          <a:xfrm>
            <a:off x="1621231" y="4032504"/>
            <a:ext cx="2286000" cy="256032"/>
          </a:xfrm>
          <a:prstGeom prst="rect">
            <a:avLst/>
          </a:prstGeom>
          <a:noFill/>
          <a:ln/>
        </p:spPr>
        <p:txBody>
          <a:bodyPr wrap="square" lIns="0" tIns="0" rIns="0" bIns="0" rtlCol="0" anchor="ctr"/>
          <a:lstStyle/>
          <a:p>
            <a:pPr marL="0" indent="0">
              <a:buNone/>
            </a:pPr>
            <a:r>
              <a:rPr lang="en-US" sz="1400" b="1" dirty="0">
                <a:solidFill>
                  <a:srgbClr val="1F2933"/>
                </a:solidFill>
                <a:latin typeface="Arial" pitchFamily="34" charset="0"/>
                <a:ea typeface="Arial" pitchFamily="34" charset="-122"/>
                <a:cs typeface="Arial" pitchFamily="34" charset="-120"/>
              </a:rPr>
              <a:t>read input from a file</a:t>
            </a:r>
            <a:endParaRPr lang="en-US" sz="1400" dirty="0"/>
          </a:p>
        </p:txBody>
      </p:sp>
      <p:sp>
        <p:nvSpPr>
          <p:cNvPr id="23" name="Text 21"/>
          <p:cNvSpPr txBox="1"/>
          <p:nvPr/>
        </p:nvSpPr>
        <p:spPr>
          <a:xfrm>
            <a:off x="3583459" y="4032504"/>
            <a:ext cx="3432732" cy="219456"/>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Rarely needed; most tools take a filename.</a:t>
            </a:r>
            <a:endParaRPr lang="en-US" sz="1400" dirty="0"/>
          </a:p>
        </p:txBody>
      </p:sp>
      <p:sp>
        <p:nvSpPr>
          <p:cNvPr id="24" name="Shape 22"/>
          <p:cNvSpPr/>
          <p:nvPr/>
        </p:nvSpPr>
        <p:spPr>
          <a:xfrm>
            <a:off x="6995160" y="1481328"/>
            <a:ext cx="4581144" cy="2926080"/>
          </a:xfrm>
          <a:prstGeom prst="roundRect">
            <a:avLst>
              <a:gd name="adj" fmla="val 1875"/>
            </a:avLst>
          </a:prstGeom>
          <a:solidFill>
            <a:srgbClr val="FDEDEC"/>
          </a:solidFill>
          <a:ln w="19050">
            <a:solidFill>
              <a:srgbClr val="C0392B"/>
            </a:solidFill>
            <a:prstDash val="solid"/>
          </a:ln>
        </p:spPr>
        <p:txBody>
          <a:bodyPr/>
          <a:lstStyle/>
          <a:p>
            <a:endParaRPr lang="en-US"/>
          </a:p>
        </p:txBody>
      </p:sp>
      <p:sp>
        <p:nvSpPr>
          <p:cNvPr id="25" name="Text 23"/>
          <p:cNvSpPr txBox="1"/>
          <p:nvPr/>
        </p:nvSpPr>
        <p:spPr>
          <a:xfrm>
            <a:off x="7269480" y="1664208"/>
            <a:ext cx="4023360" cy="274320"/>
          </a:xfrm>
          <a:prstGeom prst="rect">
            <a:avLst/>
          </a:prstGeom>
          <a:noFill/>
          <a:ln/>
        </p:spPr>
        <p:txBody>
          <a:bodyPr wrap="square" lIns="0" tIns="0" rIns="0" bIns="0" rtlCol="0" anchor="ctr"/>
          <a:lstStyle/>
          <a:p>
            <a:pPr marL="0" indent="0">
              <a:buNone/>
            </a:pPr>
            <a:r>
              <a:rPr lang="en-US" b="1" dirty="0">
                <a:solidFill>
                  <a:srgbClr val="C0392B"/>
                </a:solidFill>
                <a:latin typeface="Arial" pitchFamily="34" charset="0"/>
                <a:ea typeface="Arial" pitchFamily="34" charset="-122"/>
                <a:cs typeface="Arial" pitchFamily="34" charset="-120"/>
              </a:rPr>
              <a:t>The classic disaster</a:t>
            </a:r>
            <a:endParaRPr lang="en-US" dirty="0"/>
          </a:p>
        </p:txBody>
      </p:sp>
      <p:sp>
        <p:nvSpPr>
          <p:cNvPr id="26" name="Shape 24"/>
          <p:cNvSpPr/>
          <p:nvPr/>
        </p:nvSpPr>
        <p:spPr>
          <a:xfrm>
            <a:off x="7269480" y="2029968"/>
            <a:ext cx="4023360" cy="841248"/>
          </a:xfrm>
          <a:prstGeom prst="roundRect">
            <a:avLst>
              <a:gd name="adj" fmla="val 6522"/>
            </a:avLst>
          </a:prstGeom>
          <a:solidFill>
            <a:srgbClr val="1F2933"/>
          </a:solidFill>
          <a:ln w="12700">
            <a:solidFill>
              <a:srgbClr val="1F2933"/>
            </a:solidFill>
            <a:prstDash val="solid"/>
          </a:ln>
        </p:spPr>
        <p:txBody>
          <a:bodyPr/>
          <a:lstStyle/>
          <a:p>
            <a:endParaRPr lang="en-US"/>
          </a:p>
        </p:txBody>
      </p:sp>
      <p:sp>
        <p:nvSpPr>
          <p:cNvPr id="27" name="Text 25"/>
          <p:cNvSpPr txBox="1"/>
          <p:nvPr/>
        </p:nvSpPr>
        <p:spPr>
          <a:xfrm>
            <a:off x="7507224" y="2120418"/>
            <a:ext cx="3566160" cy="246888"/>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sort samples.txt &gt; samples.txt</a:t>
            </a:r>
            <a:endParaRPr lang="en-US" sz="1400" dirty="0"/>
          </a:p>
        </p:txBody>
      </p:sp>
      <p:sp>
        <p:nvSpPr>
          <p:cNvPr id="28" name="Text 26"/>
          <p:cNvSpPr txBox="1"/>
          <p:nvPr/>
        </p:nvSpPr>
        <p:spPr>
          <a:xfrm>
            <a:off x="7507224" y="2367306"/>
            <a:ext cx="3566160" cy="246888"/>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wc -l samples.txt</a:t>
            </a:r>
            <a:endParaRPr lang="en-US" sz="1400" dirty="0"/>
          </a:p>
        </p:txBody>
      </p:sp>
      <p:sp>
        <p:nvSpPr>
          <p:cNvPr id="29" name="Text 27"/>
          <p:cNvSpPr txBox="1"/>
          <p:nvPr/>
        </p:nvSpPr>
        <p:spPr>
          <a:xfrm>
            <a:off x="7507224" y="2614194"/>
            <a:ext cx="3566160" cy="246888"/>
          </a:xfrm>
          <a:prstGeom prst="rect">
            <a:avLst/>
          </a:prstGeom>
          <a:noFill/>
          <a:ln/>
        </p:spPr>
        <p:txBody>
          <a:bodyPr wrap="square" lIns="0" tIns="0" rIns="0" bIns="0" rtlCol="0" anchor="ctr"/>
          <a:lstStyle/>
          <a:p>
            <a:pPr marL="0" indent="0">
              <a:buNone/>
            </a:pPr>
            <a:r>
              <a:rPr lang="en-US" sz="1400" dirty="0">
                <a:solidFill>
                  <a:srgbClr val="FF8A80"/>
                </a:solidFill>
                <a:latin typeface="Courier New" pitchFamily="34" charset="0"/>
                <a:ea typeface="Courier New" pitchFamily="34" charset="-122"/>
                <a:cs typeface="Courier New" pitchFamily="34" charset="-120"/>
              </a:rPr>
              <a:t>0 samples.txt</a:t>
            </a:r>
            <a:endParaRPr lang="en-US" sz="1400" dirty="0"/>
          </a:p>
        </p:txBody>
      </p:sp>
      <p:sp>
        <p:nvSpPr>
          <p:cNvPr id="30" name="Text 28"/>
          <p:cNvSpPr txBox="1"/>
          <p:nvPr/>
        </p:nvSpPr>
        <p:spPr>
          <a:xfrm>
            <a:off x="7269479" y="2999232"/>
            <a:ext cx="4051097" cy="704088"/>
          </a:xfrm>
          <a:prstGeom prst="rect">
            <a:avLst/>
          </a:prstGeom>
          <a:noFill/>
          <a:ln/>
        </p:spPr>
        <p:txBody>
          <a:bodyPr wrap="square" lIns="0" tIns="0" rIns="0" bIns="0" rtlCol="0" anchor="ctr"/>
          <a:lstStyle/>
          <a:p>
            <a:pPr marL="0" indent="0">
              <a:lnSpc>
                <a:spcPts val="1600"/>
              </a:lnSpc>
              <a:buNone/>
            </a:pPr>
            <a:r>
              <a:rPr lang="en-US" sz="1600" dirty="0">
                <a:solidFill>
                  <a:srgbClr val="1F2933"/>
                </a:solidFill>
                <a:latin typeface="Arial" pitchFamily="34" charset="0"/>
                <a:ea typeface="Arial" pitchFamily="34" charset="-122"/>
                <a:cs typeface="Arial" pitchFamily="34" charset="-120"/>
              </a:rPr>
              <a:t>The shell creates and empties the output file before sort ever starts reading. Your file is gone, and nothing warned you.</a:t>
            </a:r>
            <a:endParaRPr lang="en-US" sz="1600" dirty="0"/>
          </a:p>
        </p:txBody>
      </p:sp>
      <p:sp>
        <p:nvSpPr>
          <p:cNvPr id="31" name="Text 29"/>
          <p:cNvSpPr txBox="1"/>
          <p:nvPr/>
        </p:nvSpPr>
        <p:spPr>
          <a:xfrm>
            <a:off x="7269480" y="3803904"/>
            <a:ext cx="4023360" cy="457200"/>
          </a:xfrm>
          <a:prstGeom prst="rect">
            <a:avLst/>
          </a:prstGeom>
          <a:noFill/>
          <a:ln/>
        </p:spPr>
        <p:txBody>
          <a:bodyPr wrap="square" lIns="0" tIns="0" rIns="0" bIns="0" rtlCol="0" anchor="ctr"/>
          <a:lstStyle/>
          <a:p>
            <a:pPr marL="0" indent="0">
              <a:lnSpc>
                <a:spcPts val="1600"/>
              </a:lnSpc>
              <a:buNone/>
            </a:pPr>
            <a:r>
              <a:rPr lang="en-US" sz="1600" b="1" dirty="0">
                <a:solidFill>
                  <a:srgbClr val="C0392B"/>
                </a:solidFill>
                <a:latin typeface="Arial" pitchFamily="34" charset="0"/>
                <a:ea typeface="Arial" pitchFamily="34" charset="-122"/>
                <a:cs typeface="Arial" pitchFamily="34" charset="-120"/>
              </a:rPr>
              <a:t>Write to a new filename, always. Disk is cheaper than your afternoon.</a:t>
            </a:r>
            <a:endParaRPr lang="en-US" sz="1600" dirty="0"/>
          </a:p>
        </p:txBody>
      </p:sp>
      <p:sp>
        <p:nvSpPr>
          <p:cNvPr id="32" name="Text 30"/>
          <p:cNvSpPr txBox="1"/>
          <p:nvPr/>
        </p:nvSpPr>
        <p:spPr>
          <a:xfrm>
            <a:off x="615391" y="5029200"/>
            <a:ext cx="10963656" cy="320040"/>
          </a:xfrm>
          <a:prstGeom prst="rect">
            <a:avLst/>
          </a:prstGeom>
          <a:noFill/>
          <a:ln/>
        </p:spPr>
        <p:txBody>
          <a:bodyPr wrap="square" lIns="0" tIns="0" rIns="0" bIns="0" rtlCol="0" anchor="ctr"/>
          <a:lstStyle/>
          <a:p>
            <a:pPr marL="0" indent="0">
              <a:buNone/>
            </a:pPr>
            <a:r>
              <a:rPr lang="en-US" sz="1400" i="1" dirty="0">
                <a:solidFill>
                  <a:srgbClr val="205081"/>
                </a:solidFill>
                <a:latin typeface="Arial" pitchFamily="34" charset="0"/>
                <a:ea typeface="Arial" pitchFamily="34" charset="-122"/>
                <a:cs typeface="Arial" pitchFamily="34" charset="-120"/>
              </a:rPr>
              <a:t>On the cluster you will write   #SBATCH --output=logs/%j.out   for exactly this reason: when a job fails at 3 a.m., the log is the only witness</a:t>
            </a:r>
            <a:r>
              <a:rPr lang="en-US" sz="1250" i="1" dirty="0">
                <a:solidFill>
                  <a:srgbClr val="205081"/>
                </a:solidFill>
                <a:latin typeface="Arial" pitchFamily="34" charset="0"/>
                <a:ea typeface="Arial" pitchFamily="34" charset="-122"/>
                <a:cs typeface="Arial" pitchFamily="34" charset="-120"/>
              </a:rPr>
              <a: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The file we will interrogate for the next six slides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Text 2"/>
          <p:cNvSpPr txBox="1"/>
          <p:nvPr/>
        </p:nvSpPr>
        <p:spPr>
          <a:xfrm>
            <a:off x="615391" y="1444752"/>
            <a:ext cx="10963656" cy="274320"/>
          </a:xfrm>
          <a:prstGeom prst="rect">
            <a:avLst/>
          </a:prstGeom>
          <a:noFill/>
          <a:ln/>
        </p:spPr>
        <p:txBody>
          <a:bodyPr wrap="square" lIns="0" tIns="0" rIns="0" bIns="0" rtlCol="0" anchor="ctr"/>
          <a:lstStyle/>
          <a:p>
            <a:pPr marL="0" indent="0">
              <a:buNone/>
            </a:pPr>
            <a:r>
              <a:rPr lang="en-US" sz="1300" dirty="0">
                <a:solidFill>
                  <a:srgbClr val="1F2933"/>
                </a:solidFill>
                <a:latin typeface="Arial" pitchFamily="34" charset="0"/>
                <a:ea typeface="Arial" pitchFamily="34" charset="-122"/>
                <a:cs typeface="Arial" pitchFamily="34" charset="-120"/>
              </a:rPr>
              <a:t>A GFF3 annotation file. Nine tab-separated columns, one line per feature, comment lines start with #.</a:t>
            </a:r>
            <a:endParaRPr lang="en-US" sz="1300" dirty="0"/>
          </a:p>
        </p:txBody>
      </p:sp>
      <p:sp>
        <p:nvSpPr>
          <p:cNvPr id="5" name="Shape 3"/>
          <p:cNvSpPr/>
          <p:nvPr/>
        </p:nvSpPr>
        <p:spPr>
          <a:xfrm>
            <a:off x="615391" y="1810512"/>
            <a:ext cx="10963656" cy="1965960"/>
          </a:xfrm>
          <a:prstGeom prst="roundRect">
            <a:avLst>
              <a:gd name="adj" fmla="val 2791"/>
            </a:avLst>
          </a:prstGeom>
          <a:solidFill>
            <a:srgbClr val="1F2933"/>
          </a:solidFill>
          <a:ln w="12700">
            <a:solidFill>
              <a:srgbClr val="1F2933"/>
            </a:solidFill>
            <a:prstDash val="solid"/>
          </a:ln>
        </p:spPr>
        <p:txBody>
          <a:bodyPr/>
          <a:lstStyle/>
          <a:p>
            <a:endParaRPr lang="en-US"/>
          </a:p>
        </p:txBody>
      </p:sp>
      <p:sp>
        <p:nvSpPr>
          <p:cNvPr id="6" name="Text 4"/>
          <p:cNvSpPr txBox="1"/>
          <p:nvPr/>
        </p:nvSpPr>
        <p:spPr>
          <a:xfrm>
            <a:off x="853135" y="1975104"/>
            <a:ext cx="10506456" cy="274320"/>
          </a:xfrm>
          <a:prstGeom prst="rect">
            <a:avLst/>
          </a:prstGeom>
          <a:noFill/>
          <a:ln/>
        </p:spPr>
        <p:txBody>
          <a:bodyPr wrap="square" lIns="0" tIns="0" rIns="0" bIns="0" rtlCol="0" anchor="ctr"/>
          <a:lstStyle/>
          <a:p>
            <a:pPr marL="0" indent="0">
              <a:buNone/>
            </a:pPr>
            <a:r>
              <a:rPr lang="en-US" sz="1000" dirty="0">
                <a:solidFill>
                  <a:srgbClr val="AFBACA"/>
                </a:solidFill>
                <a:latin typeface="Courier New" pitchFamily="34" charset="0"/>
                <a:ea typeface="Courier New" pitchFamily="34" charset="-122"/>
                <a:cs typeface="Courier New" pitchFamily="34" charset="-120"/>
              </a:rPr>
              <a:t>##gff-version 3</a:t>
            </a:r>
            <a:endParaRPr lang="en-US" sz="1000" dirty="0"/>
          </a:p>
        </p:txBody>
      </p:sp>
      <p:sp>
        <p:nvSpPr>
          <p:cNvPr id="7" name="Text 5"/>
          <p:cNvSpPr txBox="1"/>
          <p:nvPr/>
        </p:nvSpPr>
        <p:spPr>
          <a:xfrm>
            <a:off x="853135" y="2249424"/>
            <a:ext cx="10506456" cy="274320"/>
          </a:xfrm>
          <a:prstGeom prst="rect">
            <a:avLst/>
          </a:prstGeom>
          <a:noFill/>
          <a:ln/>
        </p:spPr>
        <p:txBody>
          <a:bodyPr wrap="square" lIns="0" tIns="0" rIns="0" bIns="0" rtlCol="0" anchor="ctr"/>
          <a:lstStyle/>
          <a:p>
            <a:pPr marL="0" indent="0">
              <a:buNone/>
            </a:pPr>
            <a:r>
              <a:rPr lang="en-US" sz="1000" dirty="0">
                <a:solidFill>
                  <a:srgbClr val="E8EDF2"/>
                </a:solidFill>
                <a:latin typeface="Courier New" pitchFamily="34" charset="0"/>
                <a:ea typeface="Courier New" pitchFamily="34" charset="-122"/>
                <a:cs typeface="Courier New" pitchFamily="34" charset="-120"/>
              </a:rPr>
              <a:t>I      sgd      gene   335     649     .   +   .   ID=gene:YAL069W</a:t>
            </a:r>
            <a:endParaRPr lang="en-US" sz="1000" dirty="0"/>
          </a:p>
        </p:txBody>
      </p:sp>
      <p:sp>
        <p:nvSpPr>
          <p:cNvPr id="8" name="Text 6"/>
          <p:cNvSpPr txBox="1"/>
          <p:nvPr/>
        </p:nvSpPr>
        <p:spPr>
          <a:xfrm>
            <a:off x="853135" y="2523744"/>
            <a:ext cx="10506456" cy="274320"/>
          </a:xfrm>
          <a:prstGeom prst="rect">
            <a:avLst/>
          </a:prstGeom>
          <a:noFill/>
          <a:ln/>
        </p:spPr>
        <p:txBody>
          <a:bodyPr wrap="square" lIns="0" tIns="0" rIns="0" bIns="0" rtlCol="0" anchor="ctr"/>
          <a:lstStyle/>
          <a:p>
            <a:pPr marL="0" indent="0">
              <a:buNone/>
            </a:pPr>
            <a:r>
              <a:rPr lang="en-US" sz="1000" dirty="0">
                <a:solidFill>
                  <a:srgbClr val="E8EDF2"/>
                </a:solidFill>
                <a:latin typeface="Courier New" pitchFamily="34" charset="0"/>
                <a:ea typeface="Courier New" pitchFamily="34" charset="-122"/>
                <a:cs typeface="Courier New" pitchFamily="34" charset="-120"/>
              </a:rPr>
              <a:t>I      sgd      mRNA   335     649     .   +   .   ID=transcript:YAL069W_mRNA</a:t>
            </a:r>
            <a:endParaRPr lang="en-US" sz="1000" dirty="0"/>
          </a:p>
        </p:txBody>
      </p:sp>
      <p:sp>
        <p:nvSpPr>
          <p:cNvPr id="9" name="Text 7"/>
          <p:cNvSpPr txBox="1"/>
          <p:nvPr/>
        </p:nvSpPr>
        <p:spPr>
          <a:xfrm>
            <a:off x="853135" y="2798064"/>
            <a:ext cx="10506456" cy="274320"/>
          </a:xfrm>
          <a:prstGeom prst="rect">
            <a:avLst/>
          </a:prstGeom>
          <a:noFill/>
          <a:ln/>
        </p:spPr>
        <p:txBody>
          <a:bodyPr wrap="square" lIns="0" tIns="0" rIns="0" bIns="0" rtlCol="0" anchor="ctr"/>
          <a:lstStyle/>
          <a:p>
            <a:pPr marL="0" indent="0">
              <a:buNone/>
            </a:pPr>
            <a:r>
              <a:rPr lang="en-US" sz="1000" dirty="0">
                <a:solidFill>
                  <a:srgbClr val="E8EDF2"/>
                </a:solidFill>
                <a:latin typeface="Courier New" pitchFamily="34" charset="0"/>
                <a:ea typeface="Courier New" pitchFamily="34" charset="-122"/>
                <a:cs typeface="Courier New" pitchFamily="34" charset="-120"/>
              </a:rPr>
              <a:t>I      sgd      exon   335     649     .   +   .   Parent=transcript:YAL069W_mRNA</a:t>
            </a:r>
            <a:endParaRPr lang="en-US" sz="1000" dirty="0"/>
          </a:p>
        </p:txBody>
      </p:sp>
      <p:sp>
        <p:nvSpPr>
          <p:cNvPr id="10" name="Text 8"/>
          <p:cNvSpPr txBox="1"/>
          <p:nvPr/>
        </p:nvSpPr>
        <p:spPr>
          <a:xfrm>
            <a:off x="853135" y="3072384"/>
            <a:ext cx="10506456" cy="274320"/>
          </a:xfrm>
          <a:prstGeom prst="rect">
            <a:avLst/>
          </a:prstGeom>
          <a:noFill/>
          <a:ln/>
        </p:spPr>
        <p:txBody>
          <a:bodyPr wrap="square" lIns="0" tIns="0" rIns="0" bIns="0" rtlCol="0" anchor="ctr"/>
          <a:lstStyle/>
          <a:p>
            <a:pPr marL="0" indent="0">
              <a:buNone/>
            </a:pPr>
            <a:r>
              <a:rPr lang="en-US" sz="1000" dirty="0">
                <a:solidFill>
                  <a:srgbClr val="E8EDF2"/>
                </a:solidFill>
                <a:latin typeface="Courier New" pitchFamily="34" charset="0"/>
                <a:ea typeface="Courier New" pitchFamily="34" charset="-122"/>
                <a:cs typeface="Courier New" pitchFamily="34" charset="-120"/>
              </a:rPr>
              <a:t>II     sgd      gene   1000    2000    .   -   .   ID=gene:YBL001C</a:t>
            </a:r>
            <a:endParaRPr lang="en-US" sz="1000" dirty="0"/>
          </a:p>
        </p:txBody>
      </p:sp>
      <p:sp>
        <p:nvSpPr>
          <p:cNvPr id="11" name="Text 9"/>
          <p:cNvSpPr txBox="1"/>
          <p:nvPr/>
        </p:nvSpPr>
        <p:spPr>
          <a:xfrm>
            <a:off x="853135" y="3346704"/>
            <a:ext cx="10506456" cy="274320"/>
          </a:xfrm>
          <a:prstGeom prst="rect">
            <a:avLst/>
          </a:prstGeom>
          <a:noFill/>
          <a:ln/>
        </p:spPr>
        <p:txBody>
          <a:bodyPr wrap="square" lIns="0" tIns="0" rIns="0" bIns="0" rtlCol="0" anchor="ctr"/>
          <a:lstStyle/>
          <a:p>
            <a:pPr marL="0" indent="0">
              <a:buNone/>
            </a:pPr>
            <a:r>
              <a:rPr lang="en-US" sz="1000" dirty="0">
                <a:solidFill>
                  <a:srgbClr val="E8EDF2"/>
                </a:solidFill>
                <a:latin typeface="Courier New" pitchFamily="34" charset="0"/>
                <a:ea typeface="Courier New" pitchFamily="34" charset="-122"/>
                <a:cs typeface="Courier New" pitchFamily="34" charset="-120"/>
              </a:rPr>
              <a:t>II     sgd      exon   1000    2000    .   -   .   Parent=transcript:YBL001C_mRNA</a:t>
            </a:r>
            <a:endParaRPr lang="en-US" sz="1000" dirty="0"/>
          </a:p>
        </p:txBody>
      </p:sp>
      <p:sp>
        <p:nvSpPr>
          <p:cNvPr id="12" name="Shape 10"/>
          <p:cNvSpPr/>
          <p:nvPr/>
        </p:nvSpPr>
        <p:spPr>
          <a:xfrm>
            <a:off x="615391" y="3931920"/>
            <a:ext cx="1133856"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13" name="Text 11"/>
          <p:cNvSpPr txBox="1"/>
          <p:nvPr/>
        </p:nvSpPr>
        <p:spPr>
          <a:xfrm>
            <a:off x="615391"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$1</a:t>
            </a:r>
            <a:endParaRPr lang="en-US" sz="1200" dirty="0"/>
          </a:p>
        </p:txBody>
      </p:sp>
      <p:sp>
        <p:nvSpPr>
          <p:cNvPr id="14" name="Text 12"/>
          <p:cNvSpPr txBox="1"/>
          <p:nvPr/>
        </p:nvSpPr>
        <p:spPr>
          <a:xfrm>
            <a:off x="615391"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seqid</a:t>
            </a:r>
            <a:endParaRPr lang="en-US" sz="950" dirty="0"/>
          </a:p>
        </p:txBody>
      </p:sp>
      <p:sp>
        <p:nvSpPr>
          <p:cNvPr id="15" name="Shape 13"/>
          <p:cNvSpPr/>
          <p:nvPr/>
        </p:nvSpPr>
        <p:spPr>
          <a:xfrm>
            <a:off x="1836115" y="3931920"/>
            <a:ext cx="1133856"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16" name="Text 14"/>
          <p:cNvSpPr txBox="1"/>
          <p:nvPr/>
        </p:nvSpPr>
        <p:spPr>
          <a:xfrm>
            <a:off x="1836115"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$2</a:t>
            </a:r>
            <a:endParaRPr lang="en-US" sz="1200" dirty="0"/>
          </a:p>
        </p:txBody>
      </p:sp>
      <p:sp>
        <p:nvSpPr>
          <p:cNvPr id="17" name="Text 15"/>
          <p:cNvSpPr txBox="1"/>
          <p:nvPr/>
        </p:nvSpPr>
        <p:spPr>
          <a:xfrm>
            <a:off x="1836115"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source</a:t>
            </a:r>
            <a:endParaRPr lang="en-US" sz="950" dirty="0"/>
          </a:p>
        </p:txBody>
      </p:sp>
      <p:sp>
        <p:nvSpPr>
          <p:cNvPr id="18" name="Shape 16"/>
          <p:cNvSpPr/>
          <p:nvPr/>
        </p:nvSpPr>
        <p:spPr>
          <a:xfrm>
            <a:off x="3056839" y="3931920"/>
            <a:ext cx="1133856" cy="566928"/>
          </a:xfrm>
          <a:prstGeom prst="roundRect">
            <a:avLst>
              <a:gd name="adj" fmla="val 9677"/>
            </a:avLst>
          </a:prstGeom>
          <a:solidFill>
            <a:srgbClr val="EEF4FA"/>
          </a:solidFill>
          <a:ln w="12700">
            <a:solidFill>
              <a:srgbClr val="EEF4FA"/>
            </a:solidFill>
            <a:prstDash val="solid"/>
          </a:ln>
        </p:spPr>
        <p:txBody>
          <a:bodyPr/>
          <a:lstStyle/>
          <a:p>
            <a:endParaRPr lang="en-US"/>
          </a:p>
        </p:txBody>
      </p:sp>
      <p:sp>
        <p:nvSpPr>
          <p:cNvPr id="19" name="Text 17"/>
          <p:cNvSpPr txBox="1"/>
          <p:nvPr/>
        </p:nvSpPr>
        <p:spPr>
          <a:xfrm>
            <a:off x="3056839"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$3</a:t>
            </a:r>
            <a:endParaRPr lang="en-US" sz="1200" dirty="0"/>
          </a:p>
        </p:txBody>
      </p:sp>
      <p:sp>
        <p:nvSpPr>
          <p:cNvPr id="20" name="Text 18"/>
          <p:cNvSpPr txBox="1"/>
          <p:nvPr/>
        </p:nvSpPr>
        <p:spPr>
          <a:xfrm>
            <a:off x="3056839"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type</a:t>
            </a:r>
            <a:endParaRPr lang="en-US" sz="950" dirty="0"/>
          </a:p>
        </p:txBody>
      </p:sp>
      <p:sp>
        <p:nvSpPr>
          <p:cNvPr id="21" name="Shape 19"/>
          <p:cNvSpPr/>
          <p:nvPr/>
        </p:nvSpPr>
        <p:spPr>
          <a:xfrm>
            <a:off x="4277563" y="3931920"/>
            <a:ext cx="1133856" cy="566928"/>
          </a:xfrm>
          <a:prstGeom prst="roundRect">
            <a:avLst>
              <a:gd name="adj" fmla="val 9677"/>
            </a:avLst>
          </a:prstGeom>
          <a:solidFill>
            <a:srgbClr val="EEF4FA"/>
          </a:solidFill>
          <a:ln w="12700">
            <a:solidFill>
              <a:srgbClr val="EEF4FA"/>
            </a:solidFill>
            <a:prstDash val="solid"/>
          </a:ln>
        </p:spPr>
        <p:txBody>
          <a:bodyPr/>
          <a:lstStyle/>
          <a:p>
            <a:endParaRPr lang="en-US"/>
          </a:p>
        </p:txBody>
      </p:sp>
      <p:sp>
        <p:nvSpPr>
          <p:cNvPr id="22" name="Text 20"/>
          <p:cNvSpPr txBox="1"/>
          <p:nvPr/>
        </p:nvSpPr>
        <p:spPr>
          <a:xfrm>
            <a:off x="4277563"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$4</a:t>
            </a:r>
            <a:endParaRPr lang="en-US" sz="1200" dirty="0"/>
          </a:p>
        </p:txBody>
      </p:sp>
      <p:sp>
        <p:nvSpPr>
          <p:cNvPr id="23" name="Text 21"/>
          <p:cNvSpPr txBox="1"/>
          <p:nvPr/>
        </p:nvSpPr>
        <p:spPr>
          <a:xfrm>
            <a:off x="4277563"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start</a:t>
            </a:r>
            <a:endParaRPr lang="en-US" sz="950" dirty="0"/>
          </a:p>
        </p:txBody>
      </p:sp>
      <p:sp>
        <p:nvSpPr>
          <p:cNvPr id="24" name="Shape 22"/>
          <p:cNvSpPr/>
          <p:nvPr/>
        </p:nvSpPr>
        <p:spPr>
          <a:xfrm>
            <a:off x="5498287" y="3931920"/>
            <a:ext cx="1133856" cy="566928"/>
          </a:xfrm>
          <a:prstGeom prst="roundRect">
            <a:avLst>
              <a:gd name="adj" fmla="val 9677"/>
            </a:avLst>
          </a:prstGeom>
          <a:solidFill>
            <a:srgbClr val="EEF4FA"/>
          </a:solidFill>
          <a:ln w="12700">
            <a:solidFill>
              <a:srgbClr val="EEF4FA"/>
            </a:solidFill>
            <a:prstDash val="solid"/>
          </a:ln>
        </p:spPr>
        <p:txBody>
          <a:bodyPr/>
          <a:lstStyle/>
          <a:p>
            <a:endParaRPr lang="en-US"/>
          </a:p>
        </p:txBody>
      </p:sp>
      <p:sp>
        <p:nvSpPr>
          <p:cNvPr id="25" name="Text 23"/>
          <p:cNvSpPr txBox="1"/>
          <p:nvPr/>
        </p:nvSpPr>
        <p:spPr>
          <a:xfrm>
            <a:off x="5498287"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$5</a:t>
            </a:r>
            <a:endParaRPr lang="en-US" sz="1200" dirty="0"/>
          </a:p>
        </p:txBody>
      </p:sp>
      <p:sp>
        <p:nvSpPr>
          <p:cNvPr id="26" name="Text 24"/>
          <p:cNvSpPr txBox="1"/>
          <p:nvPr/>
        </p:nvSpPr>
        <p:spPr>
          <a:xfrm>
            <a:off x="5498287"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end</a:t>
            </a:r>
            <a:endParaRPr lang="en-US" sz="950" dirty="0"/>
          </a:p>
        </p:txBody>
      </p:sp>
      <p:sp>
        <p:nvSpPr>
          <p:cNvPr id="27" name="Shape 25"/>
          <p:cNvSpPr/>
          <p:nvPr/>
        </p:nvSpPr>
        <p:spPr>
          <a:xfrm>
            <a:off x="6719011" y="3931920"/>
            <a:ext cx="1133856"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28" name="Text 26"/>
          <p:cNvSpPr txBox="1"/>
          <p:nvPr/>
        </p:nvSpPr>
        <p:spPr>
          <a:xfrm>
            <a:off x="6719011"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$6</a:t>
            </a:r>
            <a:endParaRPr lang="en-US" sz="1200" dirty="0"/>
          </a:p>
        </p:txBody>
      </p:sp>
      <p:sp>
        <p:nvSpPr>
          <p:cNvPr id="29" name="Text 27"/>
          <p:cNvSpPr txBox="1"/>
          <p:nvPr/>
        </p:nvSpPr>
        <p:spPr>
          <a:xfrm>
            <a:off x="6719011"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score</a:t>
            </a:r>
            <a:endParaRPr lang="en-US" sz="950" dirty="0"/>
          </a:p>
        </p:txBody>
      </p:sp>
      <p:sp>
        <p:nvSpPr>
          <p:cNvPr id="30" name="Shape 28"/>
          <p:cNvSpPr/>
          <p:nvPr/>
        </p:nvSpPr>
        <p:spPr>
          <a:xfrm>
            <a:off x="7939735" y="3931920"/>
            <a:ext cx="1133856"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31" name="Text 29"/>
          <p:cNvSpPr txBox="1"/>
          <p:nvPr/>
        </p:nvSpPr>
        <p:spPr>
          <a:xfrm>
            <a:off x="7939735"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$7</a:t>
            </a:r>
            <a:endParaRPr lang="en-US" sz="1200" dirty="0"/>
          </a:p>
        </p:txBody>
      </p:sp>
      <p:sp>
        <p:nvSpPr>
          <p:cNvPr id="32" name="Text 30"/>
          <p:cNvSpPr txBox="1"/>
          <p:nvPr/>
        </p:nvSpPr>
        <p:spPr>
          <a:xfrm>
            <a:off x="7939735"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strand</a:t>
            </a:r>
            <a:endParaRPr lang="en-US" sz="950" dirty="0"/>
          </a:p>
        </p:txBody>
      </p:sp>
      <p:sp>
        <p:nvSpPr>
          <p:cNvPr id="33" name="Shape 31"/>
          <p:cNvSpPr/>
          <p:nvPr/>
        </p:nvSpPr>
        <p:spPr>
          <a:xfrm>
            <a:off x="9160459" y="3931920"/>
            <a:ext cx="1133856"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34" name="Text 32"/>
          <p:cNvSpPr txBox="1"/>
          <p:nvPr/>
        </p:nvSpPr>
        <p:spPr>
          <a:xfrm>
            <a:off x="9160459"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$8</a:t>
            </a:r>
            <a:endParaRPr lang="en-US" sz="1200" dirty="0"/>
          </a:p>
        </p:txBody>
      </p:sp>
      <p:sp>
        <p:nvSpPr>
          <p:cNvPr id="35" name="Text 33"/>
          <p:cNvSpPr txBox="1"/>
          <p:nvPr/>
        </p:nvSpPr>
        <p:spPr>
          <a:xfrm>
            <a:off x="9160459"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phase</a:t>
            </a:r>
            <a:endParaRPr lang="en-US" sz="950" dirty="0"/>
          </a:p>
        </p:txBody>
      </p:sp>
      <p:sp>
        <p:nvSpPr>
          <p:cNvPr id="36" name="Shape 34"/>
          <p:cNvSpPr/>
          <p:nvPr/>
        </p:nvSpPr>
        <p:spPr>
          <a:xfrm>
            <a:off x="10381183" y="3931920"/>
            <a:ext cx="1133856"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37" name="Text 35"/>
          <p:cNvSpPr txBox="1"/>
          <p:nvPr/>
        </p:nvSpPr>
        <p:spPr>
          <a:xfrm>
            <a:off x="10381183" y="4023360"/>
            <a:ext cx="1133856" cy="237744"/>
          </a:xfrm>
          <a:prstGeom prst="rect">
            <a:avLst/>
          </a:prstGeom>
          <a:noFill/>
          <a:ln/>
        </p:spPr>
        <p:txBody>
          <a:bodyPr wrap="square" lIns="0" tIns="0" rIns="0" bIns="0" rtlCol="0" anchor="ctr"/>
          <a:lstStyle/>
          <a:p>
            <a:pPr marL="0" indent="0" algn="ctr">
              <a:buNone/>
            </a:pPr>
            <a:r>
              <a:rPr lang="en-US" sz="1200" b="1" dirty="0">
                <a:solidFill>
                  <a:srgbClr val="205081"/>
                </a:solidFill>
                <a:latin typeface="Courier New" pitchFamily="34" charset="0"/>
                <a:ea typeface="Courier New" pitchFamily="34" charset="-122"/>
                <a:cs typeface="Courier New" pitchFamily="34" charset="-120"/>
              </a:rPr>
              <a:t>$9</a:t>
            </a:r>
            <a:endParaRPr lang="en-US" sz="1200" dirty="0"/>
          </a:p>
        </p:txBody>
      </p:sp>
      <p:sp>
        <p:nvSpPr>
          <p:cNvPr id="38" name="Text 36"/>
          <p:cNvSpPr txBox="1"/>
          <p:nvPr/>
        </p:nvSpPr>
        <p:spPr>
          <a:xfrm>
            <a:off x="10381183" y="4242816"/>
            <a:ext cx="1133856" cy="219456"/>
          </a:xfrm>
          <a:prstGeom prst="rect">
            <a:avLst/>
          </a:prstGeom>
          <a:noFill/>
          <a:ln/>
        </p:spPr>
        <p:txBody>
          <a:bodyPr wrap="square" lIns="0" tIns="0" rIns="0" bIns="0" rtlCol="0" anchor="ctr"/>
          <a:lstStyle/>
          <a:p>
            <a:pPr marL="0" indent="0" algn="ctr">
              <a:buNone/>
            </a:pPr>
            <a:r>
              <a:rPr lang="en-US" sz="950" dirty="0">
                <a:solidFill>
                  <a:srgbClr val="6B7280"/>
                </a:solidFill>
                <a:latin typeface="Arial" pitchFamily="34" charset="0"/>
                <a:ea typeface="Arial" pitchFamily="34" charset="-122"/>
                <a:cs typeface="Arial" pitchFamily="34" charset="-120"/>
              </a:rPr>
              <a:t>attributes</a:t>
            </a:r>
            <a:endParaRPr lang="en-US" sz="950" dirty="0"/>
          </a:p>
        </p:txBody>
      </p:sp>
      <p:sp>
        <p:nvSpPr>
          <p:cNvPr id="39" name="Shape 37"/>
          <p:cNvSpPr/>
          <p:nvPr/>
        </p:nvSpPr>
        <p:spPr>
          <a:xfrm>
            <a:off x="615391" y="4828032"/>
            <a:ext cx="10963656" cy="713232"/>
          </a:xfrm>
          <a:prstGeom prst="roundRect">
            <a:avLst>
              <a:gd name="adj" fmla="val 7692"/>
            </a:avLst>
          </a:prstGeom>
          <a:solidFill>
            <a:srgbClr val="FFF8E6"/>
          </a:solidFill>
          <a:ln w="15875">
            <a:solidFill>
              <a:srgbClr val="FFC82C"/>
            </a:solidFill>
            <a:prstDash val="solid"/>
          </a:ln>
        </p:spPr>
        <p:txBody>
          <a:bodyPr/>
          <a:lstStyle/>
          <a:p>
            <a:endParaRPr lang="en-US"/>
          </a:p>
        </p:txBody>
      </p:sp>
      <p:sp>
        <p:nvSpPr>
          <p:cNvPr id="40" name="Text 38"/>
          <p:cNvSpPr txBox="1"/>
          <p:nvPr/>
        </p:nvSpPr>
        <p:spPr>
          <a:xfrm>
            <a:off x="999439" y="4974336"/>
            <a:ext cx="10195560" cy="438912"/>
          </a:xfrm>
          <a:prstGeom prst="rect">
            <a:avLst/>
          </a:prstGeom>
          <a:noFill/>
          <a:ln/>
        </p:spPr>
        <p:txBody>
          <a:bodyPr wrap="square" lIns="0" tIns="0" rIns="0" bIns="0" rtlCol="0" anchor="ctr"/>
          <a:lstStyle/>
          <a:p>
            <a:pPr marL="0" indent="0">
              <a:lnSpc>
                <a:spcPts val="1600"/>
              </a:lnSpc>
              <a:buNone/>
            </a:pPr>
            <a:r>
              <a:rPr lang="en-US" sz="1200" dirty="0">
                <a:solidFill>
                  <a:srgbClr val="1F2933"/>
                </a:solidFill>
                <a:latin typeface="Arial" pitchFamily="34" charset="0"/>
                <a:ea typeface="Arial" pitchFamily="34" charset="-122"/>
                <a:cs typeface="Arial" pitchFamily="34" charset="-120"/>
              </a:rPr>
              <a:t>GFF3 coordinates are 1-based and inclusive, so a feature's length is  $5 − $4 + 1.  BED is 0-based and half-open, where length is  $3 − $2.  Mixing them up is a silent, extremely common off-by-one error.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grep: give me the lines that match</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5943600" cy="658368"/>
          </a:xfrm>
          <a:prstGeom prst="roundRect">
            <a:avLst>
              <a:gd name="adj" fmla="val 8333"/>
            </a:avLst>
          </a:prstGeom>
          <a:solidFill>
            <a:srgbClr val="1F2933"/>
          </a:solidFill>
          <a:ln w="12700">
            <a:solidFill>
              <a:srgbClr val="1F2933"/>
            </a:solidFill>
            <a:prstDash val="solid"/>
          </a:ln>
        </p:spPr>
        <p:txBody>
          <a:bodyPr/>
          <a:lstStyle/>
          <a:p>
            <a:endParaRPr lang="en-US"/>
          </a:p>
        </p:txBody>
      </p:sp>
      <p:sp>
        <p:nvSpPr>
          <p:cNvPr id="5" name="Text 3"/>
          <p:cNvSpPr txBox="1"/>
          <p:nvPr/>
        </p:nvSpPr>
        <p:spPr>
          <a:xfrm>
            <a:off x="853135" y="1645920"/>
            <a:ext cx="5486400" cy="256032"/>
          </a:xfrm>
          <a:prstGeom prst="rect">
            <a:avLst/>
          </a:prstGeom>
          <a:noFill/>
          <a:ln/>
        </p:spPr>
        <p:txBody>
          <a:bodyPr wrap="square" lIns="0" tIns="0" rIns="0" bIns="0" rtlCol="0" anchor="ctr"/>
          <a:lstStyle/>
          <a:p>
            <a:pPr marL="0" indent="0">
              <a:buNone/>
            </a:pPr>
            <a:r>
              <a:rPr lang="en-US" sz="1500" dirty="0">
                <a:solidFill>
                  <a:srgbClr val="E8EDF2"/>
                </a:solidFill>
                <a:latin typeface="Courier New" pitchFamily="34" charset="0"/>
                <a:ea typeface="Courier New" pitchFamily="34" charset="-122"/>
                <a:cs typeface="Courier New" pitchFamily="34" charset="-120"/>
              </a:rPr>
              <a:t>grep [options] PATTERN file</a:t>
            </a:r>
            <a:endParaRPr lang="en-US" sz="1500" dirty="0"/>
          </a:p>
        </p:txBody>
      </p:sp>
      <p:sp>
        <p:nvSpPr>
          <p:cNvPr id="6" name="Shape 4"/>
          <p:cNvSpPr/>
          <p:nvPr/>
        </p:nvSpPr>
        <p:spPr>
          <a:xfrm>
            <a:off x="615391" y="2350008"/>
            <a:ext cx="5943600" cy="420624"/>
          </a:xfrm>
          <a:prstGeom prst="roundRect">
            <a:avLst>
              <a:gd name="adj" fmla="val 13043"/>
            </a:avLst>
          </a:prstGeom>
          <a:solidFill>
            <a:srgbClr val="FAFBFC"/>
          </a:solidFill>
          <a:ln w="12700">
            <a:solidFill>
              <a:srgbClr val="FAFBFC"/>
            </a:solidFill>
            <a:prstDash val="solid"/>
          </a:ln>
        </p:spPr>
        <p:txBody>
          <a:bodyPr/>
          <a:lstStyle/>
          <a:p>
            <a:endParaRPr lang="en-US"/>
          </a:p>
        </p:txBody>
      </p:sp>
      <p:sp>
        <p:nvSpPr>
          <p:cNvPr id="7" name="Text 5"/>
          <p:cNvSpPr txBox="1"/>
          <p:nvPr/>
        </p:nvSpPr>
        <p:spPr>
          <a:xfrm>
            <a:off x="871423" y="2432304"/>
            <a:ext cx="548640" cy="256032"/>
          </a:xfrm>
          <a:prstGeom prst="rect">
            <a:avLst/>
          </a:prstGeom>
          <a:noFill/>
          <a:ln/>
        </p:spPr>
        <p:txBody>
          <a:bodyPr wrap="square" lIns="0" tIns="0" rIns="0" bIns="0" rtlCol="0" anchor="ctr"/>
          <a:lstStyle/>
          <a:p>
            <a:pPr marL="0" indent="0">
              <a:buNone/>
            </a:pPr>
            <a:r>
              <a:rPr lang="en-US" sz="1250" b="1" dirty="0">
                <a:solidFill>
                  <a:srgbClr val="205081"/>
                </a:solidFill>
                <a:latin typeface="Courier New" pitchFamily="34" charset="0"/>
                <a:ea typeface="Courier New" pitchFamily="34" charset="-122"/>
                <a:cs typeface="Courier New" pitchFamily="34" charset="-120"/>
              </a:rPr>
              <a:t>-c</a:t>
            </a:r>
            <a:endParaRPr lang="en-US" sz="1250" dirty="0"/>
          </a:p>
        </p:txBody>
      </p:sp>
      <p:sp>
        <p:nvSpPr>
          <p:cNvPr id="8" name="Text 6"/>
          <p:cNvSpPr txBox="1"/>
          <p:nvPr/>
        </p:nvSpPr>
        <p:spPr>
          <a:xfrm>
            <a:off x="1529791" y="2441448"/>
            <a:ext cx="4846320" cy="256032"/>
          </a:xfrm>
          <a:prstGeom prst="rect">
            <a:avLst/>
          </a:prstGeom>
          <a:noFill/>
          <a:ln/>
        </p:spPr>
        <p:txBody>
          <a:bodyPr wrap="square" lIns="0" tIns="0" rIns="0" bIns="0" rtlCol="0" anchor="ctr"/>
          <a:lstStyle/>
          <a:p>
            <a:pPr marL="0" indent="0">
              <a:buNone/>
            </a:pPr>
            <a:r>
              <a:rPr lang="en-US" sz="1150" dirty="0">
                <a:solidFill>
                  <a:srgbClr val="1F2933"/>
                </a:solidFill>
                <a:latin typeface="Arial" pitchFamily="34" charset="0"/>
                <a:ea typeface="Arial" pitchFamily="34" charset="-122"/>
                <a:cs typeface="Arial" pitchFamily="34" charset="-120"/>
              </a:rPr>
              <a:t>count matching lines instead of printing them</a:t>
            </a:r>
            <a:endParaRPr lang="en-US" sz="1150" dirty="0"/>
          </a:p>
        </p:txBody>
      </p:sp>
      <p:sp>
        <p:nvSpPr>
          <p:cNvPr id="9" name="Shape 7"/>
          <p:cNvSpPr/>
          <p:nvPr/>
        </p:nvSpPr>
        <p:spPr>
          <a:xfrm>
            <a:off x="615391" y="2852928"/>
            <a:ext cx="5943600" cy="420624"/>
          </a:xfrm>
          <a:prstGeom prst="roundRect">
            <a:avLst>
              <a:gd name="adj" fmla="val 13043"/>
            </a:avLst>
          </a:prstGeom>
          <a:solidFill>
            <a:srgbClr val="FFFFFF"/>
          </a:solidFill>
          <a:ln w="12700">
            <a:solidFill>
              <a:srgbClr val="FFFFFF"/>
            </a:solidFill>
            <a:prstDash val="solid"/>
          </a:ln>
        </p:spPr>
        <p:txBody>
          <a:bodyPr/>
          <a:lstStyle/>
          <a:p>
            <a:endParaRPr lang="en-US"/>
          </a:p>
        </p:txBody>
      </p:sp>
      <p:sp>
        <p:nvSpPr>
          <p:cNvPr id="10" name="Text 8"/>
          <p:cNvSpPr txBox="1"/>
          <p:nvPr/>
        </p:nvSpPr>
        <p:spPr>
          <a:xfrm>
            <a:off x="871423" y="2935224"/>
            <a:ext cx="548640" cy="256032"/>
          </a:xfrm>
          <a:prstGeom prst="rect">
            <a:avLst/>
          </a:prstGeom>
          <a:noFill/>
          <a:ln/>
        </p:spPr>
        <p:txBody>
          <a:bodyPr wrap="square" lIns="0" tIns="0" rIns="0" bIns="0" rtlCol="0" anchor="ctr"/>
          <a:lstStyle/>
          <a:p>
            <a:pPr marL="0" indent="0">
              <a:buNone/>
            </a:pPr>
            <a:r>
              <a:rPr lang="en-US" sz="1250" b="1" dirty="0">
                <a:solidFill>
                  <a:srgbClr val="205081"/>
                </a:solidFill>
                <a:latin typeface="Courier New" pitchFamily="34" charset="0"/>
                <a:ea typeface="Courier New" pitchFamily="34" charset="-122"/>
                <a:cs typeface="Courier New" pitchFamily="34" charset="-120"/>
              </a:rPr>
              <a:t>-v</a:t>
            </a:r>
            <a:endParaRPr lang="en-US" sz="1250" dirty="0"/>
          </a:p>
        </p:txBody>
      </p:sp>
      <p:sp>
        <p:nvSpPr>
          <p:cNvPr id="11" name="Text 9"/>
          <p:cNvSpPr txBox="1"/>
          <p:nvPr/>
        </p:nvSpPr>
        <p:spPr>
          <a:xfrm>
            <a:off x="1529791" y="2944368"/>
            <a:ext cx="4846320" cy="256032"/>
          </a:xfrm>
          <a:prstGeom prst="rect">
            <a:avLst/>
          </a:prstGeom>
          <a:noFill/>
          <a:ln/>
        </p:spPr>
        <p:txBody>
          <a:bodyPr wrap="square" lIns="0" tIns="0" rIns="0" bIns="0" rtlCol="0" anchor="ctr"/>
          <a:lstStyle/>
          <a:p>
            <a:pPr marL="0" indent="0">
              <a:buNone/>
            </a:pPr>
            <a:r>
              <a:rPr lang="en-US" sz="1150" dirty="0">
                <a:solidFill>
                  <a:srgbClr val="1F2933"/>
                </a:solidFill>
                <a:latin typeface="Arial" pitchFamily="34" charset="0"/>
                <a:ea typeface="Arial" pitchFamily="34" charset="-122"/>
                <a:cs typeface="Arial" pitchFamily="34" charset="-120"/>
              </a:rPr>
              <a:t>invert: give me the lines that do NOT match</a:t>
            </a:r>
            <a:endParaRPr lang="en-US" sz="1150" dirty="0"/>
          </a:p>
        </p:txBody>
      </p:sp>
      <p:sp>
        <p:nvSpPr>
          <p:cNvPr id="12" name="Shape 10"/>
          <p:cNvSpPr/>
          <p:nvPr/>
        </p:nvSpPr>
        <p:spPr>
          <a:xfrm>
            <a:off x="615391" y="3355848"/>
            <a:ext cx="5943600" cy="420624"/>
          </a:xfrm>
          <a:prstGeom prst="roundRect">
            <a:avLst>
              <a:gd name="adj" fmla="val 13043"/>
            </a:avLst>
          </a:prstGeom>
          <a:solidFill>
            <a:srgbClr val="FAFBFC"/>
          </a:solidFill>
          <a:ln w="12700">
            <a:solidFill>
              <a:srgbClr val="FAFBFC"/>
            </a:solidFill>
            <a:prstDash val="solid"/>
          </a:ln>
        </p:spPr>
        <p:txBody>
          <a:bodyPr/>
          <a:lstStyle/>
          <a:p>
            <a:endParaRPr lang="en-US"/>
          </a:p>
        </p:txBody>
      </p:sp>
      <p:sp>
        <p:nvSpPr>
          <p:cNvPr id="13" name="Text 11"/>
          <p:cNvSpPr txBox="1"/>
          <p:nvPr/>
        </p:nvSpPr>
        <p:spPr>
          <a:xfrm>
            <a:off x="871423" y="3438144"/>
            <a:ext cx="548640" cy="256032"/>
          </a:xfrm>
          <a:prstGeom prst="rect">
            <a:avLst/>
          </a:prstGeom>
          <a:noFill/>
          <a:ln/>
        </p:spPr>
        <p:txBody>
          <a:bodyPr wrap="square" lIns="0" tIns="0" rIns="0" bIns="0" rtlCol="0" anchor="ctr"/>
          <a:lstStyle/>
          <a:p>
            <a:pPr marL="0" indent="0">
              <a:buNone/>
            </a:pPr>
            <a:r>
              <a:rPr lang="en-US" sz="1250" b="1" dirty="0">
                <a:solidFill>
                  <a:srgbClr val="205081"/>
                </a:solidFill>
                <a:latin typeface="Courier New" pitchFamily="34" charset="0"/>
                <a:ea typeface="Courier New" pitchFamily="34" charset="-122"/>
                <a:cs typeface="Courier New" pitchFamily="34" charset="-120"/>
              </a:rPr>
              <a:t>-i</a:t>
            </a:r>
            <a:endParaRPr lang="en-US" sz="1250" dirty="0"/>
          </a:p>
        </p:txBody>
      </p:sp>
      <p:sp>
        <p:nvSpPr>
          <p:cNvPr id="14" name="Text 12"/>
          <p:cNvSpPr txBox="1"/>
          <p:nvPr/>
        </p:nvSpPr>
        <p:spPr>
          <a:xfrm>
            <a:off x="1529791" y="3447288"/>
            <a:ext cx="4846320" cy="256032"/>
          </a:xfrm>
          <a:prstGeom prst="rect">
            <a:avLst/>
          </a:prstGeom>
          <a:noFill/>
          <a:ln/>
        </p:spPr>
        <p:txBody>
          <a:bodyPr wrap="square" lIns="0" tIns="0" rIns="0" bIns="0" rtlCol="0" anchor="ctr"/>
          <a:lstStyle/>
          <a:p>
            <a:pPr marL="0" indent="0">
              <a:buNone/>
            </a:pPr>
            <a:r>
              <a:rPr lang="en-US" sz="1150" dirty="0">
                <a:solidFill>
                  <a:srgbClr val="1F2933"/>
                </a:solidFill>
                <a:latin typeface="Arial" pitchFamily="34" charset="0"/>
                <a:ea typeface="Arial" pitchFamily="34" charset="-122"/>
                <a:cs typeface="Arial" pitchFamily="34" charset="-120"/>
              </a:rPr>
              <a:t>ignore case</a:t>
            </a:r>
            <a:endParaRPr lang="en-US" sz="1150" dirty="0"/>
          </a:p>
        </p:txBody>
      </p:sp>
      <p:sp>
        <p:nvSpPr>
          <p:cNvPr id="15" name="Shape 13"/>
          <p:cNvSpPr/>
          <p:nvPr/>
        </p:nvSpPr>
        <p:spPr>
          <a:xfrm>
            <a:off x="615391" y="3858768"/>
            <a:ext cx="5943600" cy="420624"/>
          </a:xfrm>
          <a:prstGeom prst="roundRect">
            <a:avLst>
              <a:gd name="adj" fmla="val 13043"/>
            </a:avLst>
          </a:prstGeom>
          <a:solidFill>
            <a:srgbClr val="FFFFFF"/>
          </a:solidFill>
          <a:ln w="12700">
            <a:solidFill>
              <a:srgbClr val="FFFFFF"/>
            </a:solidFill>
            <a:prstDash val="solid"/>
          </a:ln>
        </p:spPr>
        <p:txBody>
          <a:bodyPr/>
          <a:lstStyle/>
          <a:p>
            <a:endParaRPr lang="en-US"/>
          </a:p>
        </p:txBody>
      </p:sp>
      <p:sp>
        <p:nvSpPr>
          <p:cNvPr id="16" name="Text 14"/>
          <p:cNvSpPr txBox="1"/>
          <p:nvPr/>
        </p:nvSpPr>
        <p:spPr>
          <a:xfrm>
            <a:off x="871423" y="3941064"/>
            <a:ext cx="548640" cy="256032"/>
          </a:xfrm>
          <a:prstGeom prst="rect">
            <a:avLst/>
          </a:prstGeom>
          <a:noFill/>
          <a:ln/>
        </p:spPr>
        <p:txBody>
          <a:bodyPr wrap="square" lIns="0" tIns="0" rIns="0" bIns="0" rtlCol="0" anchor="ctr"/>
          <a:lstStyle/>
          <a:p>
            <a:pPr marL="0" indent="0">
              <a:buNone/>
            </a:pPr>
            <a:r>
              <a:rPr lang="en-US" sz="1250" b="1" dirty="0">
                <a:solidFill>
                  <a:srgbClr val="205081"/>
                </a:solidFill>
                <a:latin typeface="Courier New" pitchFamily="34" charset="0"/>
                <a:ea typeface="Courier New" pitchFamily="34" charset="-122"/>
                <a:cs typeface="Courier New" pitchFamily="34" charset="-120"/>
              </a:rPr>
              <a:t>-n</a:t>
            </a:r>
            <a:endParaRPr lang="en-US" sz="1250" dirty="0"/>
          </a:p>
        </p:txBody>
      </p:sp>
      <p:sp>
        <p:nvSpPr>
          <p:cNvPr id="17" name="Text 15"/>
          <p:cNvSpPr txBox="1"/>
          <p:nvPr/>
        </p:nvSpPr>
        <p:spPr>
          <a:xfrm>
            <a:off x="1529791" y="3950208"/>
            <a:ext cx="4846320" cy="256032"/>
          </a:xfrm>
          <a:prstGeom prst="rect">
            <a:avLst/>
          </a:prstGeom>
          <a:noFill/>
          <a:ln/>
        </p:spPr>
        <p:txBody>
          <a:bodyPr wrap="square" lIns="0" tIns="0" rIns="0" bIns="0" rtlCol="0" anchor="ctr"/>
          <a:lstStyle/>
          <a:p>
            <a:pPr marL="0" indent="0">
              <a:buNone/>
            </a:pPr>
            <a:r>
              <a:rPr lang="en-US" sz="1150" dirty="0">
                <a:solidFill>
                  <a:srgbClr val="1F2933"/>
                </a:solidFill>
                <a:latin typeface="Arial" pitchFamily="34" charset="0"/>
                <a:ea typeface="Arial" pitchFamily="34" charset="-122"/>
                <a:cs typeface="Arial" pitchFamily="34" charset="-120"/>
              </a:rPr>
              <a:t>show line numbers</a:t>
            </a:r>
            <a:endParaRPr lang="en-US" sz="1150" dirty="0"/>
          </a:p>
        </p:txBody>
      </p:sp>
      <p:sp>
        <p:nvSpPr>
          <p:cNvPr id="18" name="Shape 16"/>
          <p:cNvSpPr/>
          <p:nvPr/>
        </p:nvSpPr>
        <p:spPr>
          <a:xfrm>
            <a:off x="615391" y="4361688"/>
            <a:ext cx="5943600" cy="420624"/>
          </a:xfrm>
          <a:prstGeom prst="roundRect">
            <a:avLst>
              <a:gd name="adj" fmla="val 13043"/>
            </a:avLst>
          </a:prstGeom>
          <a:solidFill>
            <a:srgbClr val="FAFBFC"/>
          </a:solidFill>
          <a:ln w="12700">
            <a:solidFill>
              <a:srgbClr val="FAFBFC"/>
            </a:solidFill>
            <a:prstDash val="solid"/>
          </a:ln>
        </p:spPr>
        <p:txBody>
          <a:bodyPr/>
          <a:lstStyle/>
          <a:p>
            <a:endParaRPr lang="en-US"/>
          </a:p>
        </p:txBody>
      </p:sp>
      <p:sp>
        <p:nvSpPr>
          <p:cNvPr id="19" name="Text 17"/>
          <p:cNvSpPr txBox="1"/>
          <p:nvPr/>
        </p:nvSpPr>
        <p:spPr>
          <a:xfrm>
            <a:off x="871423" y="4443984"/>
            <a:ext cx="548640" cy="256032"/>
          </a:xfrm>
          <a:prstGeom prst="rect">
            <a:avLst/>
          </a:prstGeom>
          <a:noFill/>
          <a:ln/>
        </p:spPr>
        <p:txBody>
          <a:bodyPr wrap="square" lIns="0" tIns="0" rIns="0" bIns="0" rtlCol="0" anchor="ctr"/>
          <a:lstStyle/>
          <a:p>
            <a:pPr marL="0" indent="0">
              <a:buNone/>
            </a:pPr>
            <a:r>
              <a:rPr lang="en-US" sz="1250" b="1" dirty="0">
                <a:solidFill>
                  <a:srgbClr val="205081"/>
                </a:solidFill>
                <a:latin typeface="Courier New" pitchFamily="34" charset="0"/>
                <a:ea typeface="Courier New" pitchFamily="34" charset="-122"/>
                <a:cs typeface="Courier New" pitchFamily="34" charset="-120"/>
              </a:rPr>
              <a:t>-w</a:t>
            </a:r>
            <a:endParaRPr lang="en-US" sz="1250" dirty="0"/>
          </a:p>
        </p:txBody>
      </p:sp>
      <p:sp>
        <p:nvSpPr>
          <p:cNvPr id="20" name="Text 18"/>
          <p:cNvSpPr txBox="1"/>
          <p:nvPr/>
        </p:nvSpPr>
        <p:spPr>
          <a:xfrm>
            <a:off x="1529791" y="4453128"/>
            <a:ext cx="4846320" cy="256032"/>
          </a:xfrm>
          <a:prstGeom prst="rect">
            <a:avLst/>
          </a:prstGeom>
          <a:noFill/>
          <a:ln/>
        </p:spPr>
        <p:txBody>
          <a:bodyPr wrap="square" lIns="0" tIns="0" rIns="0" bIns="0" rtlCol="0" anchor="ctr"/>
          <a:lstStyle/>
          <a:p>
            <a:pPr marL="0" indent="0">
              <a:buNone/>
            </a:pPr>
            <a:r>
              <a:rPr lang="en-US" sz="1150" dirty="0">
                <a:solidFill>
                  <a:srgbClr val="1F2933"/>
                </a:solidFill>
                <a:latin typeface="Arial" pitchFamily="34" charset="0"/>
                <a:ea typeface="Arial" pitchFamily="34" charset="-122"/>
                <a:cs typeface="Arial" pitchFamily="34" charset="-120"/>
              </a:rPr>
              <a:t>match whole words only</a:t>
            </a:r>
            <a:endParaRPr lang="en-US" sz="1150" dirty="0"/>
          </a:p>
        </p:txBody>
      </p:sp>
      <p:sp>
        <p:nvSpPr>
          <p:cNvPr id="21" name="Shape 19"/>
          <p:cNvSpPr/>
          <p:nvPr/>
        </p:nvSpPr>
        <p:spPr>
          <a:xfrm>
            <a:off x="615391" y="4864608"/>
            <a:ext cx="5943600" cy="420624"/>
          </a:xfrm>
          <a:prstGeom prst="roundRect">
            <a:avLst>
              <a:gd name="adj" fmla="val 13043"/>
            </a:avLst>
          </a:prstGeom>
          <a:solidFill>
            <a:srgbClr val="FFFFFF"/>
          </a:solidFill>
          <a:ln w="12700">
            <a:solidFill>
              <a:srgbClr val="FFFFFF"/>
            </a:solidFill>
            <a:prstDash val="solid"/>
          </a:ln>
        </p:spPr>
        <p:txBody>
          <a:bodyPr/>
          <a:lstStyle/>
          <a:p>
            <a:endParaRPr lang="en-US"/>
          </a:p>
        </p:txBody>
      </p:sp>
      <p:sp>
        <p:nvSpPr>
          <p:cNvPr id="22" name="Text 20"/>
          <p:cNvSpPr txBox="1"/>
          <p:nvPr/>
        </p:nvSpPr>
        <p:spPr>
          <a:xfrm>
            <a:off x="871423" y="4946904"/>
            <a:ext cx="548640" cy="256032"/>
          </a:xfrm>
          <a:prstGeom prst="rect">
            <a:avLst/>
          </a:prstGeom>
          <a:noFill/>
          <a:ln/>
        </p:spPr>
        <p:txBody>
          <a:bodyPr wrap="square" lIns="0" tIns="0" rIns="0" bIns="0" rtlCol="0" anchor="ctr"/>
          <a:lstStyle/>
          <a:p>
            <a:pPr marL="0" indent="0">
              <a:buNone/>
            </a:pPr>
            <a:r>
              <a:rPr lang="en-US" sz="1250" b="1" dirty="0">
                <a:solidFill>
                  <a:srgbClr val="205081"/>
                </a:solidFill>
                <a:latin typeface="Courier New" pitchFamily="34" charset="0"/>
                <a:ea typeface="Courier New" pitchFamily="34" charset="-122"/>
                <a:cs typeface="Courier New" pitchFamily="34" charset="-120"/>
              </a:rPr>
              <a:t>-E</a:t>
            </a:r>
            <a:endParaRPr lang="en-US" sz="1250" dirty="0"/>
          </a:p>
        </p:txBody>
      </p:sp>
      <p:sp>
        <p:nvSpPr>
          <p:cNvPr id="23" name="Text 21"/>
          <p:cNvSpPr txBox="1"/>
          <p:nvPr/>
        </p:nvSpPr>
        <p:spPr>
          <a:xfrm>
            <a:off x="1529791" y="4956048"/>
            <a:ext cx="4846320" cy="256032"/>
          </a:xfrm>
          <a:prstGeom prst="rect">
            <a:avLst/>
          </a:prstGeom>
          <a:noFill/>
          <a:ln/>
        </p:spPr>
        <p:txBody>
          <a:bodyPr wrap="square" lIns="0" tIns="0" rIns="0" bIns="0" rtlCol="0" anchor="ctr"/>
          <a:lstStyle/>
          <a:p>
            <a:pPr marL="0" indent="0">
              <a:buNone/>
            </a:pPr>
            <a:r>
              <a:rPr lang="en-US" sz="1150" dirty="0">
                <a:solidFill>
                  <a:srgbClr val="1F2933"/>
                </a:solidFill>
                <a:latin typeface="Arial" pitchFamily="34" charset="0"/>
                <a:ea typeface="Arial" pitchFamily="34" charset="-122"/>
                <a:cs typeface="Arial" pitchFamily="34" charset="-120"/>
              </a:rPr>
              <a:t>extended regular expressions</a:t>
            </a:r>
            <a:endParaRPr lang="en-US" sz="1150" dirty="0"/>
          </a:p>
        </p:txBody>
      </p:sp>
      <p:sp>
        <p:nvSpPr>
          <p:cNvPr id="24" name="Shape 22"/>
          <p:cNvSpPr/>
          <p:nvPr/>
        </p:nvSpPr>
        <p:spPr>
          <a:xfrm>
            <a:off x="6720840" y="1481328"/>
            <a:ext cx="4855464" cy="3886200"/>
          </a:xfrm>
          <a:prstGeom prst="roundRect">
            <a:avLst>
              <a:gd name="adj" fmla="val 1412"/>
            </a:avLst>
          </a:prstGeom>
          <a:solidFill>
            <a:srgbClr val="EEF4FA"/>
          </a:solidFill>
          <a:ln w="12700">
            <a:solidFill>
              <a:srgbClr val="EEF4FA"/>
            </a:solidFill>
            <a:prstDash val="solid"/>
          </a:ln>
        </p:spPr>
        <p:txBody>
          <a:bodyPr/>
          <a:lstStyle/>
          <a:p>
            <a:endParaRPr lang="en-US"/>
          </a:p>
        </p:txBody>
      </p:sp>
      <p:sp>
        <p:nvSpPr>
          <p:cNvPr id="25" name="Text 23"/>
          <p:cNvSpPr txBox="1"/>
          <p:nvPr/>
        </p:nvSpPr>
        <p:spPr>
          <a:xfrm>
            <a:off x="7013448" y="1664208"/>
            <a:ext cx="4297680" cy="274320"/>
          </a:xfrm>
          <a:prstGeom prst="rect">
            <a:avLst/>
          </a:prstGeom>
          <a:noFill/>
          <a:ln/>
        </p:spPr>
        <p:txBody>
          <a:bodyPr wrap="square" lIns="0" tIns="0" rIns="0" bIns="0" rtlCol="0" anchor="ctr"/>
          <a:lstStyle/>
          <a:p>
            <a:pPr marL="0" indent="0">
              <a:buNone/>
            </a:pPr>
            <a:r>
              <a:rPr lang="en-US" sz="1350" b="1" dirty="0">
                <a:solidFill>
                  <a:srgbClr val="3172AE"/>
                </a:solidFill>
                <a:latin typeface="Arial" pitchFamily="34" charset="0"/>
                <a:ea typeface="Arial" pitchFamily="34" charset="-122"/>
                <a:cs typeface="Arial" pitchFamily="34" charset="-120"/>
              </a:rPr>
              <a:t>Two anchors worth learning today</a:t>
            </a:r>
            <a:endParaRPr lang="en-US" sz="1350" dirty="0"/>
          </a:p>
        </p:txBody>
      </p:sp>
      <p:sp>
        <p:nvSpPr>
          <p:cNvPr id="26" name="Text 24"/>
          <p:cNvSpPr txBox="1"/>
          <p:nvPr/>
        </p:nvSpPr>
        <p:spPr>
          <a:xfrm>
            <a:off x="7013448" y="2011680"/>
            <a:ext cx="4297680" cy="548640"/>
          </a:xfrm>
          <a:prstGeom prst="rect">
            <a:avLst/>
          </a:prstGeom>
          <a:noFill/>
          <a:ln/>
        </p:spPr>
        <p:txBody>
          <a:bodyPr wrap="square" lIns="0" tIns="0" rIns="0" bIns="0" rtlCol="0" anchor="ctr"/>
          <a:lstStyle/>
          <a:p>
            <a:pPr marL="0" indent="0">
              <a:lnSpc>
                <a:spcPts val="1900"/>
              </a:lnSpc>
              <a:buNone/>
            </a:pPr>
            <a:r>
              <a:rPr lang="en-US" sz="1250" dirty="0">
                <a:solidFill>
                  <a:srgbClr val="1F2933"/>
                </a:solidFill>
                <a:latin typeface="Courier New" pitchFamily="34" charset="0"/>
                <a:ea typeface="Courier New" pitchFamily="34" charset="-122"/>
                <a:cs typeface="Courier New" pitchFamily="34" charset="-120"/>
              </a:rPr>
              <a:t>^   start of the line</a:t>
            </a:r>
            <a:endParaRPr lang="en-US" sz="1250" dirty="0"/>
          </a:p>
          <a:p>
            <a:pPr marL="0" indent="0">
              <a:lnSpc>
                <a:spcPts val="1900"/>
              </a:lnSpc>
              <a:buNone/>
            </a:pPr>
            <a:r>
              <a:rPr lang="en-US" sz="1250" dirty="0">
                <a:solidFill>
                  <a:srgbClr val="1F2933"/>
                </a:solidFill>
                <a:latin typeface="Courier New" pitchFamily="34" charset="0"/>
                <a:ea typeface="Courier New" pitchFamily="34" charset="-122"/>
                <a:cs typeface="Courier New" pitchFamily="34" charset="-120"/>
              </a:rPr>
              <a:t>$   end of the line</a:t>
            </a:r>
            <a:endParaRPr lang="en-US" sz="1250" dirty="0"/>
          </a:p>
        </p:txBody>
      </p:sp>
      <p:sp>
        <p:nvSpPr>
          <p:cNvPr id="27" name="Text 25"/>
          <p:cNvSpPr txBox="1"/>
          <p:nvPr/>
        </p:nvSpPr>
        <p:spPr>
          <a:xfrm>
            <a:off x="7013448" y="2670048"/>
            <a:ext cx="4297680" cy="822960"/>
          </a:xfrm>
          <a:prstGeom prst="rect">
            <a:avLst/>
          </a:prstGeom>
          <a:noFill/>
          <a:ln/>
        </p:spPr>
        <p:txBody>
          <a:bodyPr wrap="square" lIns="0" tIns="0" rIns="0" bIns="0" rtlCol="0" anchor="ctr"/>
          <a:lstStyle/>
          <a:p>
            <a:pPr marL="0" indent="0">
              <a:lnSpc>
                <a:spcPts val="1600"/>
              </a:lnSpc>
              <a:buNone/>
            </a:pPr>
            <a:r>
              <a:rPr lang="en-US" sz="1150" dirty="0">
                <a:solidFill>
                  <a:srgbClr val="6B7280"/>
                </a:solidFill>
                <a:latin typeface="Arial" pitchFamily="34" charset="0"/>
                <a:ea typeface="Arial" pitchFamily="34" charset="-122"/>
                <a:cs typeface="Arial" pitchFamily="34" charset="-120"/>
              </a:rPr>
              <a:t>grep '^&gt;' finds FASTA headers, because a header is the only line that begins with a greater-than sign. grep '^#' finds comment lines. Nearly every useful grep in bioinformatics uses one of these.</a:t>
            </a:r>
            <a:endParaRPr lang="en-US" sz="1150" dirty="0"/>
          </a:p>
        </p:txBody>
      </p:sp>
      <p:sp>
        <p:nvSpPr>
          <p:cNvPr id="28" name="Shape 26"/>
          <p:cNvSpPr/>
          <p:nvPr/>
        </p:nvSpPr>
        <p:spPr>
          <a:xfrm>
            <a:off x="7013448" y="3584448"/>
            <a:ext cx="4206240" cy="0"/>
          </a:xfrm>
          <a:prstGeom prst="line">
            <a:avLst/>
          </a:prstGeom>
          <a:noFill/>
          <a:ln w="12700">
            <a:solidFill>
              <a:srgbClr val="D6DEE7"/>
            </a:solidFill>
            <a:prstDash val="solid"/>
          </a:ln>
        </p:spPr>
        <p:txBody>
          <a:bodyPr/>
          <a:lstStyle/>
          <a:p>
            <a:endParaRPr lang="en-US"/>
          </a:p>
        </p:txBody>
      </p:sp>
      <p:sp>
        <p:nvSpPr>
          <p:cNvPr id="29" name="Text 27"/>
          <p:cNvSpPr txBox="1"/>
          <p:nvPr/>
        </p:nvSpPr>
        <p:spPr>
          <a:xfrm>
            <a:off x="7013448" y="3721608"/>
            <a:ext cx="4297680" cy="256032"/>
          </a:xfrm>
          <a:prstGeom prst="rect">
            <a:avLst/>
          </a:prstGeom>
          <a:noFill/>
          <a:ln/>
        </p:spPr>
        <p:txBody>
          <a:bodyPr wrap="square" lIns="0" tIns="0" rIns="0" bIns="0" rtlCol="0" anchor="ctr"/>
          <a:lstStyle/>
          <a:p>
            <a:pPr marL="0" indent="0">
              <a:buNone/>
            </a:pPr>
            <a:r>
              <a:rPr lang="en-US" sz="1250" b="1" dirty="0">
                <a:solidFill>
                  <a:srgbClr val="205081"/>
                </a:solidFill>
                <a:latin typeface="Arial" pitchFamily="34" charset="0"/>
                <a:ea typeface="Arial" pitchFamily="34" charset="-122"/>
                <a:cs typeface="Arial" pitchFamily="34" charset="-120"/>
              </a:rPr>
              <a:t>Quote your patterns</a:t>
            </a:r>
            <a:endParaRPr lang="en-US" sz="1250" dirty="0"/>
          </a:p>
        </p:txBody>
      </p:sp>
      <p:sp>
        <p:nvSpPr>
          <p:cNvPr id="30" name="Text 28"/>
          <p:cNvSpPr txBox="1"/>
          <p:nvPr/>
        </p:nvSpPr>
        <p:spPr>
          <a:xfrm>
            <a:off x="7013448" y="4023360"/>
            <a:ext cx="4297680" cy="822960"/>
          </a:xfrm>
          <a:prstGeom prst="rect">
            <a:avLst/>
          </a:prstGeom>
          <a:noFill/>
          <a:ln/>
        </p:spPr>
        <p:txBody>
          <a:bodyPr wrap="square" lIns="0" tIns="0" rIns="0" bIns="0" rtlCol="0" anchor="ctr"/>
          <a:lstStyle/>
          <a:p>
            <a:pPr marL="0" indent="0">
              <a:lnSpc>
                <a:spcPts val="1600"/>
              </a:lnSpc>
              <a:buNone/>
            </a:pPr>
            <a:r>
              <a:rPr lang="en-US" sz="1150" dirty="0">
                <a:solidFill>
                  <a:srgbClr val="6B7280"/>
                </a:solidFill>
                <a:latin typeface="Arial" pitchFamily="34" charset="0"/>
                <a:ea typeface="Arial" pitchFamily="34" charset="-122"/>
                <a:cs typeface="Arial" pitchFamily="34" charset="-120"/>
              </a:rPr>
              <a:t>Always put the pattern in single quotes. Otherwise the shell tries to interpret characters like *, $ and ^ before grep ever sees them — and you get a confusing result rather than an error.</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grep, three real questions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Text 2"/>
          <p:cNvSpPr txBox="1"/>
          <p:nvPr/>
        </p:nvSpPr>
        <p:spPr>
          <a:xfrm>
            <a:off x="615391" y="1463040"/>
            <a:ext cx="5760720" cy="256032"/>
          </a:xfrm>
          <a:prstGeom prst="rect">
            <a:avLst/>
          </a:prstGeom>
          <a:noFill/>
          <a:ln/>
        </p:spPr>
        <p:txBody>
          <a:bodyPr wrap="square" lIns="0" tIns="0" rIns="0" bIns="0" rtlCol="0" anchor="ctr"/>
          <a:lstStyle/>
          <a:p>
            <a:pPr marL="0" indent="0">
              <a:buNone/>
            </a:pPr>
            <a:r>
              <a:rPr lang="en-US" sz="1600" b="1" dirty="0">
                <a:solidFill>
                  <a:srgbClr val="1F2933"/>
                </a:solidFill>
                <a:latin typeface="Arial" pitchFamily="34" charset="0"/>
                <a:ea typeface="Arial" pitchFamily="34" charset="-122"/>
                <a:cs typeface="Arial" pitchFamily="34" charset="-120"/>
              </a:rPr>
              <a:t>How many sequences are in this FASTA?</a:t>
            </a:r>
            <a:endParaRPr lang="en-US" sz="1600" dirty="0"/>
          </a:p>
        </p:txBody>
      </p:sp>
      <p:sp>
        <p:nvSpPr>
          <p:cNvPr id="5" name="Shape 3"/>
          <p:cNvSpPr/>
          <p:nvPr/>
        </p:nvSpPr>
        <p:spPr>
          <a:xfrm>
            <a:off x="615391" y="1755648"/>
            <a:ext cx="5760720" cy="731520"/>
          </a:xfrm>
          <a:prstGeom prst="roundRect">
            <a:avLst>
              <a:gd name="adj" fmla="val 7500"/>
            </a:avLst>
          </a:prstGeom>
          <a:solidFill>
            <a:srgbClr val="1F2933"/>
          </a:solidFill>
          <a:ln w="12700">
            <a:solidFill>
              <a:srgbClr val="1F2933"/>
            </a:solidFill>
            <a:prstDash val="solid"/>
          </a:ln>
        </p:spPr>
        <p:txBody>
          <a:bodyPr/>
          <a:lstStyle/>
          <a:p>
            <a:endParaRPr lang="en-US"/>
          </a:p>
        </p:txBody>
      </p:sp>
      <p:sp>
        <p:nvSpPr>
          <p:cNvPr id="6" name="Text 4"/>
          <p:cNvSpPr txBox="1"/>
          <p:nvPr/>
        </p:nvSpPr>
        <p:spPr>
          <a:xfrm>
            <a:off x="853135" y="1920240"/>
            <a:ext cx="5303520" cy="237744"/>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grep -c '^&gt;' genome.fa</a:t>
            </a:r>
            <a:endParaRPr lang="en-US" sz="1600" dirty="0"/>
          </a:p>
        </p:txBody>
      </p:sp>
      <p:sp>
        <p:nvSpPr>
          <p:cNvPr id="7" name="Text 5"/>
          <p:cNvSpPr txBox="1"/>
          <p:nvPr/>
        </p:nvSpPr>
        <p:spPr>
          <a:xfrm>
            <a:off x="853135" y="2157984"/>
            <a:ext cx="5303520" cy="237744"/>
          </a:xfrm>
          <a:prstGeom prst="rect">
            <a:avLst/>
          </a:prstGeom>
          <a:noFill/>
          <a:ln/>
        </p:spPr>
        <p:txBody>
          <a:bodyPr wrap="square" lIns="0" tIns="0" rIns="0" bIns="0" rtlCol="0" anchor="ctr"/>
          <a:lstStyle/>
          <a:p>
            <a:pPr marL="0" indent="0">
              <a:buNone/>
            </a:pPr>
            <a:r>
              <a:rPr lang="en-US" sz="1600" dirty="0">
                <a:solidFill>
                  <a:srgbClr val="FFC82C"/>
                </a:solidFill>
                <a:latin typeface="Courier New" pitchFamily="34" charset="0"/>
                <a:ea typeface="Courier New" pitchFamily="34" charset="-122"/>
                <a:cs typeface="Courier New" pitchFamily="34" charset="-120"/>
              </a:rPr>
              <a:t>25</a:t>
            </a:r>
            <a:endParaRPr lang="en-US" sz="1600" dirty="0"/>
          </a:p>
        </p:txBody>
      </p:sp>
      <p:sp>
        <p:nvSpPr>
          <p:cNvPr id="8" name="Text 6"/>
          <p:cNvSpPr txBox="1"/>
          <p:nvPr/>
        </p:nvSpPr>
        <p:spPr>
          <a:xfrm>
            <a:off x="6533019" y="1792224"/>
            <a:ext cx="5120640" cy="822960"/>
          </a:xfrm>
          <a:prstGeom prst="rect">
            <a:avLst/>
          </a:prstGeom>
          <a:noFill/>
          <a:ln/>
        </p:spPr>
        <p:txBody>
          <a:bodyPr wrap="square" lIns="0" tIns="0" rIns="0" bIns="0" rtlCol="0" anchor="ctr"/>
          <a:lstStyle/>
          <a:p>
            <a:pPr marL="0" indent="0">
              <a:lnSpc>
                <a:spcPts val="1650"/>
              </a:lnSpc>
              <a:buNone/>
            </a:pPr>
            <a:r>
              <a:rPr lang="en-US" sz="1600" dirty="0">
                <a:solidFill>
                  <a:srgbClr val="6B7280"/>
                </a:solidFill>
                <a:latin typeface="Arial" pitchFamily="34" charset="0"/>
                <a:ea typeface="Arial" pitchFamily="34" charset="-122"/>
                <a:cs typeface="Arial" pitchFamily="34" charset="-120"/>
              </a:rPr>
              <a:t>Counts header lines. A FASTA record has exactly one.</a:t>
            </a:r>
            <a:endParaRPr lang="en-US" sz="1600" dirty="0"/>
          </a:p>
        </p:txBody>
      </p:sp>
      <p:sp>
        <p:nvSpPr>
          <p:cNvPr id="9" name="Text 7"/>
          <p:cNvSpPr txBox="1"/>
          <p:nvPr/>
        </p:nvSpPr>
        <p:spPr>
          <a:xfrm>
            <a:off x="615391" y="2748141"/>
            <a:ext cx="5760720" cy="256032"/>
          </a:xfrm>
          <a:prstGeom prst="rect">
            <a:avLst/>
          </a:prstGeom>
          <a:noFill/>
          <a:ln/>
        </p:spPr>
        <p:txBody>
          <a:bodyPr wrap="square" lIns="0" tIns="0" rIns="0" bIns="0" rtlCol="0" anchor="ctr"/>
          <a:lstStyle/>
          <a:p>
            <a:pPr marL="0" indent="0">
              <a:buNone/>
            </a:pPr>
            <a:r>
              <a:rPr lang="en-US" sz="1600" b="1" dirty="0">
                <a:solidFill>
                  <a:srgbClr val="1F2933"/>
                </a:solidFill>
                <a:latin typeface="Arial" pitchFamily="34" charset="0"/>
                <a:ea typeface="Arial" pitchFamily="34" charset="-122"/>
                <a:cs typeface="Arial" pitchFamily="34" charset="-120"/>
              </a:rPr>
              <a:t>Drop the comment lines from a GFF3</a:t>
            </a:r>
            <a:endParaRPr lang="en-US" sz="1600" dirty="0"/>
          </a:p>
        </p:txBody>
      </p:sp>
      <p:sp>
        <p:nvSpPr>
          <p:cNvPr id="10" name="Shape 8"/>
          <p:cNvSpPr/>
          <p:nvPr/>
        </p:nvSpPr>
        <p:spPr>
          <a:xfrm>
            <a:off x="615391" y="3040749"/>
            <a:ext cx="5760720" cy="969264"/>
          </a:xfrm>
          <a:prstGeom prst="roundRect">
            <a:avLst>
              <a:gd name="adj" fmla="val 5660"/>
            </a:avLst>
          </a:prstGeom>
          <a:solidFill>
            <a:srgbClr val="1F2933"/>
          </a:solidFill>
          <a:ln w="12700">
            <a:solidFill>
              <a:srgbClr val="1F2933"/>
            </a:solidFill>
            <a:prstDash val="solid"/>
          </a:ln>
        </p:spPr>
        <p:txBody>
          <a:bodyPr/>
          <a:lstStyle/>
          <a:p>
            <a:endParaRPr lang="en-US"/>
          </a:p>
        </p:txBody>
      </p:sp>
      <p:sp>
        <p:nvSpPr>
          <p:cNvPr id="11" name="Text 9"/>
          <p:cNvSpPr txBox="1"/>
          <p:nvPr/>
        </p:nvSpPr>
        <p:spPr>
          <a:xfrm>
            <a:off x="853135" y="3205341"/>
            <a:ext cx="5303520" cy="237744"/>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grep -v '^#' anno.gff3 | head -n 2</a:t>
            </a:r>
            <a:endParaRPr lang="en-US" sz="1600" dirty="0"/>
          </a:p>
        </p:txBody>
      </p:sp>
      <p:sp>
        <p:nvSpPr>
          <p:cNvPr id="12" name="Text 10"/>
          <p:cNvSpPr txBox="1"/>
          <p:nvPr/>
        </p:nvSpPr>
        <p:spPr>
          <a:xfrm>
            <a:off x="853135" y="3443085"/>
            <a:ext cx="5303520" cy="237744"/>
          </a:xfrm>
          <a:prstGeom prst="rect">
            <a:avLst/>
          </a:prstGeom>
          <a:noFill/>
          <a:ln/>
        </p:spPr>
        <p:txBody>
          <a:bodyPr wrap="square" lIns="0" tIns="0" rIns="0" bIns="0" rtlCol="0" anchor="ctr"/>
          <a:lstStyle/>
          <a:p>
            <a:pPr marL="0" indent="0">
              <a:buNone/>
            </a:pPr>
            <a:r>
              <a:rPr lang="en-US" sz="1600" dirty="0">
                <a:solidFill>
                  <a:srgbClr val="FFC82C"/>
                </a:solidFill>
                <a:latin typeface="Courier New" pitchFamily="34" charset="0"/>
                <a:ea typeface="Courier New" pitchFamily="34" charset="-122"/>
                <a:cs typeface="Courier New" pitchFamily="34" charset="-120"/>
              </a:rPr>
              <a:t>chr1  ensembl  gene  11869  14409 ...</a:t>
            </a:r>
            <a:endParaRPr lang="en-US" sz="1600" dirty="0"/>
          </a:p>
        </p:txBody>
      </p:sp>
      <p:sp>
        <p:nvSpPr>
          <p:cNvPr id="13" name="Text 11"/>
          <p:cNvSpPr txBox="1"/>
          <p:nvPr/>
        </p:nvSpPr>
        <p:spPr>
          <a:xfrm>
            <a:off x="853135" y="3680829"/>
            <a:ext cx="5303520" cy="237744"/>
          </a:xfrm>
          <a:prstGeom prst="rect">
            <a:avLst/>
          </a:prstGeom>
          <a:noFill/>
          <a:ln/>
        </p:spPr>
        <p:txBody>
          <a:bodyPr wrap="square" lIns="0" tIns="0" rIns="0" bIns="0" rtlCol="0" anchor="ctr"/>
          <a:lstStyle/>
          <a:p>
            <a:pPr marL="0" indent="0">
              <a:buNone/>
            </a:pPr>
            <a:r>
              <a:rPr lang="en-US" sz="1600" dirty="0">
                <a:solidFill>
                  <a:srgbClr val="FFC82C"/>
                </a:solidFill>
                <a:latin typeface="Courier New" pitchFamily="34" charset="0"/>
                <a:ea typeface="Courier New" pitchFamily="34" charset="-122"/>
                <a:cs typeface="Courier New" pitchFamily="34" charset="-120"/>
              </a:rPr>
              <a:t>chr1  ensembl  mRNA  11869  14409 ...</a:t>
            </a:r>
            <a:endParaRPr lang="en-US" sz="1600" dirty="0"/>
          </a:p>
        </p:txBody>
      </p:sp>
      <p:sp>
        <p:nvSpPr>
          <p:cNvPr id="14" name="Text 12"/>
          <p:cNvSpPr txBox="1"/>
          <p:nvPr/>
        </p:nvSpPr>
        <p:spPr>
          <a:xfrm>
            <a:off x="6533019" y="3077325"/>
            <a:ext cx="5120640" cy="822960"/>
          </a:xfrm>
          <a:prstGeom prst="rect">
            <a:avLst/>
          </a:prstGeom>
          <a:noFill/>
          <a:ln/>
        </p:spPr>
        <p:txBody>
          <a:bodyPr wrap="square" lIns="0" tIns="0" rIns="0" bIns="0" rtlCol="0" anchor="ctr"/>
          <a:lstStyle/>
          <a:p>
            <a:pPr marL="0" indent="0">
              <a:lnSpc>
                <a:spcPts val="1650"/>
              </a:lnSpc>
              <a:buNone/>
            </a:pPr>
            <a:r>
              <a:rPr lang="en-US" sz="1600" dirty="0">
                <a:solidFill>
                  <a:srgbClr val="6B7280"/>
                </a:solidFill>
                <a:latin typeface="Arial" pitchFamily="34" charset="0"/>
                <a:ea typeface="Arial" pitchFamily="34" charset="-122"/>
                <a:cs typeface="Arial" pitchFamily="34" charset="-120"/>
              </a:rPr>
              <a:t>-v inverts the match. This is the first stage of almost every GFF pipeline.</a:t>
            </a:r>
            <a:endParaRPr lang="en-US" sz="1600" dirty="0"/>
          </a:p>
        </p:txBody>
      </p:sp>
      <p:sp>
        <p:nvSpPr>
          <p:cNvPr id="15" name="Text 13"/>
          <p:cNvSpPr txBox="1"/>
          <p:nvPr/>
        </p:nvSpPr>
        <p:spPr>
          <a:xfrm>
            <a:off x="615391" y="4218597"/>
            <a:ext cx="5760720" cy="256032"/>
          </a:xfrm>
          <a:prstGeom prst="rect">
            <a:avLst/>
          </a:prstGeom>
          <a:noFill/>
          <a:ln/>
        </p:spPr>
        <p:txBody>
          <a:bodyPr wrap="square" lIns="0" tIns="0" rIns="0" bIns="0" rtlCol="0" anchor="ctr"/>
          <a:lstStyle/>
          <a:p>
            <a:pPr marL="0" indent="0">
              <a:buNone/>
            </a:pPr>
            <a:r>
              <a:rPr lang="en-US" sz="1600" b="1" dirty="0">
                <a:solidFill>
                  <a:srgbClr val="1F2933"/>
                </a:solidFill>
                <a:latin typeface="Arial" pitchFamily="34" charset="0"/>
                <a:ea typeface="Arial" pitchFamily="34" charset="-122"/>
                <a:cs typeface="Arial" pitchFamily="34" charset="-120"/>
              </a:rPr>
              <a:t>Find one gene, and only that gene</a:t>
            </a:r>
            <a:endParaRPr lang="en-US" sz="1600" dirty="0"/>
          </a:p>
        </p:txBody>
      </p:sp>
      <p:sp>
        <p:nvSpPr>
          <p:cNvPr id="16" name="Shape 14"/>
          <p:cNvSpPr/>
          <p:nvPr/>
        </p:nvSpPr>
        <p:spPr>
          <a:xfrm>
            <a:off x="615391" y="4511205"/>
            <a:ext cx="5760720" cy="731520"/>
          </a:xfrm>
          <a:prstGeom prst="roundRect">
            <a:avLst>
              <a:gd name="adj" fmla="val 7500"/>
            </a:avLst>
          </a:prstGeom>
          <a:solidFill>
            <a:srgbClr val="1F2933"/>
          </a:solidFill>
          <a:ln w="12700">
            <a:solidFill>
              <a:srgbClr val="1F2933"/>
            </a:solidFill>
            <a:prstDash val="solid"/>
          </a:ln>
        </p:spPr>
        <p:txBody>
          <a:bodyPr/>
          <a:lstStyle/>
          <a:p>
            <a:endParaRPr lang="en-US"/>
          </a:p>
        </p:txBody>
      </p:sp>
      <p:sp>
        <p:nvSpPr>
          <p:cNvPr id="17" name="Text 15"/>
          <p:cNvSpPr txBox="1"/>
          <p:nvPr/>
        </p:nvSpPr>
        <p:spPr>
          <a:xfrm>
            <a:off x="853135" y="4651083"/>
            <a:ext cx="5303520" cy="237744"/>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grep -w 'TP53' anno.gff3 | wc -l   →  14</a:t>
            </a:r>
            <a:endParaRPr lang="en-US" sz="1600" dirty="0"/>
          </a:p>
        </p:txBody>
      </p:sp>
      <p:sp>
        <p:nvSpPr>
          <p:cNvPr id="18" name="Text 16"/>
          <p:cNvSpPr txBox="1"/>
          <p:nvPr/>
        </p:nvSpPr>
        <p:spPr>
          <a:xfrm>
            <a:off x="853135" y="4888827"/>
            <a:ext cx="5303520" cy="237744"/>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grep    'TP53' anno.gff3 | wc -l   →  39</a:t>
            </a:r>
            <a:endParaRPr lang="en-US" sz="1600" dirty="0"/>
          </a:p>
        </p:txBody>
      </p:sp>
      <p:sp>
        <p:nvSpPr>
          <p:cNvPr id="19" name="Text 17"/>
          <p:cNvSpPr txBox="1"/>
          <p:nvPr/>
        </p:nvSpPr>
        <p:spPr>
          <a:xfrm>
            <a:off x="6533019" y="4511205"/>
            <a:ext cx="5369447" cy="822960"/>
          </a:xfrm>
          <a:prstGeom prst="rect">
            <a:avLst/>
          </a:prstGeom>
          <a:noFill/>
          <a:ln/>
        </p:spPr>
        <p:txBody>
          <a:bodyPr wrap="square" lIns="0" tIns="0" rIns="0" bIns="0" rtlCol="0" anchor="ctr"/>
          <a:lstStyle/>
          <a:p>
            <a:pPr marL="0" indent="0">
              <a:lnSpc>
                <a:spcPts val="1650"/>
              </a:lnSpc>
              <a:buNone/>
            </a:pPr>
            <a:r>
              <a:rPr lang="en-US" sz="1600" dirty="0">
                <a:solidFill>
                  <a:srgbClr val="6B7280"/>
                </a:solidFill>
                <a:latin typeface="Arial" pitchFamily="34" charset="0"/>
                <a:ea typeface="Arial" pitchFamily="34" charset="-122"/>
                <a:cs typeface="Arial" pitchFamily="34" charset="-120"/>
              </a:rPr>
              <a:t>Without -w you also match TP53BP1, TP53I3 and TP53INP1. </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The counting idiom you will use forever</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10963656" cy="658368"/>
          </a:xfrm>
          <a:prstGeom prst="roundRect">
            <a:avLst>
              <a:gd name="adj" fmla="val 8333"/>
            </a:avLst>
          </a:prstGeom>
          <a:solidFill>
            <a:srgbClr val="1F2933"/>
          </a:solidFill>
          <a:ln w="12700">
            <a:solidFill>
              <a:srgbClr val="1F2933"/>
            </a:solidFill>
            <a:prstDash val="solid"/>
          </a:ln>
        </p:spPr>
        <p:txBody>
          <a:bodyPr/>
          <a:lstStyle/>
          <a:p>
            <a:endParaRPr lang="en-US"/>
          </a:p>
        </p:txBody>
      </p:sp>
      <p:sp>
        <p:nvSpPr>
          <p:cNvPr id="5" name="Text 3"/>
          <p:cNvSpPr txBox="1"/>
          <p:nvPr/>
        </p:nvSpPr>
        <p:spPr>
          <a:xfrm>
            <a:off x="853135" y="1645920"/>
            <a:ext cx="10506456" cy="256032"/>
          </a:xfrm>
          <a:prstGeom prst="rect">
            <a:avLst/>
          </a:prstGeom>
          <a:noFill/>
          <a:ln/>
        </p:spPr>
        <p:txBody>
          <a:bodyPr wrap="square" lIns="0" tIns="0" rIns="0" bIns="0" rtlCol="0" anchor="ctr"/>
          <a:lstStyle/>
          <a:p>
            <a:pPr marL="0" indent="0">
              <a:buNone/>
            </a:pPr>
            <a:r>
              <a:rPr lang="en-US" sz="2000" dirty="0">
                <a:solidFill>
                  <a:srgbClr val="E8EDF2"/>
                </a:solidFill>
                <a:latin typeface="Courier New" pitchFamily="34" charset="0"/>
                <a:ea typeface="Courier New" pitchFamily="34" charset="-122"/>
                <a:cs typeface="Courier New" pitchFamily="34" charset="-120"/>
              </a:rPr>
              <a:t>... | cut -f3 | sort | uniq -c | sort -rn | head</a:t>
            </a:r>
            <a:endParaRPr lang="en-US" sz="2000" dirty="0"/>
          </a:p>
        </p:txBody>
      </p:sp>
      <p:sp>
        <p:nvSpPr>
          <p:cNvPr id="6" name="Shape 4"/>
          <p:cNvSpPr/>
          <p:nvPr/>
        </p:nvSpPr>
        <p:spPr>
          <a:xfrm>
            <a:off x="615391" y="2350008"/>
            <a:ext cx="5760720"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7" name="Shape 5"/>
          <p:cNvSpPr/>
          <p:nvPr/>
        </p:nvSpPr>
        <p:spPr>
          <a:xfrm>
            <a:off x="853135" y="2560320"/>
            <a:ext cx="146304" cy="146304"/>
          </a:xfrm>
          <a:prstGeom prst="diamond">
            <a:avLst/>
          </a:prstGeom>
          <a:solidFill>
            <a:srgbClr val="498BCA"/>
          </a:solidFill>
          <a:ln w="12700">
            <a:solidFill>
              <a:srgbClr val="498BCA"/>
            </a:solidFill>
            <a:prstDash val="solid"/>
          </a:ln>
        </p:spPr>
        <p:txBody>
          <a:bodyPr/>
          <a:lstStyle/>
          <a:p>
            <a:endParaRPr lang="en-US" sz="2400"/>
          </a:p>
        </p:txBody>
      </p:sp>
      <p:sp>
        <p:nvSpPr>
          <p:cNvPr id="8" name="Text 6"/>
          <p:cNvSpPr txBox="1"/>
          <p:nvPr/>
        </p:nvSpPr>
        <p:spPr>
          <a:xfrm>
            <a:off x="1164031" y="2404872"/>
            <a:ext cx="1691640" cy="457200"/>
          </a:xfrm>
          <a:prstGeom prst="rect">
            <a:avLst/>
          </a:prstGeom>
          <a:noFill/>
          <a:ln/>
        </p:spPr>
        <p:txBody>
          <a:bodyPr wrap="square" lIns="0" tIns="0" rIns="0" bIns="0" rtlCol="0" anchor="ctr"/>
          <a:lstStyle/>
          <a:p>
            <a:pPr marL="0" indent="0">
              <a:buNone/>
            </a:pPr>
            <a:r>
              <a:rPr lang="en-US" sz="1600" b="1" dirty="0">
                <a:solidFill>
                  <a:srgbClr val="1F2933"/>
                </a:solidFill>
                <a:latin typeface="Courier New" pitchFamily="34" charset="0"/>
                <a:ea typeface="Courier New" pitchFamily="34" charset="-122"/>
                <a:cs typeface="Courier New" pitchFamily="34" charset="-120"/>
              </a:rPr>
              <a:t>cut -f3</a:t>
            </a:r>
            <a:endParaRPr lang="en-US" sz="1600" dirty="0"/>
          </a:p>
        </p:txBody>
      </p:sp>
      <p:sp>
        <p:nvSpPr>
          <p:cNvPr id="9" name="Text 7"/>
          <p:cNvSpPr txBox="1"/>
          <p:nvPr/>
        </p:nvSpPr>
        <p:spPr>
          <a:xfrm>
            <a:off x="2730843" y="2404872"/>
            <a:ext cx="3553828" cy="457200"/>
          </a:xfrm>
          <a:prstGeom prst="rect">
            <a:avLst/>
          </a:prstGeom>
          <a:noFill/>
          <a:ln/>
        </p:spPr>
        <p:txBody>
          <a:bodyPr wrap="square" lIns="0" tIns="0" rIns="0" bIns="0" rtlCol="0" anchor="ctr"/>
          <a:lstStyle/>
          <a:p>
            <a:pPr marL="0" indent="0">
              <a:lnSpc>
                <a:spcPts val="1400"/>
              </a:lnSpc>
              <a:buNone/>
            </a:pPr>
            <a:r>
              <a:rPr lang="en-US" sz="1400" dirty="0">
                <a:solidFill>
                  <a:srgbClr val="6B7280"/>
                </a:solidFill>
                <a:latin typeface="Arial" pitchFamily="34" charset="0"/>
                <a:ea typeface="Arial" pitchFamily="34" charset="-122"/>
                <a:cs typeface="Arial" pitchFamily="34" charset="-120"/>
              </a:rPr>
              <a:t>pull out column 3 only</a:t>
            </a:r>
            <a:endParaRPr lang="en-US" sz="1400" dirty="0"/>
          </a:p>
        </p:txBody>
      </p:sp>
      <p:sp>
        <p:nvSpPr>
          <p:cNvPr id="10" name="Shape 8"/>
          <p:cNvSpPr/>
          <p:nvPr/>
        </p:nvSpPr>
        <p:spPr>
          <a:xfrm>
            <a:off x="615391" y="3008376"/>
            <a:ext cx="5760720" cy="566928"/>
          </a:xfrm>
          <a:prstGeom prst="roundRect">
            <a:avLst>
              <a:gd name="adj" fmla="val 9677"/>
            </a:avLst>
          </a:prstGeom>
          <a:solidFill>
            <a:srgbClr val="FAFBFC"/>
          </a:solidFill>
          <a:ln w="12700">
            <a:solidFill>
              <a:srgbClr val="FAFBFC"/>
            </a:solidFill>
            <a:prstDash val="solid"/>
          </a:ln>
        </p:spPr>
        <p:txBody>
          <a:bodyPr/>
          <a:lstStyle/>
          <a:p>
            <a:endParaRPr lang="en-US"/>
          </a:p>
        </p:txBody>
      </p:sp>
      <p:sp>
        <p:nvSpPr>
          <p:cNvPr id="11" name="Shape 9"/>
          <p:cNvSpPr/>
          <p:nvPr/>
        </p:nvSpPr>
        <p:spPr>
          <a:xfrm>
            <a:off x="853135" y="3218688"/>
            <a:ext cx="146304" cy="146304"/>
          </a:xfrm>
          <a:prstGeom prst="diamond">
            <a:avLst/>
          </a:prstGeom>
          <a:solidFill>
            <a:srgbClr val="FFC82C"/>
          </a:solidFill>
          <a:ln w="12700">
            <a:solidFill>
              <a:srgbClr val="FFC82C"/>
            </a:solidFill>
            <a:prstDash val="solid"/>
          </a:ln>
        </p:spPr>
        <p:txBody>
          <a:bodyPr/>
          <a:lstStyle/>
          <a:p>
            <a:endParaRPr lang="en-US" sz="2400"/>
          </a:p>
        </p:txBody>
      </p:sp>
      <p:sp>
        <p:nvSpPr>
          <p:cNvPr id="12" name="Text 10"/>
          <p:cNvSpPr txBox="1"/>
          <p:nvPr/>
        </p:nvSpPr>
        <p:spPr>
          <a:xfrm>
            <a:off x="1164031" y="3063240"/>
            <a:ext cx="1691640" cy="457200"/>
          </a:xfrm>
          <a:prstGeom prst="rect">
            <a:avLst/>
          </a:prstGeom>
          <a:noFill/>
          <a:ln/>
        </p:spPr>
        <p:txBody>
          <a:bodyPr wrap="square" lIns="0" tIns="0" rIns="0" bIns="0" rtlCol="0" anchor="ctr"/>
          <a:lstStyle/>
          <a:p>
            <a:pPr marL="0" indent="0">
              <a:buNone/>
            </a:pPr>
            <a:r>
              <a:rPr lang="en-US" sz="1600" b="1" dirty="0">
                <a:solidFill>
                  <a:srgbClr val="1F2933"/>
                </a:solidFill>
                <a:latin typeface="Courier New" pitchFamily="34" charset="0"/>
                <a:ea typeface="Courier New" pitchFamily="34" charset="-122"/>
                <a:cs typeface="Courier New" pitchFamily="34" charset="-120"/>
              </a:rPr>
              <a:t>sort</a:t>
            </a:r>
            <a:endParaRPr lang="en-US" sz="1600" dirty="0"/>
          </a:p>
        </p:txBody>
      </p:sp>
      <p:sp>
        <p:nvSpPr>
          <p:cNvPr id="13" name="Text 11"/>
          <p:cNvSpPr txBox="1"/>
          <p:nvPr/>
        </p:nvSpPr>
        <p:spPr>
          <a:xfrm>
            <a:off x="2730843" y="3063240"/>
            <a:ext cx="3553828" cy="457200"/>
          </a:xfrm>
          <a:prstGeom prst="rect">
            <a:avLst/>
          </a:prstGeom>
          <a:noFill/>
          <a:ln/>
        </p:spPr>
        <p:txBody>
          <a:bodyPr wrap="square" lIns="0" tIns="0" rIns="0" bIns="0" rtlCol="0" anchor="ctr"/>
          <a:lstStyle/>
          <a:p>
            <a:pPr marL="0" indent="0">
              <a:lnSpc>
                <a:spcPts val="1400"/>
              </a:lnSpc>
              <a:buNone/>
            </a:pPr>
            <a:r>
              <a:rPr lang="en-US" sz="1400" dirty="0">
                <a:solidFill>
                  <a:srgbClr val="6B7280"/>
                </a:solidFill>
                <a:latin typeface="Arial" pitchFamily="34" charset="0"/>
                <a:ea typeface="Arial" pitchFamily="34" charset="-122"/>
                <a:cs typeface="Arial" pitchFamily="34" charset="-120"/>
              </a:rPr>
              <a:t>put identical values next to each other</a:t>
            </a:r>
            <a:endParaRPr lang="en-US" sz="1400" dirty="0"/>
          </a:p>
        </p:txBody>
      </p:sp>
      <p:sp>
        <p:nvSpPr>
          <p:cNvPr id="14" name="Shape 12"/>
          <p:cNvSpPr/>
          <p:nvPr/>
        </p:nvSpPr>
        <p:spPr>
          <a:xfrm>
            <a:off x="615391" y="3666744"/>
            <a:ext cx="5760720" cy="566928"/>
          </a:xfrm>
          <a:prstGeom prst="roundRect">
            <a:avLst>
              <a:gd name="adj" fmla="val 9677"/>
            </a:avLst>
          </a:prstGeom>
          <a:solidFill>
            <a:srgbClr val="FAFBFC"/>
          </a:solidFill>
          <a:ln w="12700">
            <a:solidFill>
              <a:srgbClr val="FAFBFC"/>
            </a:solidFill>
            <a:prstDash val="solid"/>
          </a:ln>
        </p:spPr>
        <p:txBody>
          <a:bodyPr/>
          <a:lstStyle/>
          <a:p>
            <a:endParaRPr lang="en-US" sz="2400"/>
          </a:p>
        </p:txBody>
      </p:sp>
      <p:sp>
        <p:nvSpPr>
          <p:cNvPr id="15" name="Shape 13"/>
          <p:cNvSpPr/>
          <p:nvPr/>
        </p:nvSpPr>
        <p:spPr>
          <a:xfrm>
            <a:off x="853135" y="3877056"/>
            <a:ext cx="146304" cy="146304"/>
          </a:xfrm>
          <a:prstGeom prst="diamond">
            <a:avLst/>
          </a:prstGeom>
          <a:solidFill>
            <a:srgbClr val="C0CD30"/>
          </a:solidFill>
          <a:ln w="12700">
            <a:solidFill>
              <a:srgbClr val="C0CD30"/>
            </a:solidFill>
            <a:prstDash val="solid"/>
          </a:ln>
        </p:spPr>
        <p:txBody>
          <a:bodyPr/>
          <a:lstStyle/>
          <a:p>
            <a:endParaRPr lang="en-US" sz="2400"/>
          </a:p>
        </p:txBody>
      </p:sp>
      <p:sp>
        <p:nvSpPr>
          <p:cNvPr id="16" name="Text 14"/>
          <p:cNvSpPr txBox="1"/>
          <p:nvPr/>
        </p:nvSpPr>
        <p:spPr>
          <a:xfrm>
            <a:off x="1164031" y="3721608"/>
            <a:ext cx="1691640" cy="457200"/>
          </a:xfrm>
          <a:prstGeom prst="rect">
            <a:avLst/>
          </a:prstGeom>
          <a:noFill/>
          <a:ln/>
        </p:spPr>
        <p:txBody>
          <a:bodyPr wrap="square" lIns="0" tIns="0" rIns="0" bIns="0" rtlCol="0" anchor="ctr"/>
          <a:lstStyle/>
          <a:p>
            <a:pPr marL="0" indent="0">
              <a:buNone/>
            </a:pPr>
            <a:r>
              <a:rPr lang="en-US" sz="1600" b="1" dirty="0">
                <a:solidFill>
                  <a:srgbClr val="1F2933"/>
                </a:solidFill>
                <a:latin typeface="Courier New" pitchFamily="34" charset="0"/>
                <a:ea typeface="Courier New" pitchFamily="34" charset="-122"/>
                <a:cs typeface="Courier New" pitchFamily="34" charset="-120"/>
              </a:rPr>
              <a:t>uniq -c</a:t>
            </a:r>
            <a:endParaRPr lang="en-US" sz="1600" dirty="0"/>
          </a:p>
        </p:txBody>
      </p:sp>
      <p:sp>
        <p:nvSpPr>
          <p:cNvPr id="17" name="Text 15"/>
          <p:cNvSpPr txBox="1"/>
          <p:nvPr/>
        </p:nvSpPr>
        <p:spPr>
          <a:xfrm>
            <a:off x="2730843" y="3721608"/>
            <a:ext cx="3553828" cy="457200"/>
          </a:xfrm>
          <a:prstGeom prst="rect">
            <a:avLst/>
          </a:prstGeom>
          <a:noFill/>
          <a:ln/>
        </p:spPr>
        <p:txBody>
          <a:bodyPr wrap="square" lIns="0" tIns="0" rIns="0" bIns="0" rtlCol="0" anchor="ctr"/>
          <a:lstStyle/>
          <a:p>
            <a:pPr marL="0" indent="0">
              <a:lnSpc>
                <a:spcPts val="1400"/>
              </a:lnSpc>
              <a:buNone/>
            </a:pPr>
            <a:r>
              <a:rPr lang="en-US" sz="1400" dirty="0">
                <a:solidFill>
                  <a:srgbClr val="6B7280"/>
                </a:solidFill>
                <a:latin typeface="Arial" pitchFamily="34" charset="0"/>
                <a:ea typeface="Arial" pitchFamily="34" charset="-122"/>
                <a:cs typeface="Arial" pitchFamily="34" charset="-120"/>
              </a:rPr>
              <a:t>collapse runs of identical lines, with a count</a:t>
            </a:r>
            <a:endParaRPr lang="en-US" sz="1400" dirty="0"/>
          </a:p>
        </p:txBody>
      </p:sp>
      <p:sp>
        <p:nvSpPr>
          <p:cNvPr id="18" name="Shape 16"/>
          <p:cNvSpPr/>
          <p:nvPr/>
        </p:nvSpPr>
        <p:spPr>
          <a:xfrm>
            <a:off x="615391" y="4325112"/>
            <a:ext cx="5760720" cy="566928"/>
          </a:xfrm>
          <a:prstGeom prst="roundRect">
            <a:avLst>
              <a:gd name="adj" fmla="val 9677"/>
            </a:avLst>
          </a:prstGeom>
          <a:solidFill>
            <a:srgbClr val="FAFBFC"/>
          </a:solidFill>
          <a:ln w="12700">
            <a:solidFill>
              <a:srgbClr val="FAFBFC"/>
            </a:solidFill>
            <a:prstDash val="solid"/>
          </a:ln>
        </p:spPr>
        <p:txBody>
          <a:bodyPr/>
          <a:lstStyle/>
          <a:p>
            <a:endParaRPr lang="en-US" sz="2400"/>
          </a:p>
        </p:txBody>
      </p:sp>
      <p:sp>
        <p:nvSpPr>
          <p:cNvPr id="19" name="Shape 17"/>
          <p:cNvSpPr/>
          <p:nvPr/>
        </p:nvSpPr>
        <p:spPr>
          <a:xfrm>
            <a:off x="853135" y="4535424"/>
            <a:ext cx="146304" cy="146304"/>
          </a:xfrm>
          <a:prstGeom prst="diamond">
            <a:avLst/>
          </a:prstGeom>
          <a:solidFill>
            <a:srgbClr val="205081"/>
          </a:solidFill>
          <a:ln w="12700">
            <a:solidFill>
              <a:srgbClr val="205081"/>
            </a:solidFill>
            <a:prstDash val="solid"/>
          </a:ln>
        </p:spPr>
        <p:txBody>
          <a:bodyPr/>
          <a:lstStyle/>
          <a:p>
            <a:endParaRPr lang="en-US"/>
          </a:p>
        </p:txBody>
      </p:sp>
      <p:sp>
        <p:nvSpPr>
          <p:cNvPr id="20" name="Text 18"/>
          <p:cNvSpPr txBox="1"/>
          <p:nvPr/>
        </p:nvSpPr>
        <p:spPr>
          <a:xfrm>
            <a:off x="1164031" y="4379976"/>
            <a:ext cx="1691640" cy="457200"/>
          </a:xfrm>
          <a:prstGeom prst="rect">
            <a:avLst/>
          </a:prstGeom>
          <a:noFill/>
          <a:ln/>
        </p:spPr>
        <p:txBody>
          <a:bodyPr wrap="square" lIns="0" tIns="0" rIns="0" bIns="0" rtlCol="0" anchor="ctr"/>
          <a:lstStyle/>
          <a:p>
            <a:pPr marL="0" indent="0">
              <a:buNone/>
            </a:pPr>
            <a:r>
              <a:rPr lang="en-US" sz="1600" b="1" dirty="0">
                <a:solidFill>
                  <a:srgbClr val="1F2933"/>
                </a:solidFill>
                <a:latin typeface="Courier New" pitchFamily="34" charset="0"/>
                <a:ea typeface="Courier New" pitchFamily="34" charset="-122"/>
                <a:cs typeface="Courier New" pitchFamily="34" charset="-120"/>
              </a:rPr>
              <a:t>sort -rn</a:t>
            </a:r>
            <a:endParaRPr lang="en-US" sz="1600" dirty="0"/>
          </a:p>
        </p:txBody>
      </p:sp>
      <p:sp>
        <p:nvSpPr>
          <p:cNvPr id="21" name="Text 19"/>
          <p:cNvSpPr txBox="1"/>
          <p:nvPr/>
        </p:nvSpPr>
        <p:spPr>
          <a:xfrm>
            <a:off x="2730843" y="4379976"/>
            <a:ext cx="3553828" cy="457200"/>
          </a:xfrm>
          <a:prstGeom prst="rect">
            <a:avLst/>
          </a:prstGeom>
          <a:noFill/>
          <a:ln/>
        </p:spPr>
        <p:txBody>
          <a:bodyPr wrap="square" lIns="0" tIns="0" rIns="0" bIns="0" rtlCol="0" anchor="ctr"/>
          <a:lstStyle/>
          <a:p>
            <a:pPr marL="0" indent="0">
              <a:lnSpc>
                <a:spcPts val="1400"/>
              </a:lnSpc>
              <a:buNone/>
            </a:pPr>
            <a:r>
              <a:rPr lang="en-US" sz="1400" dirty="0">
                <a:solidFill>
                  <a:srgbClr val="6B7280"/>
                </a:solidFill>
                <a:latin typeface="Arial" pitchFamily="34" charset="0"/>
                <a:ea typeface="Arial" pitchFamily="34" charset="-122"/>
                <a:cs typeface="Arial" pitchFamily="34" charset="-120"/>
              </a:rPr>
              <a:t>sort by that count, numerically, descending</a:t>
            </a:r>
            <a:endParaRPr lang="en-US" sz="1400" dirty="0"/>
          </a:p>
        </p:txBody>
      </p:sp>
      <p:sp>
        <p:nvSpPr>
          <p:cNvPr id="22" name="Shape 20"/>
          <p:cNvSpPr/>
          <p:nvPr/>
        </p:nvSpPr>
        <p:spPr>
          <a:xfrm>
            <a:off x="6446520" y="2350008"/>
            <a:ext cx="5129784" cy="2633472"/>
          </a:xfrm>
          <a:prstGeom prst="roundRect">
            <a:avLst>
              <a:gd name="adj" fmla="val 2083"/>
            </a:avLst>
          </a:prstGeom>
          <a:solidFill>
            <a:srgbClr val="1F2933"/>
          </a:solidFill>
          <a:ln w="12700">
            <a:solidFill>
              <a:srgbClr val="1F2933"/>
            </a:solidFill>
            <a:prstDash val="solid"/>
          </a:ln>
        </p:spPr>
        <p:txBody>
          <a:bodyPr/>
          <a:lstStyle/>
          <a:p>
            <a:endParaRPr lang="en-US"/>
          </a:p>
        </p:txBody>
      </p:sp>
      <p:sp>
        <p:nvSpPr>
          <p:cNvPr id="23" name="Text 21"/>
          <p:cNvSpPr txBox="1"/>
          <p:nvPr/>
        </p:nvSpPr>
        <p:spPr>
          <a:xfrm>
            <a:off x="6684264" y="2514600"/>
            <a:ext cx="4672584" cy="265176"/>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grep -v '^#' anno.gff3 \</a:t>
            </a:r>
            <a:endParaRPr lang="en-US" sz="1400" dirty="0"/>
          </a:p>
        </p:txBody>
      </p:sp>
      <p:sp>
        <p:nvSpPr>
          <p:cNvPr id="24" name="Text 22"/>
          <p:cNvSpPr txBox="1"/>
          <p:nvPr/>
        </p:nvSpPr>
        <p:spPr>
          <a:xfrm>
            <a:off x="6684264" y="2779776"/>
            <a:ext cx="4672584" cy="265176"/>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 cut -f3 | sort | uniq -c | sort -rn</a:t>
            </a:r>
            <a:endParaRPr lang="en-US" sz="1400" dirty="0"/>
          </a:p>
        </p:txBody>
      </p:sp>
      <p:sp>
        <p:nvSpPr>
          <p:cNvPr id="25" name="Text 23"/>
          <p:cNvSpPr txBox="1"/>
          <p:nvPr/>
        </p:nvSpPr>
        <p:spPr>
          <a:xfrm>
            <a:off x="6684264" y="3242661"/>
            <a:ext cx="4672584" cy="265176"/>
          </a:xfrm>
          <a:prstGeom prst="rect">
            <a:avLst/>
          </a:prstGeom>
          <a:noFill/>
          <a:ln/>
        </p:spPr>
        <p:txBody>
          <a:bodyPr wrap="square" lIns="0" tIns="0" rIns="0" bIns="0" rtlCol="0" anchor="ctr"/>
          <a:lstStyle/>
          <a:p>
            <a:pPr marL="0" indent="0">
              <a:buNone/>
            </a:pPr>
            <a:r>
              <a:rPr lang="en-US" sz="1400" dirty="0">
                <a:solidFill>
                  <a:srgbClr val="FFC82C"/>
                </a:solidFill>
                <a:latin typeface="Courier New" pitchFamily="34" charset="0"/>
                <a:ea typeface="Courier New" pitchFamily="34" charset="-122"/>
                <a:cs typeface="Courier New" pitchFamily="34" charset="-120"/>
              </a:rPr>
              <a:t>  185432 exon</a:t>
            </a:r>
            <a:endParaRPr lang="en-US" sz="1400" dirty="0"/>
          </a:p>
        </p:txBody>
      </p:sp>
      <p:sp>
        <p:nvSpPr>
          <p:cNvPr id="26" name="Text 24"/>
          <p:cNvSpPr txBox="1"/>
          <p:nvPr/>
        </p:nvSpPr>
        <p:spPr>
          <a:xfrm>
            <a:off x="6684264" y="3507837"/>
            <a:ext cx="4672584" cy="265176"/>
          </a:xfrm>
          <a:prstGeom prst="rect">
            <a:avLst/>
          </a:prstGeom>
          <a:noFill/>
          <a:ln/>
        </p:spPr>
        <p:txBody>
          <a:bodyPr wrap="square" lIns="0" tIns="0" rIns="0" bIns="0" rtlCol="0" anchor="ctr"/>
          <a:lstStyle/>
          <a:p>
            <a:pPr marL="0" indent="0">
              <a:buNone/>
            </a:pPr>
            <a:r>
              <a:rPr lang="en-US" sz="1400" dirty="0">
                <a:solidFill>
                  <a:srgbClr val="FFC82C"/>
                </a:solidFill>
                <a:latin typeface="Courier New" pitchFamily="34" charset="0"/>
                <a:ea typeface="Courier New" pitchFamily="34" charset="-122"/>
                <a:cs typeface="Courier New" pitchFamily="34" charset="-120"/>
              </a:rPr>
              <a:t>  142339 CDS</a:t>
            </a:r>
            <a:endParaRPr lang="en-US" sz="1400" dirty="0"/>
          </a:p>
        </p:txBody>
      </p:sp>
      <p:sp>
        <p:nvSpPr>
          <p:cNvPr id="27" name="Text 25"/>
          <p:cNvSpPr txBox="1"/>
          <p:nvPr/>
        </p:nvSpPr>
        <p:spPr>
          <a:xfrm>
            <a:off x="6684264" y="3773013"/>
            <a:ext cx="4672584" cy="265176"/>
          </a:xfrm>
          <a:prstGeom prst="rect">
            <a:avLst/>
          </a:prstGeom>
          <a:noFill/>
          <a:ln/>
        </p:spPr>
        <p:txBody>
          <a:bodyPr wrap="square" lIns="0" tIns="0" rIns="0" bIns="0" rtlCol="0" anchor="ctr"/>
          <a:lstStyle/>
          <a:p>
            <a:pPr marL="0" indent="0">
              <a:buNone/>
            </a:pPr>
            <a:r>
              <a:rPr lang="en-US" sz="1400" dirty="0">
                <a:solidFill>
                  <a:srgbClr val="FFC82C"/>
                </a:solidFill>
                <a:latin typeface="Courier New" pitchFamily="34" charset="0"/>
                <a:ea typeface="Courier New" pitchFamily="34" charset="-122"/>
                <a:cs typeface="Courier New" pitchFamily="34" charset="-120"/>
              </a:rPr>
              <a:t>   95421 mRNA</a:t>
            </a:r>
            <a:endParaRPr lang="en-US" sz="1400" dirty="0"/>
          </a:p>
        </p:txBody>
      </p:sp>
      <p:sp>
        <p:nvSpPr>
          <p:cNvPr id="28" name="Text 26"/>
          <p:cNvSpPr txBox="1"/>
          <p:nvPr/>
        </p:nvSpPr>
        <p:spPr>
          <a:xfrm>
            <a:off x="6684264" y="4038189"/>
            <a:ext cx="4672584" cy="265176"/>
          </a:xfrm>
          <a:prstGeom prst="rect">
            <a:avLst/>
          </a:prstGeom>
          <a:noFill/>
          <a:ln/>
        </p:spPr>
        <p:txBody>
          <a:bodyPr wrap="square" lIns="0" tIns="0" rIns="0" bIns="0" rtlCol="0" anchor="ctr"/>
          <a:lstStyle/>
          <a:p>
            <a:pPr marL="0" indent="0">
              <a:buNone/>
            </a:pPr>
            <a:r>
              <a:rPr lang="en-US" sz="1400" dirty="0">
                <a:solidFill>
                  <a:srgbClr val="FFC82C"/>
                </a:solidFill>
                <a:latin typeface="Courier New" pitchFamily="34" charset="0"/>
                <a:ea typeface="Courier New" pitchFamily="34" charset="-122"/>
                <a:cs typeface="Courier New" pitchFamily="34" charset="-120"/>
              </a:rPr>
              <a:t>   58721 five_prime_UTR</a:t>
            </a:r>
            <a:endParaRPr lang="en-US" sz="1400" dirty="0"/>
          </a:p>
        </p:txBody>
      </p:sp>
      <p:sp>
        <p:nvSpPr>
          <p:cNvPr id="29" name="Text 27"/>
          <p:cNvSpPr txBox="1"/>
          <p:nvPr/>
        </p:nvSpPr>
        <p:spPr>
          <a:xfrm>
            <a:off x="6684264" y="4303365"/>
            <a:ext cx="4672584" cy="265176"/>
          </a:xfrm>
          <a:prstGeom prst="rect">
            <a:avLst/>
          </a:prstGeom>
          <a:noFill/>
          <a:ln/>
        </p:spPr>
        <p:txBody>
          <a:bodyPr wrap="square" lIns="0" tIns="0" rIns="0" bIns="0" rtlCol="0" anchor="ctr"/>
          <a:lstStyle/>
          <a:p>
            <a:pPr marL="0" indent="0">
              <a:buNone/>
            </a:pPr>
            <a:r>
              <a:rPr lang="en-US" sz="1400" dirty="0">
                <a:solidFill>
                  <a:srgbClr val="FFC82C"/>
                </a:solidFill>
                <a:latin typeface="Courier New" pitchFamily="34" charset="0"/>
                <a:ea typeface="Courier New" pitchFamily="34" charset="-122"/>
                <a:cs typeface="Courier New" pitchFamily="34" charset="-120"/>
              </a:rPr>
              <a:t>   20047 gene</a:t>
            </a:r>
            <a:endParaRPr lang="en-US" sz="1400" dirty="0"/>
          </a:p>
        </p:txBody>
      </p:sp>
      <p:sp>
        <p:nvSpPr>
          <p:cNvPr id="30" name="Text 28"/>
          <p:cNvSpPr txBox="1"/>
          <p:nvPr/>
        </p:nvSpPr>
        <p:spPr>
          <a:xfrm>
            <a:off x="6684264" y="4568541"/>
            <a:ext cx="4672584" cy="265176"/>
          </a:xfrm>
          <a:prstGeom prst="rect">
            <a:avLst/>
          </a:prstGeom>
          <a:noFill/>
          <a:ln/>
        </p:spPr>
        <p:txBody>
          <a:bodyPr wrap="square" lIns="0" tIns="0" rIns="0" bIns="0" rtlCol="0" anchor="ctr"/>
          <a:lstStyle/>
          <a:p>
            <a:pPr marL="0" indent="0">
              <a:buNone/>
            </a:pPr>
            <a:r>
              <a:rPr lang="en-US" sz="1400" dirty="0">
                <a:solidFill>
                  <a:srgbClr val="FFC82C"/>
                </a:solidFill>
                <a:latin typeface="Courier New" pitchFamily="34" charset="0"/>
                <a:ea typeface="Courier New" pitchFamily="34" charset="-122"/>
                <a:cs typeface="Courier New" pitchFamily="34" charset="-120"/>
              </a:rPr>
              <a:t>     125 pseudogene</a:t>
            </a:r>
            <a:endParaRPr lang="en-US" sz="1400" dirty="0"/>
          </a:p>
        </p:txBody>
      </p:sp>
      <p:sp>
        <p:nvSpPr>
          <p:cNvPr id="31" name="Shape 29"/>
          <p:cNvSpPr/>
          <p:nvPr/>
        </p:nvSpPr>
        <p:spPr>
          <a:xfrm>
            <a:off x="504180" y="5182177"/>
            <a:ext cx="10963656" cy="960120"/>
          </a:xfrm>
          <a:prstGeom prst="roundRect">
            <a:avLst>
              <a:gd name="adj" fmla="val 5714"/>
            </a:avLst>
          </a:prstGeom>
          <a:solidFill>
            <a:srgbClr val="FFF8E6"/>
          </a:solidFill>
          <a:ln w="15875">
            <a:solidFill>
              <a:srgbClr val="FFC82C"/>
            </a:solidFill>
            <a:prstDash val="solid"/>
          </a:ln>
        </p:spPr>
        <p:txBody>
          <a:bodyPr/>
          <a:lstStyle/>
          <a:p>
            <a:endParaRPr lang="en-US"/>
          </a:p>
        </p:txBody>
      </p:sp>
      <p:sp>
        <p:nvSpPr>
          <p:cNvPr id="32" name="Text 30"/>
          <p:cNvSpPr txBox="1"/>
          <p:nvPr/>
        </p:nvSpPr>
        <p:spPr>
          <a:xfrm>
            <a:off x="888228" y="5248656"/>
            <a:ext cx="10195560" cy="893641"/>
          </a:xfrm>
          <a:prstGeom prst="rect">
            <a:avLst/>
          </a:prstGeom>
          <a:noFill/>
          <a:ln/>
        </p:spPr>
        <p:txBody>
          <a:bodyPr wrap="square" lIns="0" tIns="0" rIns="0" bIns="0" rtlCol="0" anchor="ctr"/>
          <a:lstStyle/>
          <a:p>
            <a:pPr marL="0" indent="0">
              <a:lnSpc>
                <a:spcPts val="1800"/>
              </a:lnSpc>
              <a:buNone/>
            </a:pPr>
            <a:r>
              <a:rPr lang="en-US" dirty="0">
                <a:solidFill>
                  <a:srgbClr val="1F2933"/>
                </a:solidFill>
                <a:latin typeface="Arial" pitchFamily="34" charset="0"/>
                <a:ea typeface="Arial" pitchFamily="34" charset="-122"/>
                <a:cs typeface="Arial" pitchFamily="34" charset="-120"/>
              </a:rPr>
              <a:t>uniq only collapses lines that are already adjacent. Without the sort in front of it you get nonsense and not an error message, just a wrong answer. This is the single most common mistake with this idiom.</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awk: when you need columns and arithmetic</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6035040" cy="658368"/>
          </a:xfrm>
          <a:prstGeom prst="roundRect">
            <a:avLst>
              <a:gd name="adj" fmla="val 8333"/>
            </a:avLst>
          </a:prstGeom>
          <a:solidFill>
            <a:srgbClr val="1F2933"/>
          </a:solidFill>
          <a:ln w="12700">
            <a:solidFill>
              <a:srgbClr val="1F2933"/>
            </a:solidFill>
            <a:prstDash val="solid"/>
          </a:ln>
        </p:spPr>
        <p:txBody>
          <a:bodyPr/>
          <a:lstStyle/>
          <a:p>
            <a:endParaRPr lang="en-US"/>
          </a:p>
        </p:txBody>
      </p:sp>
      <p:sp>
        <p:nvSpPr>
          <p:cNvPr id="5" name="Text 3"/>
          <p:cNvSpPr txBox="1"/>
          <p:nvPr/>
        </p:nvSpPr>
        <p:spPr>
          <a:xfrm>
            <a:off x="853135" y="1645920"/>
            <a:ext cx="5577840" cy="256032"/>
          </a:xfrm>
          <a:prstGeom prst="rect">
            <a:avLst/>
          </a:prstGeom>
          <a:noFill/>
          <a:ln/>
        </p:spPr>
        <p:txBody>
          <a:bodyPr wrap="square" lIns="0" tIns="0" rIns="0" bIns="0" rtlCol="0" anchor="ctr"/>
          <a:lstStyle/>
          <a:p>
            <a:pPr marL="0" indent="0">
              <a:buNone/>
            </a:pPr>
            <a:r>
              <a:rPr lang="en-US" sz="1600" dirty="0">
                <a:solidFill>
                  <a:srgbClr val="E8EDF2"/>
                </a:solidFill>
                <a:latin typeface="Courier New" pitchFamily="34" charset="0"/>
                <a:ea typeface="Courier New" pitchFamily="34" charset="-122"/>
                <a:cs typeface="Courier New" pitchFamily="34" charset="-120"/>
              </a:rPr>
              <a:t>awk 'pattern { action }' file</a:t>
            </a:r>
            <a:endParaRPr lang="en-US" sz="1600" dirty="0"/>
          </a:p>
        </p:txBody>
      </p:sp>
      <p:sp>
        <p:nvSpPr>
          <p:cNvPr id="6" name="Text 4"/>
          <p:cNvSpPr txBox="1"/>
          <p:nvPr/>
        </p:nvSpPr>
        <p:spPr>
          <a:xfrm>
            <a:off x="625301" y="2284024"/>
            <a:ext cx="6035040" cy="658368"/>
          </a:xfrm>
          <a:prstGeom prst="rect">
            <a:avLst/>
          </a:prstGeom>
          <a:noFill/>
          <a:ln/>
        </p:spPr>
        <p:txBody>
          <a:bodyPr wrap="square" lIns="0" tIns="0" rIns="0" bIns="0" rtlCol="0" anchor="ctr"/>
          <a:lstStyle/>
          <a:p>
            <a:pPr marL="0" indent="0">
              <a:lnSpc>
                <a:spcPts val="2000"/>
              </a:lnSpc>
              <a:buNone/>
            </a:pPr>
            <a:r>
              <a:rPr lang="en-US" sz="1600" dirty="0">
                <a:solidFill>
                  <a:srgbClr val="6B7280"/>
                </a:solidFill>
                <a:latin typeface="Arial" pitchFamily="34" charset="0"/>
                <a:ea typeface="Arial" pitchFamily="34" charset="-122"/>
                <a:cs typeface="Arial" pitchFamily="34" charset="-120"/>
              </a:rPr>
              <a:t>For every line: if the pattern is true, do the action. Leave out the pattern and it runs on every line; leave out the action and it prints matching lines.</a:t>
            </a:r>
            <a:endParaRPr lang="en-US" sz="1600" dirty="0"/>
          </a:p>
        </p:txBody>
      </p:sp>
      <p:sp>
        <p:nvSpPr>
          <p:cNvPr id="7" name="Text 5"/>
          <p:cNvSpPr txBox="1"/>
          <p:nvPr/>
        </p:nvSpPr>
        <p:spPr>
          <a:xfrm>
            <a:off x="706831" y="3086720"/>
            <a:ext cx="1737360" cy="274320"/>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$1, $2, $3…</a:t>
            </a:r>
            <a:endParaRPr lang="en-US" sz="1600" dirty="0"/>
          </a:p>
        </p:txBody>
      </p:sp>
      <p:sp>
        <p:nvSpPr>
          <p:cNvPr id="8" name="Text 6"/>
          <p:cNvSpPr txBox="1"/>
          <p:nvPr/>
        </p:nvSpPr>
        <p:spPr>
          <a:xfrm>
            <a:off x="2581351" y="3086720"/>
            <a:ext cx="4114800" cy="274320"/>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the columns, numbered from one</a:t>
            </a:r>
            <a:endParaRPr lang="en-US" sz="1400" dirty="0"/>
          </a:p>
        </p:txBody>
      </p:sp>
      <p:sp>
        <p:nvSpPr>
          <p:cNvPr id="9" name="Text 7"/>
          <p:cNvSpPr txBox="1"/>
          <p:nvPr/>
        </p:nvSpPr>
        <p:spPr>
          <a:xfrm>
            <a:off x="706831" y="3543920"/>
            <a:ext cx="1737360" cy="274320"/>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$0</a:t>
            </a:r>
            <a:endParaRPr lang="en-US" sz="1600" dirty="0"/>
          </a:p>
        </p:txBody>
      </p:sp>
      <p:sp>
        <p:nvSpPr>
          <p:cNvPr id="10" name="Text 8"/>
          <p:cNvSpPr txBox="1"/>
          <p:nvPr/>
        </p:nvSpPr>
        <p:spPr>
          <a:xfrm>
            <a:off x="2581351" y="3543920"/>
            <a:ext cx="4114800" cy="274320"/>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the whole line</a:t>
            </a:r>
            <a:endParaRPr lang="en-US" sz="1400" dirty="0"/>
          </a:p>
        </p:txBody>
      </p:sp>
      <p:sp>
        <p:nvSpPr>
          <p:cNvPr id="11" name="Text 9"/>
          <p:cNvSpPr txBox="1"/>
          <p:nvPr/>
        </p:nvSpPr>
        <p:spPr>
          <a:xfrm>
            <a:off x="706831" y="4001120"/>
            <a:ext cx="1737360" cy="274320"/>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NF</a:t>
            </a:r>
            <a:endParaRPr lang="en-US" sz="1600" dirty="0"/>
          </a:p>
        </p:txBody>
      </p:sp>
      <p:sp>
        <p:nvSpPr>
          <p:cNvPr id="12" name="Text 10"/>
          <p:cNvSpPr txBox="1"/>
          <p:nvPr/>
        </p:nvSpPr>
        <p:spPr>
          <a:xfrm>
            <a:off x="2581351" y="4001120"/>
            <a:ext cx="4114800" cy="274320"/>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number of fields on this line</a:t>
            </a:r>
            <a:endParaRPr lang="en-US" sz="1400" dirty="0"/>
          </a:p>
        </p:txBody>
      </p:sp>
      <p:sp>
        <p:nvSpPr>
          <p:cNvPr id="13" name="Text 11"/>
          <p:cNvSpPr txBox="1"/>
          <p:nvPr/>
        </p:nvSpPr>
        <p:spPr>
          <a:xfrm>
            <a:off x="706831" y="4458320"/>
            <a:ext cx="1737360" cy="274320"/>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NR</a:t>
            </a:r>
            <a:endParaRPr lang="en-US" sz="1600" dirty="0"/>
          </a:p>
        </p:txBody>
      </p:sp>
      <p:sp>
        <p:nvSpPr>
          <p:cNvPr id="14" name="Text 12"/>
          <p:cNvSpPr txBox="1"/>
          <p:nvPr/>
        </p:nvSpPr>
        <p:spPr>
          <a:xfrm>
            <a:off x="2581351" y="4458320"/>
            <a:ext cx="4114800" cy="274320"/>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the line number, counting from one</a:t>
            </a:r>
            <a:endParaRPr lang="en-US" sz="1400" dirty="0"/>
          </a:p>
        </p:txBody>
      </p:sp>
      <p:sp>
        <p:nvSpPr>
          <p:cNvPr id="15" name="Text 13"/>
          <p:cNvSpPr txBox="1"/>
          <p:nvPr/>
        </p:nvSpPr>
        <p:spPr>
          <a:xfrm>
            <a:off x="706831" y="4915520"/>
            <a:ext cx="1737360" cy="274320"/>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-F'\t'</a:t>
            </a:r>
            <a:endParaRPr lang="en-US" sz="1600" dirty="0"/>
          </a:p>
        </p:txBody>
      </p:sp>
      <p:sp>
        <p:nvSpPr>
          <p:cNvPr id="16" name="Text 14"/>
          <p:cNvSpPr txBox="1"/>
          <p:nvPr/>
        </p:nvSpPr>
        <p:spPr>
          <a:xfrm>
            <a:off x="2581351" y="4915520"/>
            <a:ext cx="4114800" cy="274320"/>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set the separator — essential for GFF and VCF</a:t>
            </a:r>
            <a:endParaRPr lang="en-US" sz="1400" dirty="0"/>
          </a:p>
        </p:txBody>
      </p:sp>
      <p:sp>
        <p:nvSpPr>
          <p:cNvPr id="17" name="Text 15"/>
          <p:cNvSpPr txBox="1"/>
          <p:nvPr/>
        </p:nvSpPr>
        <p:spPr>
          <a:xfrm>
            <a:off x="706831" y="5372720"/>
            <a:ext cx="1737360" cy="274320"/>
          </a:xfrm>
          <a:prstGeom prst="rect">
            <a:avLst/>
          </a:prstGeom>
          <a:noFill/>
          <a:ln/>
        </p:spPr>
        <p:txBody>
          <a:bodyPr wrap="square" lIns="0" tIns="0" rIns="0" bIns="0" rtlCol="0" anchor="ctr"/>
          <a:lstStyle/>
          <a:p>
            <a:pPr marL="0" indent="0">
              <a:buNone/>
            </a:pPr>
            <a:r>
              <a:rPr lang="en-US" sz="1600" b="1" dirty="0">
                <a:solidFill>
                  <a:srgbClr val="205081"/>
                </a:solidFill>
                <a:latin typeface="Courier New" pitchFamily="34" charset="0"/>
                <a:ea typeface="Courier New" pitchFamily="34" charset="-122"/>
                <a:cs typeface="Courier New" pitchFamily="34" charset="-120"/>
              </a:rPr>
              <a:t>END { }</a:t>
            </a:r>
            <a:endParaRPr lang="en-US" sz="1600" dirty="0"/>
          </a:p>
        </p:txBody>
      </p:sp>
      <p:sp>
        <p:nvSpPr>
          <p:cNvPr id="18" name="Text 16"/>
          <p:cNvSpPr txBox="1"/>
          <p:nvPr/>
        </p:nvSpPr>
        <p:spPr>
          <a:xfrm>
            <a:off x="2581351" y="5372720"/>
            <a:ext cx="4114800" cy="274320"/>
          </a:xfrm>
          <a:prstGeom prst="rect">
            <a:avLst/>
          </a:prstGeom>
          <a:noFill/>
          <a:ln/>
        </p:spPr>
        <p:txBody>
          <a:bodyPr wrap="square" lIns="0" tIns="0" rIns="0" bIns="0" rtlCol="0" anchor="ctr"/>
          <a:lstStyle/>
          <a:p>
            <a:pPr marL="0" indent="0">
              <a:buNone/>
            </a:pPr>
            <a:r>
              <a:rPr lang="en-US" sz="1400" dirty="0">
                <a:solidFill>
                  <a:srgbClr val="1F2933"/>
                </a:solidFill>
                <a:latin typeface="Arial" pitchFamily="34" charset="0"/>
                <a:ea typeface="Arial" pitchFamily="34" charset="-122"/>
                <a:cs typeface="Arial" pitchFamily="34" charset="-120"/>
              </a:rPr>
              <a:t>run this once, after the last line</a:t>
            </a:r>
            <a:endParaRPr lang="en-US" sz="1400" dirty="0"/>
          </a:p>
        </p:txBody>
      </p:sp>
      <p:sp>
        <p:nvSpPr>
          <p:cNvPr id="19" name="Shape 17"/>
          <p:cNvSpPr/>
          <p:nvPr/>
        </p:nvSpPr>
        <p:spPr>
          <a:xfrm>
            <a:off x="6720840" y="1481328"/>
            <a:ext cx="4855464" cy="3712464"/>
          </a:xfrm>
          <a:prstGeom prst="roundRect">
            <a:avLst>
              <a:gd name="adj" fmla="val 1481"/>
            </a:avLst>
          </a:prstGeom>
          <a:solidFill>
            <a:srgbClr val="EEF4FA"/>
          </a:solidFill>
          <a:ln w="12700">
            <a:solidFill>
              <a:srgbClr val="EEF4FA"/>
            </a:solidFill>
            <a:prstDash val="solid"/>
          </a:ln>
        </p:spPr>
        <p:txBody>
          <a:bodyPr/>
          <a:lstStyle/>
          <a:p>
            <a:endParaRPr lang="en-US"/>
          </a:p>
        </p:txBody>
      </p:sp>
      <p:sp>
        <p:nvSpPr>
          <p:cNvPr id="20" name="Text 18"/>
          <p:cNvSpPr txBox="1"/>
          <p:nvPr/>
        </p:nvSpPr>
        <p:spPr>
          <a:xfrm>
            <a:off x="7013448" y="1664208"/>
            <a:ext cx="4297680" cy="274320"/>
          </a:xfrm>
          <a:prstGeom prst="rect">
            <a:avLst/>
          </a:prstGeom>
          <a:noFill/>
          <a:ln/>
        </p:spPr>
        <p:txBody>
          <a:bodyPr wrap="square" lIns="0" tIns="0" rIns="0" bIns="0" rtlCol="0" anchor="ctr"/>
          <a:lstStyle/>
          <a:p>
            <a:pPr marL="0" indent="0">
              <a:buNone/>
            </a:pPr>
            <a:r>
              <a:rPr lang="en-US" b="1" dirty="0">
                <a:solidFill>
                  <a:srgbClr val="3172AE"/>
                </a:solidFill>
                <a:latin typeface="Arial" pitchFamily="34" charset="0"/>
                <a:ea typeface="Arial" pitchFamily="34" charset="-122"/>
                <a:cs typeface="Arial" pitchFamily="34" charset="-120"/>
              </a:rPr>
              <a:t>When to reach for </a:t>
            </a:r>
            <a:r>
              <a:rPr lang="en-US" sz="2000" b="1" dirty="0">
                <a:solidFill>
                  <a:srgbClr val="3172AE"/>
                </a:solidFill>
                <a:latin typeface="Arial" pitchFamily="34" charset="0"/>
                <a:ea typeface="Arial" pitchFamily="34" charset="-122"/>
                <a:cs typeface="Arial" pitchFamily="34" charset="-120"/>
              </a:rPr>
              <a:t>awk</a:t>
            </a:r>
            <a:r>
              <a:rPr lang="en-US" b="1" dirty="0">
                <a:solidFill>
                  <a:srgbClr val="3172AE"/>
                </a:solidFill>
                <a:latin typeface="Arial" pitchFamily="34" charset="0"/>
                <a:ea typeface="Arial" pitchFamily="34" charset="-122"/>
                <a:cs typeface="Arial" pitchFamily="34" charset="-120"/>
              </a:rPr>
              <a:t> instead of grep</a:t>
            </a:r>
            <a:endParaRPr lang="en-US" dirty="0"/>
          </a:p>
        </p:txBody>
      </p:sp>
      <p:sp>
        <p:nvSpPr>
          <p:cNvPr id="21" name="Text 19"/>
          <p:cNvSpPr txBox="1"/>
          <p:nvPr/>
        </p:nvSpPr>
        <p:spPr>
          <a:xfrm>
            <a:off x="7013448" y="2029967"/>
            <a:ext cx="4297680" cy="2344317"/>
          </a:xfrm>
          <a:prstGeom prst="rect">
            <a:avLst/>
          </a:prstGeom>
          <a:noFill/>
          <a:ln/>
        </p:spPr>
        <p:txBody>
          <a:bodyPr wrap="square" lIns="0" tIns="0" rIns="0" bIns="0" rtlCol="0" anchor="t"/>
          <a:lstStyle/>
          <a:p>
            <a:pPr marL="177800" indent="-177800">
              <a:spcAft>
                <a:spcPts val="1300"/>
              </a:spcAft>
              <a:buSzPct val="100000"/>
              <a:buChar char="●"/>
            </a:pPr>
            <a:r>
              <a:rPr lang="en-US" sz="1600" dirty="0">
                <a:solidFill>
                  <a:srgbClr val="1F2933"/>
                </a:solidFill>
                <a:latin typeface="Arial" pitchFamily="34" charset="0"/>
                <a:ea typeface="Arial" pitchFamily="34" charset="-122"/>
                <a:cs typeface="Arial" pitchFamily="34" charset="-120"/>
              </a:rPr>
              <a:t>You care about a specific column, not the whole line.</a:t>
            </a:r>
            <a:endParaRPr lang="en-US" sz="1600" dirty="0"/>
          </a:p>
          <a:p>
            <a:pPr marL="177800" indent="-177800">
              <a:spcAft>
                <a:spcPts val="1300"/>
              </a:spcAft>
              <a:buSzPct val="100000"/>
              <a:buChar char="●"/>
            </a:pPr>
            <a:r>
              <a:rPr lang="en-US" sz="1600" dirty="0">
                <a:solidFill>
                  <a:srgbClr val="1F2933"/>
                </a:solidFill>
                <a:latin typeface="Arial" pitchFamily="34" charset="0"/>
                <a:ea typeface="Arial" pitchFamily="34" charset="-122"/>
                <a:cs typeface="Arial" pitchFamily="34" charset="-120"/>
              </a:rPr>
              <a:t>You need to compare a number: $5 &gt; 1000.</a:t>
            </a:r>
            <a:endParaRPr lang="en-US" sz="1600" dirty="0"/>
          </a:p>
          <a:p>
            <a:pPr marL="177800" indent="-177800">
              <a:spcAft>
                <a:spcPts val="1300"/>
              </a:spcAft>
              <a:buSzPct val="100000"/>
              <a:buChar char="●"/>
            </a:pPr>
            <a:r>
              <a:rPr lang="en-US" sz="1600" dirty="0">
                <a:solidFill>
                  <a:srgbClr val="1F2933"/>
                </a:solidFill>
                <a:latin typeface="Arial" pitchFamily="34" charset="0"/>
                <a:ea typeface="Arial" pitchFamily="34" charset="-122"/>
                <a:cs typeface="Arial" pitchFamily="34" charset="-120"/>
              </a:rPr>
              <a:t>You need to add things up across lines.</a:t>
            </a:r>
            <a:endParaRPr lang="en-US" sz="1600" dirty="0"/>
          </a:p>
          <a:p>
            <a:pPr marL="177800" indent="-177800">
              <a:spcAft>
                <a:spcPts val="1300"/>
              </a:spcAft>
              <a:buSzPct val="100000"/>
              <a:buChar char="●"/>
            </a:pPr>
            <a:r>
              <a:rPr lang="en-US" sz="1600" dirty="0">
                <a:solidFill>
                  <a:srgbClr val="1F2933"/>
                </a:solidFill>
                <a:latin typeface="Arial" pitchFamily="34" charset="0"/>
                <a:ea typeface="Arial" pitchFamily="34" charset="-122"/>
                <a:cs typeface="Arial" pitchFamily="34" charset="-120"/>
              </a:rPr>
              <a:t>The thing you are matching could appear in the wrong column.</a:t>
            </a:r>
            <a:endParaRPr lang="en-US" sz="1600" dirty="0"/>
          </a:p>
        </p:txBody>
      </p:sp>
      <p:sp>
        <p:nvSpPr>
          <p:cNvPr id="22" name="Shape 20"/>
          <p:cNvSpPr/>
          <p:nvPr/>
        </p:nvSpPr>
        <p:spPr>
          <a:xfrm>
            <a:off x="7013448" y="4205005"/>
            <a:ext cx="4206240" cy="0"/>
          </a:xfrm>
          <a:prstGeom prst="line">
            <a:avLst/>
          </a:prstGeom>
          <a:noFill/>
          <a:ln w="12700">
            <a:solidFill>
              <a:srgbClr val="D6DEE7"/>
            </a:solidFill>
            <a:prstDash val="solid"/>
          </a:ln>
        </p:spPr>
        <p:txBody>
          <a:bodyPr/>
          <a:lstStyle/>
          <a:p>
            <a:endParaRPr lang="en-US"/>
          </a:p>
        </p:txBody>
      </p:sp>
      <p:sp>
        <p:nvSpPr>
          <p:cNvPr id="23" name="Text 21"/>
          <p:cNvSpPr txBox="1"/>
          <p:nvPr/>
        </p:nvSpPr>
        <p:spPr>
          <a:xfrm>
            <a:off x="7013448" y="4322394"/>
            <a:ext cx="4297680" cy="731520"/>
          </a:xfrm>
          <a:prstGeom prst="rect">
            <a:avLst/>
          </a:prstGeom>
          <a:noFill/>
          <a:ln/>
        </p:spPr>
        <p:txBody>
          <a:bodyPr wrap="square" lIns="0" tIns="0" rIns="0" bIns="0" rtlCol="0" anchor="ctr"/>
          <a:lstStyle/>
          <a:p>
            <a:pPr marL="0" indent="0">
              <a:lnSpc>
                <a:spcPts val="1700"/>
              </a:lnSpc>
              <a:buNone/>
            </a:pPr>
            <a:r>
              <a:rPr lang="en-US" sz="1600" i="1" dirty="0">
                <a:solidFill>
                  <a:srgbClr val="205081"/>
                </a:solidFill>
                <a:latin typeface="Arial" pitchFamily="34" charset="0"/>
                <a:ea typeface="Arial" pitchFamily="34" charset="-122"/>
                <a:cs typeface="Arial" pitchFamily="34" charset="-120"/>
              </a:rPr>
              <a:t>awk is a complete programming language. You will use about four percent of it, forever, and that is entirely respectable.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awk, four one-liners worth keeping</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0" y="1444752"/>
            <a:ext cx="11202619" cy="932688"/>
          </a:xfrm>
          <a:prstGeom prst="roundRect">
            <a:avLst>
              <a:gd name="adj" fmla="val 5882"/>
            </a:avLst>
          </a:prstGeom>
          <a:solidFill>
            <a:srgbClr val="FAFBFC"/>
          </a:solidFill>
          <a:ln w="12700">
            <a:solidFill>
              <a:srgbClr val="FAFBFC"/>
            </a:solidFill>
            <a:prstDash val="solid"/>
          </a:ln>
        </p:spPr>
        <p:txBody>
          <a:bodyPr/>
          <a:lstStyle/>
          <a:p>
            <a:endParaRPr lang="en-US" sz="2400"/>
          </a:p>
        </p:txBody>
      </p:sp>
      <p:sp>
        <p:nvSpPr>
          <p:cNvPr id="5" name="Text 3"/>
          <p:cNvSpPr txBox="1"/>
          <p:nvPr/>
        </p:nvSpPr>
        <p:spPr>
          <a:xfrm>
            <a:off x="754279" y="1554480"/>
            <a:ext cx="2011680" cy="256032"/>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Count genes</a:t>
            </a:r>
            <a:endParaRPr lang="en-US" sz="1600" dirty="0"/>
          </a:p>
        </p:txBody>
      </p:sp>
      <p:sp>
        <p:nvSpPr>
          <p:cNvPr id="6" name="Text 4"/>
          <p:cNvSpPr txBox="1"/>
          <p:nvPr/>
        </p:nvSpPr>
        <p:spPr>
          <a:xfrm>
            <a:off x="754279" y="1828800"/>
            <a:ext cx="5943600" cy="25603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 awk -F'\t' '$3=="gene"' anno.gff3 | wc -l</a:t>
            </a:r>
            <a:endParaRPr lang="en-US" sz="1200" dirty="0"/>
          </a:p>
        </p:txBody>
      </p:sp>
      <p:sp>
        <p:nvSpPr>
          <p:cNvPr id="7" name="Text 5"/>
          <p:cNvSpPr txBox="1"/>
          <p:nvPr/>
        </p:nvSpPr>
        <p:spPr>
          <a:xfrm>
            <a:off x="754279" y="2084832"/>
            <a:ext cx="1828800" cy="237744"/>
          </a:xfrm>
          <a:prstGeom prst="rect">
            <a:avLst/>
          </a:prstGeom>
          <a:noFill/>
          <a:ln/>
        </p:spPr>
        <p:txBody>
          <a:bodyPr wrap="square" lIns="0" tIns="0" rIns="0" bIns="0" rtlCol="0" anchor="ctr"/>
          <a:lstStyle/>
          <a:p>
            <a:pPr marL="0" indent="0">
              <a:buNone/>
            </a:pPr>
            <a:r>
              <a:rPr lang="en-US" sz="1400" b="1" dirty="0">
                <a:solidFill>
                  <a:srgbClr val="2E7D32"/>
                </a:solidFill>
                <a:latin typeface="Courier New" pitchFamily="34" charset="0"/>
                <a:ea typeface="Courier New" pitchFamily="34" charset="-122"/>
                <a:cs typeface="Courier New" pitchFamily="34" charset="-120"/>
              </a:rPr>
              <a:t>20047</a:t>
            </a:r>
            <a:endParaRPr lang="en-US" sz="1400" dirty="0"/>
          </a:p>
        </p:txBody>
      </p:sp>
      <p:sp>
        <p:nvSpPr>
          <p:cNvPr id="8" name="Text 6"/>
          <p:cNvSpPr txBox="1"/>
          <p:nvPr/>
        </p:nvSpPr>
        <p:spPr>
          <a:xfrm>
            <a:off x="6788810" y="1627632"/>
            <a:ext cx="5029200" cy="658368"/>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Arial" pitchFamily="34" charset="0"/>
                <a:ea typeface="Arial" pitchFamily="34" charset="-122"/>
                <a:cs typeface="Arial" pitchFamily="34" charset="-120"/>
              </a:rPr>
              <a:t>Pattern only, no action. Matching lines are printed.</a:t>
            </a:r>
            <a:endParaRPr lang="en-US" sz="1400" dirty="0"/>
          </a:p>
        </p:txBody>
      </p:sp>
      <p:sp>
        <p:nvSpPr>
          <p:cNvPr id="9" name="Shape 7"/>
          <p:cNvSpPr/>
          <p:nvPr/>
        </p:nvSpPr>
        <p:spPr>
          <a:xfrm>
            <a:off x="615391" y="2505456"/>
            <a:ext cx="10963656" cy="932688"/>
          </a:xfrm>
          <a:prstGeom prst="roundRect">
            <a:avLst>
              <a:gd name="adj" fmla="val 5882"/>
            </a:avLst>
          </a:prstGeom>
          <a:solidFill>
            <a:srgbClr val="FFFFFF"/>
          </a:solidFill>
          <a:ln w="12700">
            <a:solidFill>
              <a:srgbClr val="FFFFFF"/>
            </a:solidFill>
            <a:prstDash val="solid"/>
          </a:ln>
        </p:spPr>
        <p:txBody>
          <a:bodyPr/>
          <a:lstStyle/>
          <a:p>
            <a:endParaRPr lang="en-US" sz="2400"/>
          </a:p>
        </p:txBody>
      </p:sp>
      <p:sp>
        <p:nvSpPr>
          <p:cNvPr id="10" name="Text 8"/>
          <p:cNvSpPr txBox="1"/>
          <p:nvPr/>
        </p:nvSpPr>
        <p:spPr>
          <a:xfrm>
            <a:off x="754279" y="2615184"/>
            <a:ext cx="2011680" cy="256032"/>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Total exonic bases</a:t>
            </a:r>
            <a:endParaRPr lang="en-US" sz="1600" dirty="0"/>
          </a:p>
        </p:txBody>
      </p:sp>
      <p:sp>
        <p:nvSpPr>
          <p:cNvPr id="11" name="Text 9"/>
          <p:cNvSpPr txBox="1"/>
          <p:nvPr/>
        </p:nvSpPr>
        <p:spPr>
          <a:xfrm>
            <a:off x="754279" y="2889504"/>
            <a:ext cx="5943600" cy="25603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 awk -F'\t' '$3=="exon" {s += $5-$4+1} END {print s}' anno.gff3</a:t>
            </a:r>
            <a:endParaRPr lang="en-US" sz="1200" dirty="0"/>
          </a:p>
        </p:txBody>
      </p:sp>
      <p:sp>
        <p:nvSpPr>
          <p:cNvPr id="12" name="Text 10"/>
          <p:cNvSpPr txBox="1"/>
          <p:nvPr/>
        </p:nvSpPr>
        <p:spPr>
          <a:xfrm>
            <a:off x="754279" y="3145536"/>
            <a:ext cx="1828800" cy="237744"/>
          </a:xfrm>
          <a:prstGeom prst="rect">
            <a:avLst/>
          </a:prstGeom>
          <a:noFill/>
          <a:ln/>
        </p:spPr>
        <p:txBody>
          <a:bodyPr wrap="square" lIns="0" tIns="0" rIns="0" bIns="0" rtlCol="0" anchor="ctr"/>
          <a:lstStyle/>
          <a:p>
            <a:pPr marL="0" indent="0">
              <a:buNone/>
            </a:pPr>
            <a:r>
              <a:rPr lang="en-US" sz="1400" b="1" dirty="0">
                <a:solidFill>
                  <a:srgbClr val="2E7D32"/>
                </a:solidFill>
                <a:latin typeface="Courier New" pitchFamily="34" charset="0"/>
                <a:ea typeface="Courier New" pitchFamily="34" charset="-122"/>
                <a:cs typeface="Courier New" pitchFamily="34" charset="-120"/>
              </a:rPr>
              <a:t>84129552</a:t>
            </a:r>
            <a:endParaRPr lang="en-US" sz="1400" dirty="0"/>
          </a:p>
        </p:txBody>
      </p:sp>
      <p:sp>
        <p:nvSpPr>
          <p:cNvPr id="13" name="Text 11"/>
          <p:cNvSpPr txBox="1"/>
          <p:nvPr/>
        </p:nvSpPr>
        <p:spPr>
          <a:xfrm>
            <a:off x="6788810" y="2688336"/>
            <a:ext cx="5029200" cy="658368"/>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Arial" pitchFamily="34" charset="0"/>
                <a:ea typeface="Arial" pitchFamily="34" charset="-122"/>
                <a:cs typeface="Arial" pitchFamily="34" charset="-120"/>
              </a:rPr>
              <a:t>The +1 is because GFF3 is 1-based inclusive. Leave it out and you undercount by one base per exon.</a:t>
            </a:r>
            <a:endParaRPr lang="en-US" sz="1400" dirty="0"/>
          </a:p>
        </p:txBody>
      </p:sp>
      <p:sp>
        <p:nvSpPr>
          <p:cNvPr id="14" name="Shape 12"/>
          <p:cNvSpPr/>
          <p:nvPr/>
        </p:nvSpPr>
        <p:spPr>
          <a:xfrm>
            <a:off x="615391" y="3566160"/>
            <a:ext cx="10963656" cy="932688"/>
          </a:xfrm>
          <a:prstGeom prst="roundRect">
            <a:avLst>
              <a:gd name="adj" fmla="val 5882"/>
            </a:avLst>
          </a:prstGeom>
          <a:solidFill>
            <a:srgbClr val="FAFBFC"/>
          </a:solidFill>
          <a:ln w="12700">
            <a:solidFill>
              <a:srgbClr val="FAFBFC"/>
            </a:solidFill>
            <a:prstDash val="solid"/>
          </a:ln>
        </p:spPr>
        <p:txBody>
          <a:bodyPr/>
          <a:lstStyle/>
          <a:p>
            <a:endParaRPr lang="en-US" sz="2400"/>
          </a:p>
        </p:txBody>
      </p:sp>
      <p:sp>
        <p:nvSpPr>
          <p:cNvPr id="15" name="Text 13"/>
          <p:cNvSpPr txBox="1"/>
          <p:nvPr/>
        </p:nvSpPr>
        <p:spPr>
          <a:xfrm>
            <a:off x="754279" y="3675888"/>
            <a:ext cx="2011680" cy="256032"/>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Long features only</a:t>
            </a:r>
            <a:endParaRPr lang="en-US" sz="1600" dirty="0"/>
          </a:p>
        </p:txBody>
      </p:sp>
      <p:sp>
        <p:nvSpPr>
          <p:cNvPr id="16" name="Text 14"/>
          <p:cNvSpPr txBox="1"/>
          <p:nvPr/>
        </p:nvSpPr>
        <p:spPr>
          <a:xfrm>
            <a:off x="754279" y="3950208"/>
            <a:ext cx="5943600" cy="25603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 awk -F'\t' '$3=="gene" &amp;&amp; $5-$4 &gt; 100000' anno.gff3 | wc -l</a:t>
            </a:r>
            <a:endParaRPr lang="en-US" sz="1200" dirty="0"/>
          </a:p>
        </p:txBody>
      </p:sp>
      <p:sp>
        <p:nvSpPr>
          <p:cNvPr id="17" name="Text 15"/>
          <p:cNvSpPr txBox="1"/>
          <p:nvPr/>
        </p:nvSpPr>
        <p:spPr>
          <a:xfrm>
            <a:off x="754279" y="4206240"/>
            <a:ext cx="1828800" cy="237744"/>
          </a:xfrm>
          <a:prstGeom prst="rect">
            <a:avLst/>
          </a:prstGeom>
          <a:noFill/>
          <a:ln/>
        </p:spPr>
        <p:txBody>
          <a:bodyPr wrap="square" lIns="0" tIns="0" rIns="0" bIns="0" rtlCol="0" anchor="ctr"/>
          <a:lstStyle/>
          <a:p>
            <a:pPr marL="0" indent="0">
              <a:buNone/>
            </a:pPr>
            <a:r>
              <a:rPr lang="en-US" sz="1400" b="1" dirty="0">
                <a:solidFill>
                  <a:srgbClr val="2E7D32"/>
                </a:solidFill>
                <a:latin typeface="Courier New" pitchFamily="34" charset="0"/>
                <a:ea typeface="Courier New" pitchFamily="34" charset="-122"/>
                <a:cs typeface="Courier New" pitchFamily="34" charset="-120"/>
              </a:rPr>
              <a:t>1832</a:t>
            </a:r>
            <a:endParaRPr lang="en-US" sz="1400" dirty="0"/>
          </a:p>
        </p:txBody>
      </p:sp>
      <p:sp>
        <p:nvSpPr>
          <p:cNvPr id="18" name="Text 16"/>
          <p:cNvSpPr txBox="1"/>
          <p:nvPr/>
        </p:nvSpPr>
        <p:spPr>
          <a:xfrm>
            <a:off x="6788810" y="3749040"/>
            <a:ext cx="5029200" cy="658368"/>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Arial" pitchFamily="34" charset="0"/>
                <a:ea typeface="Arial" pitchFamily="34" charset="-122"/>
                <a:cs typeface="Arial" pitchFamily="34" charset="-120"/>
              </a:rPr>
              <a:t>Comparison in the pattern. grep cannot do this at all.</a:t>
            </a:r>
            <a:endParaRPr lang="en-US" sz="1400" dirty="0"/>
          </a:p>
        </p:txBody>
      </p:sp>
      <p:sp>
        <p:nvSpPr>
          <p:cNvPr id="19" name="Shape 17"/>
          <p:cNvSpPr/>
          <p:nvPr/>
        </p:nvSpPr>
        <p:spPr>
          <a:xfrm>
            <a:off x="615391" y="4626864"/>
            <a:ext cx="10963656" cy="932688"/>
          </a:xfrm>
          <a:prstGeom prst="roundRect">
            <a:avLst>
              <a:gd name="adj" fmla="val 5882"/>
            </a:avLst>
          </a:prstGeom>
          <a:solidFill>
            <a:srgbClr val="FFFFFF"/>
          </a:solidFill>
          <a:ln w="12700">
            <a:solidFill>
              <a:srgbClr val="FFFFFF"/>
            </a:solidFill>
            <a:prstDash val="solid"/>
          </a:ln>
        </p:spPr>
        <p:txBody>
          <a:bodyPr/>
          <a:lstStyle/>
          <a:p>
            <a:endParaRPr lang="en-US" sz="2400"/>
          </a:p>
        </p:txBody>
      </p:sp>
      <p:sp>
        <p:nvSpPr>
          <p:cNvPr id="20" name="Text 18"/>
          <p:cNvSpPr txBox="1"/>
          <p:nvPr/>
        </p:nvSpPr>
        <p:spPr>
          <a:xfrm>
            <a:off x="754278" y="4736592"/>
            <a:ext cx="2928033" cy="219456"/>
          </a:xfrm>
          <a:prstGeom prst="rect">
            <a:avLst/>
          </a:prstGeom>
          <a:noFill/>
          <a:ln/>
        </p:spPr>
        <p:txBody>
          <a:bodyPr wrap="square" lIns="0" tIns="0" rIns="0" bIns="0" rtlCol="0" anchor="ctr"/>
          <a:lstStyle/>
          <a:p>
            <a:pPr marL="0" indent="0">
              <a:buNone/>
            </a:pPr>
            <a:r>
              <a:rPr lang="en-US" sz="1600" b="1" dirty="0">
                <a:solidFill>
                  <a:srgbClr val="205081"/>
                </a:solidFill>
                <a:latin typeface="Arial" pitchFamily="34" charset="0"/>
                <a:ea typeface="Arial" pitchFamily="34" charset="-122"/>
                <a:cs typeface="Arial" pitchFamily="34" charset="-120"/>
              </a:rPr>
              <a:t>Count reads in a FASTQ</a:t>
            </a:r>
            <a:endParaRPr lang="en-US" sz="1600" dirty="0"/>
          </a:p>
        </p:txBody>
      </p:sp>
      <p:sp>
        <p:nvSpPr>
          <p:cNvPr id="21" name="Text 19"/>
          <p:cNvSpPr txBox="1"/>
          <p:nvPr/>
        </p:nvSpPr>
        <p:spPr>
          <a:xfrm>
            <a:off x="754279" y="5010912"/>
            <a:ext cx="5943600" cy="25603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 awk 'NR%4==1' reads.fastq | wc -l</a:t>
            </a:r>
            <a:endParaRPr lang="en-US" sz="1200" dirty="0"/>
          </a:p>
        </p:txBody>
      </p:sp>
      <p:sp>
        <p:nvSpPr>
          <p:cNvPr id="22" name="Text 20"/>
          <p:cNvSpPr txBox="1"/>
          <p:nvPr/>
        </p:nvSpPr>
        <p:spPr>
          <a:xfrm>
            <a:off x="754279" y="5266944"/>
            <a:ext cx="1828800" cy="237744"/>
          </a:xfrm>
          <a:prstGeom prst="rect">
            <a:avLst/>
          </a:prstGeom>
          <a:noFill/>
          <a:ln/>
        </p:spPr>
        <p:txBody>
          <a:bodyPr wrap="square" lIns="0" tIns="0" rIns="0" bIns="0" rtlCol="0" anchor="ctr"/>
          <a:lstStyle/>
          <a:p>
            <a:pPr marL="0" indent="0">
              <a:buNone/>
            </a:pPr>
            <a:r>
              <a:rPr lang="en-US" sz="1400" b="1" dirty="0">
                <a:solidFill>
                  <a:srgbClr val="2E7D32"/>
                </a:solidFill>
                <a:latin typeface="Courier New" pitchFamily="34" charset="0"/>
                <a:ea typeface="Courier New" pitchFamily="34" charset="-122"/>
                <a:cs typeface="Courier New" pitchFamily="34" charset="-120"/>
              </a:rPr>
              <a:t>1000000</a:t>
            </a:r>
            <a:endParaRPr lang="en-US" sz="1400" dirty="0"/>
          </a:p>
        </p:txBody>
      </p:sp>
      <p:sp>
        <p:nvSpPr>
          <p:cNvPr id="23" name="Text 21"/>
          <p:cNvSpPr txBox="1"/>
          <p:nvPr/>
        </p:nvSpPr>
        <p:spPr>
          <a:xfrm>
            <a:off x="6788810" y="4809744"/>
            <a:ext cx="5029200" cy="658368"/>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Arial" pitchFamily="34" charset="0"/>
                <a:ea typeface="Arial" pitchFamily="34" charset="-122"/>
                <a:cs typeface="Arial" pitchFamily="34" charset="-120"/>
              </a:rPr>
              <a:t>Every fourth line starting at line one is a header. Safer than dividing wc -l by four, which breaks silently on a truncated file. Keep this one — it returns in Week 2.</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sed: change something on every line</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TEXT PROCESSING</a:t>
            </a:r>
            <a:endParaRPr lang="en-US" sz="1200" dirty="0"/>
          </a:p>
        </p:txBody>
      </p:sp>
      <p:sp>
        <p:nvSpPr>
          <p:cNvPr id="4" name="Shape 2"/>
          <p:cNvSpPr/>
          <p:nvPr/>
        </p:nvSpPr>
        <p:spPr>
          <a:xfrm>
            <a:off x="615391" y="1481328"/>
            <a:ext cx="6035040" cy="658368"/>
          </a:xfrm>
          <a:prstGeom prst="roundRect">
            <a:avLst>
              <a:gd name="adj" fmla="val 8333"/>
            </a:avLst>
          </a:prstGeom>
          <a:solidFill>
            <a:srgbClr val="1F2933"/>
          </a:solidFill>
          <a:ln w="12700">
            <a:solidFill>
              <a:srgbClr val="1F2933"/>
            </a:solidFill>
            <a:prstDash val="solid"/>
          </a:ln>
        </p:spPr>
        <p:txBody>
          <a:bodyPr/>
          <a:lstStyle/>
          <a:p>
            <a:endParaRPr lang="en-US" sz="2800"/>
          </a:p>
        </p:txBody>
      </p:sp>
      <p:sp>
        <p:nvSpPr>
          <p:cNvPr id="5" name="Text 3"/>
          <p:cNvSpPr txBox="1"/>
          <p:nvPr/>
        </p:nvSpPr>
        <p:spPr>
          <a:xfrm>
            <a:off x="853135" y="1645920"/>
            <a:ext cx="5577840" cy="256032"/>
          </a:xfrm>
          <a:prstGeom prst="rect">
            <a:avLst/>
          </a:prstGeom>
          <a:noFill/>
          <a:ln/>
        </p:spPr>
        <p:txBody>
          <a:bodyPr wrap="square" lIns="0" tIns="0" rIns="0" bIns="0" rtlCol="0" anchor="ctr"/>
          <a:lstStyle/>
          <a:p>
            <a:pPr marL="0" indent="0">
              <a:buNone/>
            </a:pPr>
            <a:r>
              <a:rPr lang="en-US" sz="2000" dirty="0">
                <a:solidFill>
                  <a:srgbClr val="E8EDF2"/>
                </a:solidFill>
                <a:latin typeface="Courier New" pitchFamily="34" charset="0"/>
                <a:ea typeface="Courier New" pitchFamily="34" charset="-122"/>
                <a:cs typeface="Courier New" pitchFamily="34" charset="-120"/>
              </a:rPr>
              <a:t>sed 's/old/new/g' file</a:t>
            </a:r>
            <a:endParaRPr lang="en-US" sz="2000" dirty="0"/>
          </a:p>
        </p:txBody>
      </p:sp>
      <p:sp>
        <p:nvSpPr>
          <p:cNvPr id="6" name="Text 4"/>
          <p:cNvSpPr txBox="1"/>
          <p:nvPr/>
        </p:nvSpPr>
        <p:spPr>
          <a:xfrm>
            <a:off x="706831" y="2322576"/>
            <a:ext cx="822960" cy="274320"/>
          </a:xfrm>
          <a:prstGeom prst="rect">
            <a:avLst/>
          </a:prstGeom>
          <a:noFill/>
          <a:ln/>
        </p:spPr>
        <p:txBody>
          <a:bodyPr wrap="square" lIns="0" tIns="0" rIns="0" bIns="0" rtlCol="0" anchor="ctr"/>
          <a:lstStyle/>
          <a:p>
            <a:pPr marL="0" indent="0">
              <a:buNone/>
            </a:pPr>
            <a:r>
              <a:rPr lang="en-US" b="1" dirty="0">
                <a:solidFill>
                  <a:srgbClr val="205081"/>
                </a:solidFill>
                <a:latin typeface="Courier New" pitchFamily="34" charset="0"/>
                <a:ea typeface="Courier New" pitchFamily="34" charset="-122"/>
                <a:cs typeface="Courier New" pitchFamily="34" charset="-120"/>
              </a:rPr>
              <a:t>s</a:t>
            </a:r>
            <a:endParaRPr lang="en-US" dirty="0"/>
          </a:p>
        </p:txBody>
      </p:sp>
      <p:sp>
        <p:nvSpPr>
          <p:cNvPr id="7" name="Text 5"/>
          <p:cNvSpPr txBox="1"/>
          <p:nvPr/>
        </p:nvSpPr>
        <p:spPr>
          <a:xfrm>
            <a:off x="1666951" y="2322576"/>
            <a:ext cx="4937760" cy="27432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substitute</a:t>
            </a:r>
            <a:endParaRPr lang="en-US" sz="1600" dirty="0"/>
          </a:p>
        </p:txBody>
      </p:sp>
      <p:sp>
        <p:nvSpPr>
          <p:cNvPr id="8" name="Text 6"/>
          <p:cNvSpPr txBox="1"/>
          <p:nvPr/>
        </p:nvSpPr>
        <p:spPr>
          <a:xfrm>
            <a:off x="706831" y="2779776"/>
            <a:ext cx="822960" cy="274320"/>
          </a:xfrm>
          <a:prstGeom prst="rect">
            <a:avLst/>
          </a:prstGeom>
          <a:noFill/>
          <a:ln/>
        </p:spPr>
        <p:txBody>
          <a:bodyPr wrap="square" lIns="0" tIns="0" rIns="0" bIns="0" rtlCol="0" anchor="ctr"/>
          <a:lstStyle/>
          <a:p>
            <a:pPr marL="0" indent="0">
              <a:buNone/>
            </a:pPr>
            <a:r>
              <a:rPr lang="en-US" b="1" dirty="0">
                <a:solidFill>
                  <a:srgbClr val="205081"/>
                </a:solidFill>
                <a:latin typeface="Courier New" pitchFamily="34" charset="0"/>
                <a:ea typeface="Courier New" pitchFamily="34" charset="-122"/>
                <a:cs typeface="Courier New" pitchFamily="34" charset="-120"/>
              </a:rPr>
              <a:t>/old/</a:t>
            </a:r>
            <a:endParaRPr lang="en-US" dirty="0"/>
          </a:p>
        </p:txBody>
      </p:sp>
      <p:sp>
        <p:nvSpPr>
          <p:cNvPr id="9" name="Text 7"/>
          <p:cNvSpPr txBox="1"/>
          <p:nvPr/>
        </p:nvSpPr>
        <p:spPr>
          <a:xfrm>
            <a:off x="1666951" y="2779776"/>
            <a:ext cx="4937760" cy="27432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what to find</a:t>
            </a:r>
            <a:endParaRPr lang="en-US" sz="1600" dirty="0"/>
          </a:p>
        </p:txBody>
      </p:sp>
      <p:sp>
        <p:nvSpPr>
          <p:cNvPr id="10" name="Text 8"/>
          <p:cNvSpPr txBox="1"/>
          <p:nvPr/>
        </p:nvSpPr>
        <p:spPr>
          <a:xfrm>
            <a:off x="706831" y="3236976"/>
            <a:ext cx="822960" cy="274320"/>
          </a:xfrm>
          <a:prstGeom prst="rect">
            <a:avLst/>
          </a:prstGeom>
          <a:noFill/>
          <a:ln/>
        </p:spPr>
        <p:txBody>
          <a:bodyPr wrap="square" lIns="0" tIns="0" rIns="0" bIns="0" rtlCol="0" anchor="ctr"/>
          <a:lstStyle/>
          <a:p>
            <a:pPr marL="0" indent="0">
              <a:buNone/>
            </a:pPr>
            <a:r>
              <a:rPr lang="en-US" b="1" dirty="0">
                <a:solidFill>
                  <a:srgbClr val="205081"/>
                </a:solidFill>
                <a:latin typeface="Courier New" pitchFamily="34" charset="0"/>
                <a:ea typeface="Courier New" pitchFamily="34" charset="-122"/>
                <a:cs typeface="Courier New" pitchFamily="34" charset="-120"/>
              </a:rPr>
              <a:t>/new/</a:t>
            </a:r>
            <a:endParaRPr lang="en-US" dirty="0"/>
          </a:p>
        </p:txBody>
      </p:sp>
      <p:sp>
        <p:nvSpPr>
          <p:cNvPr id="11" name="Text 9"/>
          <p:cNvSpPr txBox="1"/>
          <p:nvPr/>
        </p:nvSpPr>
        <p:spPr>
          <a:xfrm>
            <a:off x="1666951" y="3236976"/>
            <a:ext cx="4937760" cy="27432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what to put there</a:t>
            </a:r>
            <a:endParaRPr lang="en-US" sz="1600" dirty="0"/>
          </a:p>
        </p:txBody>
      </p:sp>
      <p:sp>
        <p:nvSpPr>
          <p:cNvPr id="12" name="Text 10"/>
          <p:cNvSpPr txBox="1"/>
          <p:nvPr/>
        </p:nvSpPr>
        <p:spPr>
          <a:xfrm>
            <a:off x="706831" y="3694176"/>
            <a:ext cx="822960" cy="274320"/>
          </a:xfrm>
          <a:prstGeom prst="rect">
            <a:avLst/>
          </a:prstGeom>
          <a:noFill/>
          <a:ln/>
        </p:spPr>
        <p:txBody>
          <a:bodyPr wrap="square" lIns="0" tIns="0" rIns="0" bIns="0" rtlCol="0" anchor="ctr"/>
          <a:lstStyle/>
          <a:p>
            <a:pPr marL="0" indent="0">
              <a:buNone/>
            </a:pPr>
            <a:r>
              <a:rPr lang="en-US" b="1" dirty="0">
                <a:solidFill>
                  <a:srgbClr val="205081"/>
                </a:solidFill>
                <a:latin typeface="Courier New" pitchFamily="34" charset="0"/>
                <a:ea typeface="Courier New" pitchFamily="34" charset="-122"/>
                <a:cs typeface="Courier New" pitchFamily="34" charset="-120"/>
              </a:rPr>
              <a:t>g</a:t>
            </a:r>
            <a:endParaRPr lang="en-US" dirty="0"/>
          </a:p>
        </p:txBody>
      </p:sp>
      <p:sp>
        <p:nvSpPr>
          <p:cNvPr id="13" name="Text 11"/>
          <p:cNvSpPr txBox="1"/>
          <p:nvPr/>
        </p:nvSpPr>
        <p:spPr>
          <a:xfrm>
            <a:off x="1666951" y="3694176"/>
            <a:ext cx="4937760" cy="274320"/>
          </a:xfrm>
          <a:prstGeom prst="rect">
            <a:avLst/>
          </a:prstGeom>
          <a:noFill/>
          <a:ln/>
        </p:spPr>
        <p:txBody>
          <a:bodyPr wrap="square" lIns="0" tIns="0" rIns="0" bIns="0" rtlCol="0" anchor="ctr"/>
          <a:lstStyle/>
          <a:p>
            <a:pPr marL="0" indent="0">
              <a:buNone/>
            </a:pPr>
            <a:r>
              <a:rPr lang="en-US" sz="1600" dirty="0">
                <a:solidFill>
                  <a:srgbClr val="1F2933"/>
                </a:solidFill>
                <a:latin typeface="Arial" pitchFamily="34" charset="0"/>
                <a:ea typeface="Arial" pitchFamily="34" charset="-122"/>
                <a:cs typeface="Arial" pitchFamily="34" charset="-120"/>
              </a:rPr>
              <a:t>every occurrence on the line, not just the first</a:t>
            </a:r>
            <a:endParaRPr lang="en-US" sz="1600" dirty="0"/>
          </a:p>
        </p:txBody>
      </p:sp>
      <p:sp>
        <p:nvSpPr>
          <p:cNvPr id="14" name="Shape 12"/>
          <p:cNvSpPr/>
          <p:nvPr/>
        </p:nvSpPr>
        <p:spPr>
          <a:xfrm>
            <a:off x="615391" y="4224528"/>
            <a:ext cx="6035040" cy="960120"/>
          </a:xfrm>
          <a:prstGeom prst="roundRect">
            <a:avLst>
              <a:gd name="adj" fmla="val 5714"/>
            </a:avLst>
          </a:prstGeom>
          <a:solidFill>
            <a:srgbClr val="FDEDEC"/>
          </a:solidFill>
          <a:ln w="15875">
            <a:solidFill>
              <a:srgbClr val="C0392B"/>
            </a:solidFill>
            <a:prstDash val="solid"/>
          </a:ln>
        </p:spPr>
        <p:txBody>
          <a:bodyPr/>
          <a:lstStyle/>
          <a:p>
            <a:endParaRPr lang="en-US" sz="2800"/>
          </a:p>
        </p:txBody>
      </p:sp>
      <p:sp>
        <p:nvSpPr>
          <p:cNvPr id="15" name="Text 13"/>
          <p:cNvSpPr txBox="1"/>
          <p:nvPr/>
        </p:nvSpPr>
        <p:spPr>
          <a:xfrm>
            <a:off x="889711" y="4407408"/>
            <a:ext cx="5486400" cy="566928"/>
          </a:xfrm>
          <a:prstGeom prst="rect">
            <a:avLst/>
          </a:prstGeom>
          <a:noFill/>
          <a:ln/>
        </p:spPr>
        <p:txBody>
          <a:bodyPr wrap="square" lIns="0" tIns="0" rIns="0" bIns="0" rtlCol="0" anchor="ctr"/>
          <a:lstStyle/>
          <a:p>
            <a:pPr marL="0" indent="0">
              <a:lnSpc>
                <a:spcPts val="2000"/>
              </a:lnSpc>
              <a:buNone/>
            </a:pPr>
            <a:r>
              <a:rPr lang="en-US" dirty="0">
                <a:solidFill>
                  <a:srgbClr val="1F2933"/>
                </a:solidFill>
                <a:latin typeface="Arial" pitchFamily="34" charset="0"/>
                <a:ea typeface="Arial" pitchFamily="34" charset="-122"/>
                <a:cs typeface="Arial" pitchFamily="34" charset="-120"/>
              </a:rPr>
              <a:t>sed -i edits the file in place, with no copy and no confirmation. Use sed -i.bak so you get one, at least until the command is right.</a:t>
            </a:r>
            <a:endParaRPr lang="en-US" dirty="0"/>
          </a:p>
        </p:txBody>
      </p:sp>
      <p:sp>
        <p:nvSpPr>
          <p:cNvPr id="16" name="Shape 14"/>
          <p:cNvSpPr/>
          <p:nvPr/>
        </p:nvSpPr>
        <p:spPr>
          <a:xfrm>
            <a:off x="6856767" y="1481328"/>
            <a:ext cx="4855464" cy="3703320"/>
          </a:xfrm>
          <a:prstGeom prst="roundRect">
            <a:avLst>
              <a:gd name="adj" fmla="val 1481"/>
            </a:avLst>
          </a:prstGeom>
          <a:solidFill>
            <a:srgbClr val="EEF4FA"/>
          </a:solidFill>
          <a:ln w="12700">
            <a:solidFill>
              <a:srgbClr val="EEF4FA"/>
            </a:solidFill>
            <a:prstDash val="solid"/>
          </a:ln>
        </p:spPr>
        <p:txBody>
          <a:bodyPr/>
          <a:lstStyle/>
          <a:p>
            <a:endParaRPr lang="en-US" sz="2800"/>
          </a:p>
        </p:txBody>
      </p:sp>
      <p:sp>
        <p:nvSpPr>
          <p:cNvPr id="17" name="Text 15"/>
          <p:cNvSpPr txBox="1"/>
          <p:nvPr/>
        </p:nvSpPr>
        <p:spPr>
          <a:xfrm>
            <a:off x="6988734" y="1664208"/>
            <a:ext cx="4297680" cy="274320"/>
          </a:xfrm>
          <a:prstGeom prst="rect">
            <a:avLst/>
          </a:prstGeom>
          <a:noFill/>
          <a:ln/>
        </p:spPr>
        <p:txBody>
          <a:bodyPr wrap="square" lIns="0" tIns="0" rIns="0" bIns="0" rtlCol="0" anchor="ctr"/>
          <a:lstStyle/>
          <a:p>
            <a:pPr marL="0" indent="0">
              <a:buNone/>
            </a:pPr>
            <a:r>
              <a:rPr lang="en-US" b="1" dirty="0">
                <a:solidFill>
                  <a:srgbClr val="3172AE"/>
                </a:solidFill>
                <a:latin typeface="Arial" pitchFamily="34" charset="0"/>
                <a:ea typeface="Arial" pitchFamily="34" charset="-122"/>
                <a:cs typeface="Arial" pitchFamily="34" charset="-120"/>
              </a:rPr>
              <a:t>The task you will actually use it for</a:t>
            </a:r>
            <a:endParaRPr lang="en-US" dirty="0"/>
          </a:p>
        </p:txBody>
      </p:sp>
      <p:sp>
        <p:nvSpPr>
          <p:cNvPr id="18" name="Text 16"/>
          <p:cNvSpPr txBox="1"/>
          <p:nvPr/>
        </p:nvSpPr>
        <p:spPr>
          <a:xfrm>
            <a:off x="6988734" y="2011680"/>
            <a:ext cx="4297680" cy="777240"/>
          </a:xfrm>
          <a:prstGeom prst="rect">
            <a:avLst/>
          </a:prstGeom>
          <a:noFill/>
          <a:ln/>
        </p:spPr>
        <p:txBody>
          <a:bodyPr wrap="square" lIns="0" tIns="0" rIns="0" bIns="0" rtlCol="0" anchor="ctr"/>
          <a:lstStyle/>
          <a:p>
            <a:pPr marL="0" indent="0">
              <a:lnSpc>
                <a:spcPts val="1600"/>
              </a:lnSpc>
              <a:buNone/>
            </a:pPr>
            <a:r>
              <a:rPr lang="en-US" sz="1600" dirty="0">
                <a:solidFill>
                  <a:srgbClr val="1F2933"/>
                </a:solidFill>
                <a:latin typeface="Arial" pitchFamily="34" charset="0"/>
                <a:ea typeface="Arial" pitchFamily="34" charset="-122"/>
                <a:cs typeface="Arial" pitchFamily="34" charset="-120"/>
              </a:rPr>
              <a:t>Ensembl calls it  I.  UCSC calls it  chrI.  Your reference genome and your annotation file disagree, so every tool reports zero overlaps and none of them tells you why.</a:t>
            </a:r>
            <a:endParaRPr lang="en-US" sz="1600" dirty="0"/>
          </a:p>
        </p:txBody>
      </p:sp>
      <p:sp>
        <p:nvSpPr>
          <p:cNvPr id="19" name="Shape 17"/>
          <p:cNvSpPr/>
          <p:nvPr/>
        </p:nvSpPr>
        <p:spPr>
          <a:xfrm>
            <a:off x="6988733" y="2902356"/>
            <a:ext cx="4632363" cy="566928"/>
          </a:xfrm>
          <a:prstGeom prst="roundRect">
            <a:avLst>
              <a:gd name="adj" fmla="val 9677"/>
            </a:avLst>
          </a:prstGeom>
          <a:solidFill>
            <a:srgbClr val="1F2933"/>
          </a:solidFill>
          <a:ln w="12700">
            <a:solidFill>
              <a:srgbClr val="1F2933"/>
            </a:solidFill>
            <a:prstDash val="solid"/>
          </a:ln>
        </p:spPr>
        <p:txBody>
          <a:bodyPr/>
          <a:lstStyle/>
          <a:p>
            <a:endParaRPr lang="en-US" sz="2800"/>
          </a:p>
        </p:txBody>
      </p:sp>
      <p:sp>
        <p:nvSpPr>
          <p:cNvPr id="20" name="Text 18"/>
          <p:cNvSpPr txBox="1"/>
          <p:nvPr/>
        </p:nvSpPr>
        <p:spPr>
          <a:xfrm>
            <a:off x="7080422" y="3019869"/>
            <a:ext cx="4973467" cy="315468"/>
          </a:xfrm>
          <a:prstGeom prst="rect">
            <a:avLst/>
          </a:prstGeom>
          <a:noFill/>
          <a:ln/>
        </p:spPr>
        <p:txBody>
          <a:bodyPr wrap="square" lIns="0" tIns="0" rIns="0" bIns="0" rtlCol="0" anchor="ctr"/>
          <a:lstStyle/>
          <a:p>
            <a:pPr marL="0" indent="0">
              <a:buNone/>
            </a:pPr>
            <a:r>
              <a:rPr lang="en-US" sz="1400" dirty="0">
                <a:solidFill>
                  <a:srgbClr val="8FBF5F"/>
                </a:solidFill>
                <a:latin typeface="Courier New" pitchFamily="34" charset="0"/>
                <a:ea typeface="Courier New" pitchFamily="34" charset="-122"/>
                <a:cs typeface="Courier New" pitchFamily="34" charset="-120"/>
              </a:rPr>
              <a:t>$ sed '/^#/!s/^/chr/' anno.gff3 &gt; anno_chr.gff3</a:t>
            </a:r>
            <a:endParaRPr lang="en-US" sz="1400" dirty="0"/>
          </a:p>
        </p:txBody>
      </p:sp>
      <p:sp>
        <p:nvSpPr>
          <p:cNvPr id="21" name="Text 19"/>
          <p:cNvSpPr txBox="1"/>
          <p:nvPr/>
        </p:nvSpPr>
        <p:spPr>
          <a:xfrm>
            <a:off x="6988734" y="3628440"/>
            <a:ext cx="4297680" cy="548640"/>
          </a:xfrm>
          <a:prstGeom prst="rect">
            <a:avLst/>
          </a:prstGeom>
          <a:noFill/>
          <a:ln/>
        </p:spPr>
        <p:txBody>
          <a:bodyPr wrap="square" lIns="0" tIns="0" rIns="0" bIns="0" rtlCol="0" anchor="ctr"/>
          <a:lstStyle/>
          <a:p>
            <a:pPr marL="0" indent="0">
              <a:lnSpc>
                <a:spcPts val="1500"/>
              </a:lnSpc>
              <a:buNone/>
            </a:pPr>
            <a:r>
              <a:rPr lang="en-US" sz="1600" dirty="0">
                <a:solidFill>
                  <a:srgbClr val="6B7280"/>
                </a:solidFill>
                <a:latin typeface="Arial" pitchFamily="34" charset="0"/>
                <a:ea typeface="Arial" pitchFamily="34" charset="-122"/>
                <a:cs typeface="Arial" pitchFamily="34" charset="-120"/>
              </a:rPr>
              <a:t>The /^#/! matters: a bare  s/^/chr/  also prefixes the ## header lines, producing chr##gff-version 3 and breaking the file.</a:t>
            </a:r>
            <a:endParaRPr lang="en-US" sz="1600" dirty="0"/>
          </a:p>
        </p:txBody>
      </p:sp>
      <p:sp>
        <p:nvSpPr>
          <p:cNvPr id="22" name="Text 20"/>
          <p:cNvSpPr txBox="1"/>
          <p:nvPr/>
        </p:nvSpPr>
        <p:spPr>
          <a:xfrm>
            <a:off x="6988734" y="4250232"/>
            <a:ext cx="4297680" cy="777240"/>
          </a:xfrm>
          <a:prstGeom prst="rect">
            <a:avLst/>
          </a:prstGeom>
          <a:noFill/>
          <a:ln/>
        </p:spPr>
        <p:txBody>
          <a:bodyPr wrap="square" lIns="0" tIns="0" rIns="0" bIns="0" rtlCol="0" anchor="ctr"/>
          <a:lstStyle/>
          <a:p>
            <a:pPr marL="0" indent="0">
              <a:lnSpc>
                <a:spcPts val="1600"/>
              </a:lnSpc>
              <a:buNone/>
            </a:pPr>
            <a:r>
              <a:rPr lang="en-US" sz="1600" b="1" dirty="0">
                <a:solidFill>
                  <a:srgbClr val="205081"/>
                </a:solidFill>
                <a:latin typeface="Arial" pitchFamily="34" charset="0"/>
                <a:ea typeface="Arial" pitchFamily="34" charset="-122"/>
                <a:cs typeface="Arial" pitchFamily="34" charset="-120"/>
              </a:rPr>
              <a:t>This exact mismatch silently corrupts RNA-seq and variant analyses, and it comes back in Week 3 under annotation versions and coordinate systems.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Git is not a backup. It is a record of what you did</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GIT FROM DAY ONE</a:t>
            </a:r>
            <a:endParaRPr lang="en-US" sz="1200" dirty="0"/>
          </a:p>
        </p:txBody>
      </p:sp>
      <p:sp>
        <p:nvSpPr>
          <p:cNvPr id="4" name="Shape 2"/>
          <p:cNvSpPr/>
          <p:nvPr/>
        </p:nvSpPr>
        <p:spPr>
          <a:xfrm>
            <a:off x="615391" y="1481328"/>
            <a:ext cx="5394960" cy="3712464"/>
          </a:xfrm>
          <a:prstGeom prst="roundRect">
            <a:avLst>
              <a:gd name="adj" fmla="val 2500"/>
            </a:avLst>
          </a:prstGeom>
          <a:solidFill>
            <a:srgbClr val="FDEDEC"/>
          </a:solidFill>
          <a:ln w="12700">
            <a:solidFill>
              <a:srgbClr val="FDEDEC"/>
            </a:solidFill>
            <a:prstDash val="solid"/>
          </a:ln>
        </p:spPr>
        <p:txBody>
          <a:bodyPr/>
          <a:lstStyle/>
          <a:p>
            <a:endParaRPr lang="en-US" sz="2800" dirty="0"/>
          </a:p>
        </p:txBody>
      </p:sp>
      <p:sp>
        <p:nvSpPr>
          <p:cNvPr id="5" name="Text 3"/>
          <p:cNvSpPr txBox="1"/>
          <p:nvPr/>
        </p:nvSpPr>
        <p:spPr>
          <a:xfrm>
            <a:off x="907999" y="1664208"/>
            <a:ext cx="4754880" cy="274320"/>
          </a:xfrm>
          <a:prstGeom prst="rect">
            <a:avLst/>
          </a:prstGeom>
          <a:noFill/>
          <a:ln/>
        </p:spPr>
        <p:txBody>
          <a:bodyPr wrap="square" lIns="0" tIns="0" rIns="0" bIns="0" rtlCol="0" anchor="ctr"/>
          <a:lstStyle/>
          <a:p>
            <a:pPr marL="0" indent="0">
              <a:buNone/>
            </a:pPr>
            <a:r>
              <a:rPr lang="en-US" sz="2000" b="1" dirty="0">
                <a:solidFill>
                  <a:srgbClr val="C0392B"/>
                </a:solidFill>
                <a:latin typeface="Arial" pitchFamily="34" charset="0"/>
                <a:ea typeface="Arial" pitchFamily="34" charset="-122"/>
                <a:cs typeface="Arial" pitchFamily="34" charset="-120"/>
              </a:rPr>
              <a:t>Everyone has this folder</a:t>
            </a:r>
            <a:endParaRPr lang="en-US" sz="2000" dirty="0"/>
          </a:p>
        </p:txBody>
      </p:sp>
      <p:sp>
        <p:nvSpPr>
          <p:cNvPr id="6" name="Text 4"/>
          <p:cNvSpPr txBox="1"/>
          <p:nvPr/>
        </p:nvSpPr>
        <p:spPr>
          <a:xfrm>
            <a:off x="880872" y="1938528"/>
            <a:ext cx="4998531" cy="1943227"/>
          </a:xfrm>
          <a:prstGeom prst="rect">
            <a:avLst/>
          </a:prstGeom>
          <a:noFill/>
          <a:ln/>
        </p:spPr>
        <p:txBody>
          <a:bodyPr wrap="square" lIns="0" tIns="0" rIns="0" bIns="0" rtlCol="0" anchor="ctr"/>
          <a:lstStyle/>
          <a:p>
            <a:pPr marL="0" indent="0">
              <a:lnSpc>
                <a:spcPts val="1700"/>
              </a:lnSpc>
              <a:buNone/>
            </a:pPr>
            <a:r>
              <a:rPr lang="en-US" dirty="0">
                <a:solidFill>
                  <a:srgbClr val="1F2933"/>
                </a:solidFill>
                <a:latin typeface="Courier New" pitchFamily="34" charset="0"/>
                <a:ea typeface="Courier New" pitchFamily="34" charset="-122"/>
                <a:cs typeface="Courier New" pitchFamily="34" charset="-120"/>
              </a:rPr>
              <a:t>analysis.R</a:t>
            </a:r>
            <a:endParaRPr lang="en-US" dirty="0"/>
          </a:p>
          <a:p>
            <a:pPr marL="0" indent="0">
              <a:lnSpc>
                <a:spcPts val="1700"/>
              </a:lnSpc>
              <a:buNone/>
            </a:pPr>
            <a:r>
              <a:rPr lang="en-US" dirty="0">
                <a:solidFill>
                  <a:srgbClr val="1F2933"/>
                </a:solidFill>
                <a:latin typeface="Courier New" pitchFamily="34" charset="0"/>
                <a:ea typeface="Courier New" pitchFamily="34" charset="-122"/>
                <a:cs typeface="Courier New" pitchFamily="34" charset="-120"/>
              </a:rPr>
              <a:t>analysis_v2.R</a:t>
            </a:r>
            <a:endParaRPr lang="en-US" dirty="0"/>
          </a:p>
          <a:p>
            <a:pPr marL="0" indent="0">
              <a:lnSpc>
                <a:spcPts val="1700"/>
              </a:lnSpc>
              <a:buNone/>
            </a:pPr>
            <a:r>
              <a:rPr lang="en-US" dirty="0">
                <a:solidFill>
                  <a:srgbClr val="1F2933"/>
                </a:solidFill>
                <a:latin typeface="Courier New" pitchFamily="34" charset="0"/>
                <a:ea typeface="Courier New" pitchFamily="34" charset="-122"/>
                <a:cs typeface="Courier New" pitchFamily="34" charset="-120"/>
              </a:rPr>
              <a:t>analysis_final.R</a:t>
            </a:r>
            <a:endParaRPr lang="en-US" dirty="0"/>
          </a:p>
          <a:p>
            <a:pPr marL="0" indent="0">
              <a:lnSpc>
                <a:spcPts val="1700"/>
              </a:lnSpc>
              <a:buNone/>
            </a:pPr>
            <a:r>
              <a:rPr lang="en-US" dirty="0">
                <a:solidFill>
                  <a:srgbClr val="1F2933"/>
                </a:solidFill>
                <a:latin typeface="Courier New" pitchFamily="34" charset="0"/>
                <a:ea typeface="Courier New" pitchFamily="34" charset="-122"/>
                <a:cs typeface="Courier New" pitchFamily="34" charset="-120"/>
              </a:rPr>
              <a:t>analysis_final_FIXED.R</a:t>
            </a:r>
            <a:endParaRPr lang="en-US" dirty="0"/>
          </a:p>
          <a:p>
            <a:pPr marL="0" indent="0">
              <a:lnSpc>
                <a:spcPts val="1700"/>
              </a:lnSpc>
              <a:buNone/>
            </a:pPr>
            <a:r>
              <a:rPr lang="en-US" dirty="0">
                <a:solidFill>
                  <a:srgbClr val="1F2933"/>
                </a:solidFill>
                <a:latin typeface="Courier New" pitchFamily="34" charset="0"/>
                <a:ea typeface="Courier New" pitchFamily="34" charset="-122"/>
                <a:cs typeface="Courier New" pitchFamily="34" charset="-120"/>
              </a:rPr>
              <a:t>analysis_final_FIXED_usethis.R</a:t>
            </a:r>
            <a:endParaRPr lang="en-US" dirty="0"/>
          </a:p>
          <a:p>
            <a:pPr marL="0" indent="0">
              <a:lnSpc>
                <a:spcPts val="1700"/>
              </a:lnSpc>
              <a:buNone/>
            </a:pPr>
            <a:r>
              <a:rPr lang="en-US" dirty="0">
                <a:solidFill>
                  <a:srgbClr val="1F2933"/>
                </a:solidFill>
                <a:latin typeface="Courier New" pitchFamily="34" charset="0"/>
                <a:ea typeface="Courier New" pitchFamily="34" charset="-122"/>
                <a:cs typeface="Courier New" pitchFamily="34" charset="-120"/>
              </a:rPr>
              <a:t>analysis_final_FIXED_usethis_OLD.R</a:t>
            </a:r>
            <a:endParaRPr lang="en-US" dirty="0"/>
          </a:p>
        </p:txBody>
      </p:sp>
      <p:sp>
        <p:nvSpPr>
          <p:cNvPr id="7" name="Text 5"/>
          <p:cNvSpPr txBox="1"/>
          <p:nvPr/>
        </p:nvSpPr>
        <p:spPr>
          <a:xfrm>
            <a:off x="907999" y="3872611"/>
            <a:ext cx="4754880" cy="274320"/>
          </a:xfrm>
          <a:prstGeom prst="rect">
            <a:avLst/>
          </a:prstGeom>
          <a:noFill/>
          <a:ln/>
        </p:spPr>
        <p:txBody>
          <a:bodyPr wrap="square" lIns="0" tIns="0" rIns="0" bIns="0" rtlCol="0" anchor="ctr"/>
          <a:lstStyle/>
          <a:p>
            <a:pPr marL="0" indent="0">
              <a:buNone/>
            </a:pPr>
            <a:r>
              <a:rPr lang="en-US" b="1" i="1" dirty="0">
                <a:solidFill>
                  <a:srgbClr val="C0392B"/>
                </a:solidFill>
                <a:latin typeface="Arial" pitchFamily="34" charset="0"/>
                <a:ea typeface="Arial" pitchFamily="34" charset="-122"/>
                <a:cs typeface="Arial" pitchFamily="34" charset="-120"/>
              </a:rPr>
              <a:t>Which one made figure 3?</a:t>
            </a:r>
            <a:endParaRPr lang="en-US" dirty="0"/>
          </a:p>
        </p:txBody>
      </p:sp>
      <p:sp>
        <p:nvSpPr>
          <p:cNvPr id="8" name="Shape 6"/>
          <p:cNvSpPr/>
          <p:nvPr/>
        </p:nvSpPr>
        <p:spPr>
          <a:xfrm>
            <a:off x="6263640" y="1481327"/>
            <a:ext cx="5312664" cy="3712464"/>
          </a:xfrm>
          <a:prstGeom prst="roundRect">
            <a:avLst>
              <a:gd name="adj" fmla="val 2500"/>
            </a:avLst>
          </a:prstGeom>
          <a:solidFill>
            <a:srgbClr val="EEF4FA"/>
          </a:solidFill>
          <a:ln w="12700">
            <a:solidFill>
              <a:srgbClr val="EEF4FA"/>
            </a:solidFill>
            <a:prstDash val="solid"/>
          </a:ln>
        </p:spPr>
        <p:txBody>
          <a:bodyPr/>
          <a:lstStyle/>
          <a:p>
            <a:endParaRPr lang="en-US" sz="2800"/>
          </a:p>
        </p:txBody>
      </p:sp>
      <p:sp>
        <p:nvSpPr>
          <p:cNvPr id="9" name="Text 7"/>
          <p:cNvSpPr txBox="1"/>
          <p:nvPr/>
        </p:nvSpPr>
        <p:spPr>
          <a:xfrm>
            <a:off x="6556248" y="1664208"/>
            <a:ext cx="4754880" cy="274320"/>
          </a:xfrm>
          <a:prstGeom prst="rect">
            <a:avLst/>
          </a:prstGeom>
          <a:noFill/>
          <a:ln/>
        </p:spPr>
        <p:txBody>
          <a:bodyPr wrap="square" lIns="0" tIns="0" rIns="0" bIns="0" rtlCol="0" anchor="ctr"/>
          <a:lstStyle/>
          <a:p>
            <a:pPr marL="0" indent="0">
              <a:buNone/>
            </a:pPr>
            <a:r>
              <a:rPr lang="en-US" sz="2000" b="1" dirty="0">
                <a:solidFill>
                  <a:srgbClr val="3172AE"/>
                </a:solidFill>
                <a:latin typeface="Arial" pitchFamily="34" charset="0"/>
                <a:ea typeface="Arial" pitchFamily="34" charset="-122"/>
                <a:cs typeface="Arial" pitchFamily="34" charset="-120"/>
              </a:rPr>
              <a:t>What git answers instead</a:t>
            </a:r>
            <a:endParaRPr lang="en-US" sz="2000" dirty="0"/>
          </a:p>
        </p:txBody>
      </p:sp>
      <p:sp>
        <p:nvSpPr>
          <p:cNvPr id="10" name="Text 8"/>
          <p:cNvSpPr txBox="1"/>
          <p:nvPr/>
        </p:nvSpPr>
        <p:spPr>
          <a:xfrm>
            <a:off x="6556248" y="2132901"/>
            <a:ext cx="4754880" cy="1554480"/>
          </a:xfrm>
          <a:prstGeom prst="rect">
            <a:avLst/>
          </a:prstGeom>
          <a:noFill/>
          <a:ln/>
        </p:spPr>
        <p:txBody>
          <a:bodyPr wrap="square" lIns="0" tIns="0" rIns="0" bIns="0" rtlCol="0" anchor="t"/>
          <a:lstStyle/>
          <a:p>
            <a:pPr marL="177800" indent="-177800">
              <a:spcAft>
                <a:spcPts val="1400"/>
              </a:spcAft>
              <a:buSzPct val="100000"/>
              <a:buChar char="●"/>
            </a:pPr>
            <a:r>
              <a:rPr lang="en-US" dirty="0">
                <a:solidFill>
                  <a:srgbClr val="1F2933"/>
                </a:solidFill>
                <a:latin typeface="Arial" pitchFamily="34" charset="0"/>
                <a:ea typeface="Arial" pitchFamily="34" charset="-122"/>
                <a:cs typeface="Arial" pitchFamily="34" charset="-120"/>
              </a:rPr>
              <a:t>What exactly changed, line by line?</a:t>
            </a:r>
            <a:endParaRPr lang="en-US" dirty="0"/>
          </a:p>
          <a:p>
            <a:pPr marL="177800" indent="-177800">
              <a:spcAft>
                <a:spcPts val="1400"/>
              </a:spcAft>
              <a:buSzPct val="100000"/>
              <a:buChar char="●"/>
            </a:pPr>
            <a:r>
              <a:rPr lang="en-US" dirty="0">
                <a:solidFill>
                  <a:srgbClr val="1F2933"/>
                </a:solidFill>
                <a:latin typeface="Arial" pitchFamily="34" charset="0"/>
                <a:ea typeface="Arial" pitchFamily="34" charset="-122"/>
                <a:cs typeface="Arial" pitchFamily="34" charset="-120"/>
              </a:rPr>
              <a:t>When, and in what order?</a:t>
            </a:r>
            <a:endParaRPr lang="en-US" dirty="0"/>
          </a:p>
          <a:p>
            <a:pPr marL="177800" indent="-177800">
              <a:spcAft>
                <a:spcPts val="1400"/>
              </a:spcAft>
              <a:buSzPct val="100000"/>
              <a:buChar char="●"/>
            </a:pPr>
            <a:r>
              <a:rPr lang="en-US" dirty="0">
                <a:solidFill>
                  <a:srgbClr val="1F2933"/>
                </a:solidFill>
                <a:latin typeface="Arial" pitchFamily="34" charset="0"/>
                <a:ea typeface="Arial" pitchFamily="34" charset="-122"/>
                <a:cs typeface="Arial" pitchFamily="34" charset="-120"/>
              </a:rPr>
              <a:t>Why?  because you wrote it down at the time.</a:t>
            </a:r>
            <a:endParaRPr lang="en-US" dirty="0"/>
          </a:p>
          <a:p>
            <a:pPr marL="177800" indent="-177800">
              <a:spcAft>
                <a:spcPts val="1400"/>
              </a:spcAft>
              <a:buSzPct val="100000"/>
              <a:buChar char="●"/>
            </a:pPr>
            <a:r>
              <a:rPr lang="en-US" dirty="0">
                <a:solidFill>
                  <a:srgbClr val="1F2933"/>
                </a:solidFill>
                <a:latin typeface="Arial" pitchFamily="34" charset="0"/>
                <a:ea typeface="Arial" pitchFamily="34" charset="-122"/>
                <a:cs typeface="Arial" pitchFamily="34" charset="-120"/>
              </a:rPr>
              <a:t>Can I go back to the version that produced figure 3? Yes.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Three places a file can be</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GIT FROM DAY ONE</a:t>
            </a:r>
            <a:endParaRPr lang="en-US" sz="1200" dirty="0"/>
          </a:p>
        </p:txBody>
      </p:sp>
      <p:sp>
        <p:nvSpPr>
          <p:cNvPr id="4" name="Shape 2"/>
          <p:cNvSpPr/>
          <p:nvPr/>
        </p:nvSpPr>
        <p:spPr>
          <a:xfrm>
            <a:off x="615391" y="1481328"/>
            <a:ext cx="3200400" cy="2040348"/>
          </a:xfrm>
          <a:prstGeom prst="roundRect">
            <a:avLst>
              <a:gd name="adj" fmla="val 3158"/>
            </a:avLst>
          </a:prstGeom>
          <a:solidFill>
            <a:srgbClr val="FAFBFC"/>
          </a:solidFill>
          <a:ln w="19050">
            <a:solidFill>
              <a:srgbClr val="498BCA"/>
            </a:solidFill>
            <a:prstDash val="solid"/>
          </a:ln>
        </p:spPr>
        <p:txBody>
          <a:bodyPr/>
          <a:lstStyle/>
          <a:p>
            <a:endParaRPr lang="en-US" sz="2800"/>
          </a:p>
        </p:txBody>
      </p:sp>
      <p:sp>
        <p:nvSpPr>
          <p:cNvPr id="5" name="Text 3"/>
          <p:cNvSpPr txBox="1"/>
          <p:nvPr/>
        </p:nvSpPr>
        <p:spPr>
          <a:xfrm>
            <a:off x="871423" y="1700784"/>
            <a:ext cx="2697480" cy="310896"/>
          </a:xfrm>
          <a:prstGeom prst="rect">
            <a:avLst/>
          </a:prstGeom>
          <a:noFill/>
          <a:ln/>
        </p:spPr>
        <p:txBody>
          <a:bodyPr wrap="square" lIns="0" tIns="0" rIns="0" bIns="0" rtlCol="0" anchor="ctr"/>
          <a:lstStyle/>
          <a:p>
            <a:pPr marL="0" indent="0">
              <a:buNone/>
            </a:pPr>
            <a:r>
              <a:rPr lang="en-US" sz="2000" b="1" dirty="0">
                <a:solidFill>
                  <a:srgbClr val="1F2933"/>
                </a:solidFill>
                <a:latin typeface="Arial" pitchFamily="34" charset="0"/>
                <a:ea typeface="Arial" pitchFamily="34" charset="-122"/>
                <a:cs typeface="Arial" pitchFamily="34" charset="-120"/>
              </a:rPr>
              <a:t>Working directory</a:t>
            </a:r>
            <a:endParaRPr lang="en-US" sz="2000" dirty="0"/>
          </a:p>
        </p:txBody>
      </p:sp>
      <p:sp>
        <p:nvSpPr>
          <p:cNvPr id="6" name="Text 4"/>
          <p:cNvSpPr txBox="1"/>
          <p:nvPr/>
        </p:nvSpPr>
        <p:spPr>
          <a:xfrm>
            <a:off x="871423" y="2103120"/>
            <a:ext cx="2743200" cy="1097280"/>
          </a:xfrm>
          <a:prstGeom prst="rect">
            <a:avLst/>
          </a:prstGeom>
          <a:noFill/>
          <a:ln/>
        </p:spPr>
        <p:txBody>
          <a:bodyPr wrap="square" lIns="0" tIns="0" rIns="0" bIns="0" rtlCol="0" anchor="ctr"/>
          <a:lstStyle/>
          <a:p>
            <a:pPr marL="0" indent="0">
              <a:lnSpc>
                <a:spcPts val="2000"/>
              </a:lnSpc>
              <a:buNone/>
            </a:pPr>
            <a:r>
              <a:rPr lang="en-US" sz="2000" dirty="0">
                <a:solidFill>
                  <a:srgbClr val="6B7280"/>
                </a:solidFill>
                <a:latin typeface="Arial" pitchFamily="34" charset="0"/>
                <a:ea typeface="Arial" pitchFamily="34" charset="-122"/>
                <a:cs typeface="Arial" pitchFamily="34" charset="-120"/>
              </a:rPr>
              <a:t>The files you can see and edit. Where you actually do the work.</a:t>
            </a:r>
            <a:endParaRPr lang="en-US" sz="2000" dirty="0"/>
          </a:p>
        </p:txBody>
      </p:sp>
      <p:sp>
        <p:nvSpPr>
          <p:cNvPr id="7" name="Text 5"/>
          <p:cNvSpPr txBox="1"/>
          <p:nvPr/>
        </p:nvSpPr>
        <p:spPr>
          <a:xfrm>
            <a:off x="3815791" y="2139696"/>
            <a:ext cx="731520" cy="274320"/>
          </a:xfrm>
          <a:prstGeom prst="rect">
            <a:avLst/>
          </a:prstGeom>
          <a:noFill/>
          <a:ln/>
        </p:spPr>
        <p:txBody>
          <a:bodyPr wrap="square" lIns="0" tIns="0" rIns="0" bIns="0" rtlCol="0" anchor="ctr"/>
          <a:lstStyle/>
          <a:p>
            <a:pPr marL="0" indent="0" algn="ctr">
              <a:buNone/>
            </a:pPr>
            <a:r>
              <a:rPr lang="en-US" sz="1400" b="1" dirty="0">
                <a:solidFill>
                  <a:srgbClr val="205081"/>
                </a:solidFill>
                <a:latin typeface="Courier New" pitchFamily="34" charset="0"/>
                <a:ea typeface="Courier New" pitchFamily="34" charset="-122"/>
                <a:cs typeface="Courier New" pitchFamily="34" charset="-120"/>
              </a:rPr>
              <a:t>git add</a:t>
            </a:r>
            <a:endParaRPr lang="en-US" sz="1400" dirty="0"/>
          </a:p>
        </p:txBody>
      </p:sp>
      <p:sp>
        <p:nvSpPr>
          <p:cNvPr id="8" name="Text 6"/>
          <p:cNvSpPr txBox="1"/>
          <p:nvPr/>
        </p:nvSpPr>
        <p:spPr>
          <a:xfrm>
            <a:off x="3815791" y="1737360"/>
            <a:ext cx="731520" cy="402336"/>
          </a:xfrm>
          <a:prstGeom prst="rect">
            <a:avLst/>
          </a:prstGeom>
          <a:noFill/>
          <a:ln/>
        </p:spPr>
        <p:txBody>
          <a:bodyPr wrap="square" lIns="0" tIns="0" rIns="0" bIns="0" rtlCol="0" anchor="ctr"/>
          <a:lstStyle/>
          <a:p>
            <a:pPr marL="0" indent="0" algn="ctr">
              <a:buNone/>
            </a:pPr>
            <a:r>
              <a:rPr lang="en-US" sz="3600" dirty="0">
                <a:solidFill>
                  <a:srgbClr val="9AA5B1"/>
                </a:solidFill>
                <a:latin typeface="Arial" pitchFamily="34" charset="0"/>
                <a:ea typeface="Arial" pitchFamily="34" charset="-122"/>
                <a:cs typeface="Arial" pitchFamily="34" charset="-120"/>
              </a:rPr>
              <a:t>→</a:t>
            </a:r>
            <a:endParaRPr lang="en-US" sz="3600" dirty="0"/>
          </a:p>
        </p:txBody>
      </p:sp>
      <p:sp>
        <p:nvSpPr>
          <p:cNvPr id="9" name="Shape 7"/>
          <p:cNvSpPr/>
          <p:nvPr/>
        </p:nvSpPr>
        <p:spPr>
          <a:xfrm>
            <a:off x="4547311" y="1481328"/>
            <a:ext cx="3200400" cy="2040348"/>
          </a:xfrm>
          <a:prstGeom prst="roundRect">
            <a:avLst>
              <a:gd name="adj" fmla="val 3158"/>
            </a:avLst>
          </a:prstGeom>
          <a:solidFill>
            <a:srgbClr val="FAFBFC"/>
          </a:solidFill>
          <a:ln w="19050">
            <a:solidFill>
              <a:srgbClr val="FFC82C"/>
            </a:solidFill>
            <a:prstDash val="solid"/>
          </a:ln>
        </p:spPr>
        <p:txBody>
          <a:bodyPr/>
          <a:lstStyle/>
          <a:p>
            <a:endParaRPr lang="en-US" sz="2800"/>
          </a:p>
        </p:txBody>
      </p:sp>
      <p:sp>
        <p:nvSpPr>
          <p:cNvPr id="10" name="Text 8"/>
          <p:cNvSpPr txBox="1"/>
          <p:nvPr/>
        </p:nvSpPr>
        <p:spPr>
          <a:xfrm>
            <a:off x="4803343" y="1700784"/>
            <a:ext cx="2697480" cy="310896"/>
          </a:xfrm>
          <a:prstGeom prst="rect">
            <a:avLst/>
          </a:prstGeom>
          <a:noFill/>
          <a:ln/>
        </p:spPr>
        <p:txBody>
          <a:bodyPr wrap="square" lIns="0" tIns="0" rIns="0" bIns="0" rtlCol="0" anchor="ctr"/>
          <a:lstStyle/>
          <a:p>
            <a:pPr marL="0" indent="0">
              <a:buNone/>
            </a:pPr>
            <a:r>
              <a:rPr lang="en-US" sz="2000" b="1" dirty="0">
                <a:solidFill>
                  <a:srgbClr val="1F2933"/>
                </a:solidFill>
                <a:latin typeface="Arial" pitchFamily="34" charset="0"/>
                <a:ea typeface="Arial" pitchFamily="34" charset="-122"/>
                <a:cs typeface="Arial" pitchFamily="34" charset="-120"/>
              </a:rPr>
              <a:t>Staging area</a:t>
            </a:r>
            <a:endParaRPr lang="en-US" sz="2000" dirty="0"/>
          </a:p>
        </p:txBody>
      </p:sp>
      <p:sp>
        <p:nvSpPr>
          <p:cNvPr id="11" name="Text 9"/>
          <p:cNvSpPr txBox="1"/>
          <p:nvPr/>
        </p:nvSpPr>
        <p:spPr>
          <a:xfrm>
            <a:off x="4803343" y="2103120"/>
            <a:ext cx="2743200" cy="914400"/>
          </a:xfrm>
          <a:prstGeom prst="rect">
            <a:avLst/>
          </a:prstGeom>
          <a:noFill/>
          <a:ln/>
        </p:spPr>
        <p:txBody>
          <a:bodyPr wrap="square" lIns="0" tIns="0" rIns="0" bIns="0" rtlCol="0" anchor="ctr"/>
          <a:lstStyle/>
          <a:p>
            <a:pPr marL="0" indent="0">
              <a:lnSpc>
                <a:spcPts val="2000"/>
              </a:lnSpc>
              <a:buNone/>
            </a:pPr>
            <a:r>
              <a:rPr lang="en-US" sz="2000" dirty="0">
                <a:solidFill>
                  <a:srgbClr val="6B7280"/>
                </a:solidFill>
                <a:latin typeface="Arial" pitchFamily="34" charset="0"/>
                <a:ea typeface="Arial" pitchFamily="34" charset="-122"/>
                <a:cs typeface="Arial" pitchFamily="34" charset="-120"/>
              </a:rPr>
              <a:t>A list of changes you have chosen to include in the next commit.</a:t>
            </a:r>
            <a:endParaRPr lang="en-US" sz="2000" dirty="0"/>
          </a:p>
        </p:txBody>
      </p:sp>
      <p:sp>
        <p:nvSpPr>
          <p:cNvPr id="12" name="Text 10"/>
          <p:cNvSpPr txBox="1"/>
          <p:nvPr/>
        </p:nvSpPr>
        <p:spPr>
          <a:xfrm>
            <a:off x="7747711" y="2139696"/>
            <a:ext cx="731520" cy="274320"/>
          </a:xfrm>
          <a:prstGeom prst="rect">
            <a:avLst/>
          </a:prstGeom>
          <a:noFill/>
          <a:ln/>
        </p:spPr>
        <p:txBody>
          <a:bodyPr wrap="square" lIns="0" tIns="0" rIns="0" bIns="0" rtlCol="0" anchor="ctr"/>
          <a:lstStyle/>
          <a:p>
            <a:pPr marL="0" indent="0" algn="ctr">
              <a:buNone/>
            </a:pPr>
            <a:r>
              <a:rPr lang="en-US" sz="1400" b="1" dirty="0">
                <a:solidFill>
                  <a:srgbClr val="205081"/>
                </a:solidFill>
                <a:latin typeface="Courier New" pitchFamily="34" charset="0"/>
                <a:ea typeface="Courier New" pitchFamily="34" charset="-122"/>
                <a:cs typeface="Courier New" pitchFamily="34" charset="-120"/>
              </a:rPr>
              <a:t>git commit</a:t>
            </a:r>
            <a:endParaRPr lang="en-US" sz="1400" dirty="0"/>
          </a:p>
        </p:txBody>
      </p:sp>
      <p:sp>
        <p:nvSpPr>
          <p:cNvPr id="13" name="Text 11"/>
          <p:cNvSpPr txBox="1"/>
          <p:nvPr/>
        </p:nvSpPr>
        <p:spPr>
          <a:xfrm>
            <a:off x="7747711" y="1737360"/>
            <a:ext cx="731520" cy="402336"/>
          </a:xfrm>
          <a:prstGeom prst="rect">
            <a:avLst/>
          </a:prstGeom>
          <a:noFill/>
          <a:ln/>
        </p:spPr>
        <p:txBody>
          <a:bodyPr wrap="square" lIns="0" tIns="0" rIns="0" bIns="0" rtlCol="0" anchor="ctr"/>
          <a:lstStyle/>
          <a:p>
            <a:pPr marL="0" indent="0" algn="ctr">
              <a:buNone/>
            </a:pPr>
            <a:r>
              <a:rPr lang="en-US" sz="3600" dirty="0">
                <a:solidFill>
                  <a:srgbClr val="9AA5B1"/>
                </a:solidFill>
                <a:latin typeface="Arial" pitchFamily="34" charset="0"/>
                <a:ea typeface="Arial" pitchFamily="34" charset="-122"/>
                <a:cs typeface="Arial" pitchFamily="34" charset="-120"/>
              </a:rPr>
              <a:t>→</a:t>
            </a:r>
            <a:endParaRPr lang="en-US" sz="3600" dirty="0"/>
          </a:p>
        </p:txBody>
      </p:sp>
      <p:sp>
        <p:nvSpPr>
          <p:cNvPr id="14" name="Shape 12"/>
          <p:cNvSpPr/>
          <p:nvPr/>
        </p:nvSpPr>
        <p:spPr>
          <a:xfrm>
            <a:off x="8479231" y="1481328"/>
            <a:ext cx="3200400" cy="2040348"/>
          </a:xfrm>
          <a:prstGeom prst="roundRect">
            <a:avLst>
              <a:gd name="adj" fmla="val 3158"/>
            </a:avLst>
          </a:prstGeom>
          <a:solidFill>
            <a:srgbClr val="FAFBFC"/>
          </a:solidFill>
          <a:ln w="19050">
            <a:solidFill>
              <a:srgbClr val="C0CD30"/>
            </a:solidFill>
            <a:prstDash val="solid"/>
          </a:ln>
        </p:spPr>
        <p:txBody>
          <a:bodyPr/>
          <a:lstStyle/>
          <a:p>
            <a:endParaRPr lang="en-US" sz="2800"/>
          </a:p>
        </p:txBody>
      </p:sp>
      <p:sp>
        <p:nvSpPr>
          <p:cNvPr id="15" name="Text 13"/>
          <p:cNvSpPr txBox="1"/>
          <p:nvPr/>
        </p:nvSpPr>
        <p:spPr>
          <a:xfrm>
            <a:off x="8735263" y="1700784"/>
            <a:ext cx="2697480" cy="310896"/>
          </a:xfrm>
          <a:prstGeom prst="rect">
            <a:avLst/>
          </a:prstGeom>
          <a:noFill/>
          <a:ln/>
        </p:spPr>
        <p:txBody>
          <a:bodyPr wrap="square" lIns="0" tIns="0" rIns="0" bIns="0" rtlCol="0" anchor="ctr"/>
          <a:lstStyle/>
          <a:p>
            <a:pPr marL="0" indent="0">
              <a:buNone/>
            </a:pPr>
            <a:r>
              <a:rPr lang="en-US" sz="2000" b="1" dirty="0">
                <a:solidFill>
                  <a:srgbClr val="1F2933"/>
                </a:solidFill>
                <a:latin typeface="Arial" pitchFamily="34" charset="0"/>
                <a:ea typeface="Arial" pitchFamily="34" charset="-122"/>
                <a:cs typeface="Arial" pitchFamily="34" charset="-120"/>
              </a:rPr>
              <a:t>Repository</a:t>
            </a:r>
            <a:endParaRPr lang="en-US" sz="2000" dirty="0"/>
          </a:p>
        </p:txBody>
      </p:sp>
      <p:sp>
        <p:nvSpPr>
          <p:cNvPr id="16" name="Text 14"/>
          <p:cNvSpPr txBox="1"/>
          <p:nvPr/>
        </p:nvSpPr>
        <p:spPr>
          <a:xfrm>
            <a:off x="8735263" y="2103120"/>
            <a:ext cx="2743200" cy="914400"/>
          </a:xfrm>
          <a:prstGeom prst="rect">
            <a:avLst/>
          </a:prstGeom>
          <a:noFill/>
          <a:ln/>
        </p:spPr>
        <p:txBody>
          <a:bodyPr wrap="square" lIns="0" tIns="0" rIns="0" bIns="0" rtlCol="0" anchor="ctr"/>
          <a:lstStyle/>
          <a:p>
            <a:pPr marL="0" indent="0">
              <a:lnSpc>
                <a:spcPts val="2000"/>
              </a:lnSpc>
              <a:buNone/>
            </a:pPr>
            <a:r>
              <a:rPr lang="en-US" sz="2000" dirty="0">
                <a:solidFill>
                  <a:srgbClr val="6B7280"/>
                </a:solidFill>
                <a:latin typeface="Arial" pitchFamily="34" charset="0"/>
                <a:ea typeface="Arial" pitchFamily="34" charset="-122"/>
                <a:cs typeface="Arial" pitchFamily="34" charset="-120"/>
              </a:rPr>
              <a:t>The permanent, timestamped history. Commits live here.</a:t>
            </a:r>
            <a:endParaRPr lang="en-US" sz="2000" dirty="0"/>
          </a:p>
        </p:txBody>
      </p:sp>
      <p:sp>
        <p:nvSpPr>
          <p:cNvPr id="20" name="Shape 18"/>
          <p:cNvSpPr/>
          <p:nvPr/>
        </p:nvSpPr>
        <p:spPr>
          <a:xfrm>
            <a:off x="514807" y="3982211"/>
            <a:ext cx="10963656" cy="972847"/>
          </a:xfrm>
          <a:prstGeom prst="roundRect">
            <a:avLst>
              <a:gd name="adj" fmla="val 8333"/>
            </a:avLst>
          </a:prstGeom>
          <a:solidFill>
            <a:srgbClr val="F5F6F0"/>
          </a:solidFill>
          <a:ln w="12700">
            <a:solidFill>
              <a:srgbClr val="F5F6F0"/>
            </a:solidFill>
            <a:prstDash val="solid"/>
          </a:ln>
        </p:spPr>
        <p:txBody>
          <a:bodyPr/>
          <a:lstStyle/>
          <a:p>
            <a:endParaRPr lang="en-US" sz="2800"/>
          </a:p>
        </p:txBody>
      </p:sp>
      <p:sp>
        <p:nvSpPr>
          <p:cNvPr id="21" name="Text 19"/>
          <p:cNvSpPr txBox="1"/>
          <p:nvPr/>
        </p:nvSpPr>
        <p:spPr>
          <a:xfrm>
            <a:off x="713537" y="4265675"/>
            <a:ext cx="10195560" cy="365760"/>
          </a:xfrm>
          <a:prstGeom prst="rect">
            <a:avLst/>
          </a:prstGeom>
          <a:noFill/>
          <a:ln/>
        </p:spPr>
        <p:txBody>
          <a:bodyPr wrap="square" lIns="0" tIns="0" rIns="0" bIns="0" rtlCol="0" anchor="ctr"/>
          <a:lstStyle/>
          <a:p>
            <a:pPr marL="0" indent="0">
              <a:buNone/>
            </a:pPr>
            <a:r>
              <a:rPr lang="en-US" b="1" dirty="0">
                <a:solidFill>
                  <a:srgbClr val="205081"/>
                </a:solidFill>
                <a:latin typeface="Arial" pitchFamily="34" charset="0"/>
                <a:ea typeface="Arial" pitchFamily="34" charset="-122"/>
                <a:cs typeface="Arial" pitchFamily="34" charset="-120"/>
              </a:rPr>
              <a:t>git status tells you, at any moment, which of the three places every file is in. Run it constantly. It is the single most useful command in git.</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.gitignore is not optional in bioinformatics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GIT FROM DAY ONE</a:t>
            </a:r>
            <a:endParaRPr lang="en-US" sz="1200" dirty="0"/>
          </a:p>
        </p:txBody>
      </p:sp>
      <p:sp>
        <p:nvSpPr>
          <p:cNvPr id="4" name="Shape 2"/>
          <p:cNvSpPr/>
          <p:nvPr/>
        </p:nvSpPr>
        <p:spPr>
          <a:xfrm>
            <a:off x="615391" y="1481328"/>
            <a:ext cx="5760720" cy="914400"/>
          </a:xfrm>
          <a:prstGeom prst="roundRect">
            <a:avLst>
              <a:gd name="adj" fmla="val 6000"/>
            </a:avLst>
          </a:prstGeom>
          <a:solidFill>
            <a:srgbClr val="FDEDEC"/>
          </a:solidFill>
          <a:ln w="19050">
            <a:solidFill>
              <a:srgbClr val="C0392B"/>
            </a:solidFill>
            <a:prstDash val="solid"/>
          </a:ln>
        </p:spPr>
        <p:txBody>
          <a:bodyPr/>
          <a:lstStyle/>
          <a:p>
            <a:endParaRPr lang="en-US"/>
          </a:p>
        </p:txBody>
      </p:sp>
      <p:sp>
        <p:nvSpPr>
          <p:cNvPr id="5" name="Text 3"/>
          <p:cNvSpPr txBox="1"/>
          <p:nvPr/>
        </p:nvSpPr>
        <p:spPr>
          <a:xfrm>
            <a:off x="907999" y="1536192"/>
            <a:ext cx="5120640" cy="292608"/>
          </a:xfrm>
          <a:prstGeom prst="rect">
            <a:avLst/>
          </a:prstGeom>
          <a:noFill/>
          <a:ln/>
        </p:spPr>
        <p:txBody>
          <a:bodyPr wrap="square" lIns="0" tIns="0" rIns="0" bIns="0" rtlCol="0" anchor="ctr"/>
          <a:lstStyle/>
          <a:p>
            <a:pPr marL="0" indent="0">
              <a:buNone/>
            </a:pPr>
            <a:r>
              <a:rPr lang="en-US" b="1" dirty="0">
                <a:solidFill>
                  <a:srgbClr val="C0392B"/>
                </a:solidFill>
                <a:latin typeface="Arial" pitchFamily="34" charset="0"/>
                <a:ea typeface="Arial" pitchFamily="34" charset="-122"/>
                <a:cs typeface="Arial" pitchFamily="34" charset="-120"/>
              </a:rPr>
              <a:t>Never commit data.</a:t>
            </a:r>
            <a:endParaRPr lang="en-US" dirty="0"/>
          </a:p>
        </p:txBody>
      </p:sp>
      <p:sp>
        <p:nvSpPr>
          <p:cNvPr id="6" name="Text 4"/>
          <p:cNvSpPr txBox="1"/>
          <p:nvPr/>
        </p:nvSpPr>
        <p:spPr>
          <a:xfrm>
            <a:off x="907999" y="1865376"/>
            <a:ext cx="5212080" cy="365760"/>
          </a:xfrm>
          <a:prstGeom prst="rect">
            <a:avLst/>
          </a:prstGeom>
          <a:noFill/>
          <a:ln/>
        </p:spPr>
        <p:txBody>
          <a:bodyPr wrap="square" lIns="0" tIns="0" rIns="0" bIns="0" rtlCol="0" anchor="ctr"/>
          <a:lstStyle/>
          <a:p>
            <a:pPr marL="0" indent="0">
              <a:lnSpc>
                <a:spcPts val="1500"/>
              </a:lnSpc>
              <a:buNone/>
            </a:pPr>
            <a:r>
              <a:rPr lang="en-US" sz="1400" dirty="0">
                <a:solidFill>
                  <a:srgbClr val="1F2933"/>
                </a:solidFill>
                <a:latin typeface="Arial" pitchFamily="34" charset="0"/>
                <a:ea typeface="Arial" pitchFamily="34" charset="-122"/>
                <a:cs typeface="Arial" pitchFamily="34" charset="-120"/>
              </a:rPr>
              <a:t>GitHub warns above 50 MB and refuses above 100 MB. One FASTQ file is bigger than your entire repository should be.</a:t>
            </a:r>
            <a:endParaRPr lang="en-US" sz="1400" dirty="0"/>
          </a:p>
        </p:txBody>
      </p:sp>
      <p:sp>
        <p:nvSpPr>
          <p:cNvPr id="7" name="Shape 5"/>
          <p:cNvSpPr/>
          <p:nvPr/>
        </p:nvSpPr>
        <p:spPr>
          <a:xfrm>
            <a:off x="615391" y="2578608"/>
            <a:ext cx="5760720" cy="2331720"/>
          </a:xfrm>
          <a:prstGeom prst="roundRect">
            <a:avLst>
              <a:gd name="adj" fmla="val 2353"/>
            </a:avLst>
          </a:prstGeom>
          <a:solidFill>
            <a:srgbClr val="1F2933"/>
          </a:solidFill>
          <a:ln w="12700">
            <a:solidFill>
              <a:srgbClr val="1F2933"/>
            </a:solidFill>
            <a:prstDash val="solid"/>
          </a:ln>
        </p:spPr>
        <p:txBody>
          <a:bodyPr/>
          <a:lstStyle/>
          <a:p>
            <a:endParaRPr lang="en-US"/>
          </a:p>
        </p:txBody>
      </p:sp>
      <p:sp>
        <p:nvSpPr>
          <p:cNvPr id="8" name="Text 6"/>
          <p:cNvSpPr txBox="1"/>
          <p:nvPr/>
        </p:nvSpPr>
        <p:spPr>
          <a:xfrm>
            <a:off x="853135" y="2743200"/>
            <a:ext cx="5303520" cy="214884"/>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 .gitignore</a:t>
            </a:r>
            <a:endParaRPr lang="en-US" sz="1400" dirty="0"/>
          </a:p>
        </p:txBody>
      </p:sp>
      <p:sp>
        <p:nvSpPr>
          <p:cNvPr id="9" name="Text 7"/>
          <p:cNvSpPr txBox="1"/>
          <p:nvPr/>
        </p:nvSpPr>
        <p:spPr>
          <a:xfrm>
            <a:off x="853135" y="2958084"/>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*.fastq</a:t>
            </a:r>
            <a:endParaRPr lang="en-US" sz="1400" dirty="0"/>
          </a:p>
        </p:txBody>
      </p:sp>
      <p:sp>
        <p:nvSpPr>
          <p:cNvPr id="10" name="Text 8"/>
          <p:cNvSpPr txBox="1"/>
          <p:nvPr/>
        </p:nvSpPr>
        <p:spPr>
          <a:xfrm>
            <a:off x="853135" y="3172968"/>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*.fastq.gz</a:t>
            </a:r>
            <a:endParaRPr lang="en-US" sz="1400" dirty="0"/>
          </a:p>
        </p:txBody>
      </p:sp>
      <p:sp>
        <p:nvSpPr>
          <p:cNvPr id="11" name="Text 9"/>
          <p:cNvSpPr txBox="1"/>
          <p:nvPr/>
        </p:nvSpPr>
        <p:spPr>
          <a:xfrm>
            <a:off x="853135" y="3387852"/>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*.bam</a:t>
            </a:r>
            <a:endParaRPr lang="en-US" sz="1400" dirty="0"/>
          </a:p>
        </p:txBody>
      </p:sp>
      <p:sp>
        <p:nvSpPr>
          <p:cNvPr id="12" name="Text 10"/>
          <p:cNvSpPr txBox="1"/>
          <p:nvPr/>
        </p:nvSpPr>
        <p:spPr>
          <a:xfrm>
            <a:off x="853135" y="3602736"/>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*.bai</a:t>
            </a:r>
            <a:endParaRPr lang="en-US" sz="1400" dirty="0"/>
          </a:p>
        </p:txBody>
      </p:sp>
      <p:sp>
        <p:nvSpPr>
          <p:cNvPr id="13" name="Text 11"/>
          <p:cNvSpPr txBox="1"/>
          <p:nvPr/>
        </p:nvSpPr>
        <p:spPr>
          <a:xfrm>
            <a:off x="853135" y="3817620"/>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*.fa</a:t>
            </a:r>
            <a:endParaRPr lang="en-US" sz="1400" dirty="0"/>
          </a:p>
        </p:txBody>
      </p:sp>
      <p:sp>
        <p:nvSpPr>
          <p:cNvPr id="14" name="Text 12"/>
          <p:cNvSpPr txBox="1"/>
          <p:nvPr/>
        </p:nvSpPr>
        <p:spPr>
          <a:xfrm>
            <a:off x="853135" y="4032504"/>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data/</a:t>
            </a:r>
            <a:endParaRPr lang="en-US" sz="1400" dirty="0"/>
          </a:p>
        </p:txBody>
      </p:sp>
      <p:sp>
        <p:nvSpPr>
          <p:cNvPr id="15" name="Text 13"/>
          <p:cNvSpPr txBox="1"/>
          <p:nvPr/>
        </p:nvSpPr>
        <p:spPr>
          <a:xfrm>
            <a:off x="853135" y="4247388"/>
            <a:ext cx="5303520" cy="214884"/>
          </a:xfrm>
          <a:prstGeom prst="rect">
            <a:avLst/>
          </a:prstGeom>
          <a:noFill/>
          <a:ln/>
        </p:spPr>
        <p:txBody>
          <a:bodyPr wrap="square" lIns="0" tIns="0" rIns="0" bIns="0" rtlCol="0" anchor="ctr"/>
          <a:lstStyle/>
          <a:p>
            <a:pPr marL="0" indent="0">
              <a:buNone/>
            </a:pPr>
            <a:r>
              <a:rPr lang="en-US" sz="1400" dirty="0">
                <a:solidFill>
                  <a:srgbClr val="E8EDF2"/>
                </a:solidFill>
                <a:latin typeface="Courier New" pitchFamily="34" charset="0"/>
                <a:ea typeface="Courier New" pitchFamily="34" charset="-122"/>
                <a:cs typeface="Courier New" pitchFamily="34" charset="-120"/>
              </a:rPr>
              <a:t>results/</a:t>
            </a:r>
            <a:endParaRPr lang="en-US" sz="1400" dirty="0"/>
          </a:p>
        </p:txBody>
      </p:sp>
      <p:sp>
        <p:nvSpPr>
          <p:cNvPr id="16" name="Text 14"/>
          <p:cNvSpPr txBox="1"/>
          <p:nvPr/>
        </p:nvSpPr>
        <p:spPr>
          <a:xfrm>
            <a:off x="853135" y="4462272"/>
            <a:ext cx="5303520" cy="214884"/>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work/</a:t>
            </a:r>
            <a:endParaRPr lang="en-US" sz="1400" dirty="0"/>
          </a:p>
        </p:txBody>
      </p:sp>
      <p:sp>
        <p:nvSpPr>
          <p:cNvPr id="17" name="Text 15"/>
          <p:cNvSpPr txBox="1"/>
          <p:nvPr/>
        </p:nvSpPr>
        <p:spPr>
          <a:xfrm>
            <a:off x="853135" y="4677156"/>
            <a:ext cx="5303520" cy="214884"/>
          </a:xfrm>
          <a:prstGeom prst="rect">
            <a:avLst/>
          </a:prstGeom>
          <a:noFill/>
          <a:ln/>
        </p:spPr>
        <p:txBody>
          <a:bodyPr wrap="square" lIns="0" tIns="0" rIns="0" bIns="0" rtlCol="0" anchor="ctr"/>
          <a:lstStyle/>
          <a:p>
            <a:pPr marL="0" indent="0">
              <a:buNone/>
            </a:pPr>
            <a:r>
              <a:rPr lang="en-US" sz="1400" dirty="0">
                <a:solidFill>
                  <a:srgbClr val="AFBACA"/>
                </a:solidFill>
                <a:latin typeface="Courier New" pitchFamily="34" charset="0"/>
                <a:ea typeface="Courier New" pitchFamily="34" charset="-122"/>
                <a:cs typeface="Courier New" pitchFamily="34" charset="-120"/>
              </a:rPr>
              <a:t>.snakemake/</a:t>
            </a:r>
            <a:endParaRPr lang="en-US" sz="1400" dirty="0"/>
          </a:p>
        </p:txBody>
      </p:sp>
      <p:sp>
        <p:nvSpPr>
          <p:cNvPr id="18" name="Shape 16"/>
          <p:cNvSpPr/>
          <p:nvPr/>
        </p:nvSpPr>
        <p:spPr>
          <a:xfrm>
            <a:off x="6613855" y="1467612"/>
            <a:ext cx="5221224" cy="1737360"/>
          </a:xfrm>
          <a:prstGeom prst="roundRect">
            <a:avLst>
              <a:gd name="adj" fmla="val 3158"/>
            </a:avLst>
          </a:prstGeom>
          <a:solidFill>
            <a:srgbClr val="EEF4FA"/>
          </a:solidFill>
          <a:ln w="12700">
            <a:solidFill>
              <a:srgbClr val="EEF4FA"/>
            </a:solidFill>
            <a:prstDash val="solid"/>
          </a:ln>
        </p:spPr>
        <p:txBody>
          <a:bodyPr/>
          <a:lstStyle/>
          <a:p>
            <a:endParaRPr lang="en-US"/>
          </a:p>
        </p:txBody>
      </p:sp>
      <p:sp>
        <p:nvSpPr>
          <p:cNvPr id="19" name="Text 17"/>
          <p:cNvSpPr txBox="1"/>
          <p:nvPr/>
        </p:nvSpPr>
        <p:spPr>
          <a:xfrm>
            <a:off x="6906463" y="1650492"/>
            <a:ext cx="4663440" cy="274320"/>
          </a:xfrm>
          <a:prstGeom prst="rect">
            <a:avLst/>
          </a:prstGeom>
          <a:noFill/>
          <a:ln/>
        </p:spPr>
        <p:txBody>
          <a:bodyPr wrap="square" lIns="0" tIns="0" rIns="0" bIns="0" rtlCol="0" anchor="ctr"/>
          <a:lstStyle/>
          <a:p>
            <a:pPr marL="0" indent="0">
              <a:buNone/>
            </a:pPr>
            <a:r>
              <a:rPr lang="en-US" b="1" dirty="0">
                <a:solidFill>
                  <a:srgbClr val="3172AE"/>
                </a:solidFill>
                <a:latin typeface="Arial" pitchFamily="34" charset="0"/>
                <a:ea typeface="Arial" pitchFamily="34" charset="-122"/>
                <a:cs typeface="Arial" pitchFamily="34" charset="-120"/>
              </a:rPr>
              <a:t>What belongs in a repository</a:t>
            </a:r>
            <a:endParaRPr lang="en-US" dirty="0"/>
          </a:p>
        </p:txBody>
      </p:sp>
      <p:sp>
        <p:nvSpPr>
          <p:cNvPr id="20" name="Text 18"/>
          <p:cNvSpPr txBox="1"/>
          <p:nvPr/>
        </p:nvSpPr>
        <p:spPr>
          <a:xfrm>
            <a:off x="6906463" y="1997964"/>
            <a:ext cx="4663440" cy="11430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Scripts, notebooks, configuration, sample sheets</a:t>
            </a:r>
            <a:endParaRPr lang="en-US" sz="1400" dirty="0"/>
          </a:p>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environment.yml or a container definition</a:t>
            </a:r>
            <a:endParaRPr lang="en-US" sz="1400" dirty="0"/>
          </a:p>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A README that says how to get the data</a:t>
            </a:r>
            <a:endParaRPr lang="en-US" sz="1400" dirty="0"/>
          </a:p>
          <a:p>
            <a:pPr marL="177800" indent="-177800">
              <a:spcAft>
                <a:spcPts val="800"/>
              </a:spcAft>
              <a:buSzPct val="100000"/>
              <a:buChar char="●"/>
            </a:pPr>
            <a:r>
              <a:rPr lang="en-US" sz="1400" dirty="0">
                <a:solidFill>
                  <a:srgbClr val="1F2933"/>
                </a:solidFill>
                <a:latin typeface="Arial" pitchFamily="34" charset="0"/>
                <a:ea typeface="Arial" pitchFamily="34" charset="-122"/>
                <a:cs typeface="Arial" pitchFamily="34" charset="-120"/>
              </a:rPr>
              <a:t>Small result tables somebody might want to check</a:t>
            </a:r>
            <a:endParaRPr lang="en-US" sz="1400" dirty="0"/>
          </a:p>
        </p:txBody>
      </p:sp>
      <p:sp>
        <p:nvSpPr>
          <p:cNvPr id="21" name="Shape 19"/>
          <p:cNvSpPr/>
          <p:nvPr/>
        </p:nvSpPr>
        <p:spPr>
          <a:xfrm>
            <a:off x="6613855" y="3387852"/>
            <a:ext cx="5221224" cy="1508760"/>
          </a:xfrm>
          <a:prstGeom prst="roundRect">
            <a:avLst>
              <a:gd name="adj" fmla="val 3636"/>
            </a:avLst>
          </a:prstGeom>
          <a:solidFill>
            <a:srgbClr val="FFF8E6"/>
          </a:solidFill>
          <a:ln w="15875">
            <a:solidFill>
              <a:srgbClr val="FFC82C"/>
            </a:solidFill>
            <a:prstDash val="solid"/>
          </a:ln>
        </p:spPr>
        <p:txBody>
          <a:bodyPr/>
          <a:lstStyle/>
          <a:p>
            <a:endParaRPr lang="en-US"/>
          </a:p>
        </p:txBody>
      </p:sp>
      <p:sp>
        <p:nvSpPr>
          <p:cNvPr id="22" name="Text 20"/>
          <p:cNvSpPr txBox="1"/>
          <p:nvPr/>
        </p:nvSpPr>
        <p:spPr>
          <a:xfrm>
            <a:off x="6892747" y="3492205"/>
            <a:ext cx="4663440" cy="274320"/>
          </a:xfrm>
          <a:prstGeom prst="rect">
            <a:avLst/>
          </a:prstGeom>
          <a:noFill/>
          <a:ln/>
        </p:spPr>
        <p:txBody>
          <a:bodyPr wrap="square" lIns="0" tIns="0" rIns="0" bIns="0" rtlCol="0" anchor="ctr"/>
          <a:lstStyle/>
          <a:p>
            <a:pPr marL="0" indent="0">
              <a:buNone/>
            </a:pPr>
            <a:r>
              <a:rPr lang="en-US" b="1" dirty="0">
                <a:solidFill>
                  <a:srgbClr val="9C7A00"/>
                </a:solidFill>
                <a:latin typeface="Arial" pitchFamily="34" charset="0"/>
                <a:ea typeface="Arial" pitchFamily="34" charset="-122"/>
                <a:cs typeface="Arial" pitchFamily="34" charset="-120"/>
              </a:rPr>
              <a:t>Write it before your first commit</a:t>
            </a:r>
            <a:endParaRPr lang="en-US" dirty="0"/>
          </a:p>
        </p:txBody>
      </p:sp>
      <p:sp>
        <p:nvSpPr>
          <p:cNvPr id="23" name="Text 21"/>
          <p:cNvSpPr txBox="1"/>
          <p:nvPr/>
        </p:nvSpPr>
        <p:spPr>
          <a:xfrm>
            <a:off x="6892747" y="3924074"/>
            <a:ext cx="4663440" cy="822960"/>
          </a:xfrm>
          <a:prstGeom prst="rect">
            <a:avLst/>
          </a:prstGeom>
          <a:noFill/>
          <a:ln/>
        </p:spPr>
        <p:txBody>
          <a:bodyPr wrap="square" lIns="0" tIns="0" rIns="0" bIns="0" rtlCol="0" anchor="ctr"/>
          <a:lstStyle/>
          <a:p>
            <a:pPr marL="0" indent="0">
              <a:lnSpc>
                <a:spcPts val="1500"/>
              </a:lnSpc>
              <a:buNone/>
            </a:pPr>
            <a:r>
              <a:rPr lang="en-US" sz="1400" dirty="0">
                <a:solidFill>
                  <a:srgbClr val="1F2933"/>
                </a:solidFill>
                <a:latin typeface="Arial" pitchFamily="34" charset="0"/>
                <a:ea typeface="Arial" pitchFamily="34" charset="-122"/>
                <a:cs typeface="Arial" pitchFamily="34" charset="-120"/>
              </a:rPr>
              <a:t>Once a large file is in the history, adding it to .gitignore does nothing, because it is already recorded in every clone forever. Removing it means rewriting history, which is unpleasant and, on a shared repository, rude.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marL="0" indent="0">
              <a:buNone/>
            </a:pPr>
            <a:r>
              <a:rPr lang="en-US" sz="2800" b="1" dirty="0">
                <a:solidFill>
                  <a:srgbClr val="3172AE"/>
                </a:solidFill>
                <a:latin typeface="Arial" pitchFamily="34" charset="0"/>
                <a:ea typeface="Arial" pitchFamily="34" charset="-122"/>
                <a:cs typeface="Arial" pitchFamily="34" charset="-120"/>
              </a:rPr>
              <a:t>GitHub is a website. Git is the tool</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marL="0" indent="0">
              <a:buNone/>
            </a:pPr>
            <a:r>
              <a:rPr lang="en-US" sz="1200" kern="0" spc="110" dirty="0">
                <a:solidFill>
                  <a:srgbClr val="9AA5B1"/>
                </a:solidFill>
                <a:latin typeface="Arial" pitchFamily="34" charset="0"/>
                <a:ea typeface="Arial" pitchFamily="34" charset="-122"/>
                <a:cs typeface="Arial" pitchFamily="34" charset="-120"/>
              </a:rPr>
              <a:t>GIT FROM DAY ONE</a:t>
            </a:r>
            <a:endParaRPr lang="en-US" sz="1200" dirty="0"/>
          </a:p>
        </p:txBody>
      </p:sp>
      <p:sp>
        <p:nvSpPr>
          <p:cNvPr id="4" name="Shape 2"/>
          <p:cNvSpPr/>
          <p:nvPr/>
        </p:nvSpPr>
        <p:spPr>
          <a:xfrm>
            <a:off x="615391" y="1481328"/>
            <a:ext cx="5120640" cy="1371600"/>
          </a:xfrm>
          <a:prstGeom prst="roundRect">
            <a:avLst>
              <a:gd name="adj" fmla="val 4000"/>
            </a:avLst>
          </a:prstGeom>
          <a:solidFill>
            <a:srgbClr val="FAFBFC"/>
          </a:solidFill>
          <a:ln w="12700">
            <a:solidFill>
              <a:srgbClr val="FAFBFC"/>
            </a:solidFill>
            <a:prstDash val="solid"/>
          </a:ln>
        </p:spPr>
        <p:txBody>
          <a:bodyPr/>
          <a:lstStyle/>
          <a:p>
            <a:endParaRPr lang="en-US"/>
          </a:p>
        </p:txBody>
      </p:sp>
      <p:sp>
        <p:nvSpPr>
          <p:cNvPr id="5" name="Text 3"/>
          <p:cNvSpPr txBox="1"/>
          <p:nvPr/>
        </p:nvSpPr>
        <p:spPr>
          <a:xfrm>
            <a:off x="889711" y="1645920"/>
            <a:ext cx="2743200" cy="274320"/>
          </a:xfrm>
          <a:prstGeom prst="rect">
            <a:avLst/>
          </a:prstGeom>
          <a:noFill/>
          <a:ln/>
        </p:spPr>
        <p:txBody>
          <a:bodyPr wrap="square" lIns="0" tIns="0" rIns="0" bIns="0" rtlCol="0" anchor="ctr"/>
          <a:lstStyle/>
          <a:p>
            <a:pPr marL="0" indent="0">
              <a:buNone/>
            </a:pPr>
            <a:r>
              <a:rPr lang="en-US" b="1" dirty="0">
                <a:solidFill>
                  <a:srgbClr val="205081"/>
                </a:solidFill>
                <a:latin typeface="Arial" pitchFamily="34" charset="0"/>
                <a:ea typeface="Arial" pitchFamily="34" charset="-122"/>
                <a:cs typeface="Arial" pitchFamily="34" charset="-120"/>
              </a:rPr>
              <a:t>Your </a:t>
            </a:r>
            <a:r>
              <a:rPr lang="en-US" sz="2000" b="1" dirty="0">
                <a:solidFill>
                  <a:srgbClr val="205081"/>
                </a:solidFill>
                <a:latin typeface="Arial" pitchFamily="34" charset="0"/>
                <a:ea typeface="Arial" pitchFamily="34" charset="-122"/>
                <a:cs typeface="Arial" pitchFamily="34" charset="-120"/>
              </a:rPr>
              <a:t>machine</a:t>
            </a:r>
            <a:endParaRPr lang="en-US" dirty="0"/>
          </a:p>
        </p:txBody>
      </p:sp>
      <p:sp>
        <p:nvSpPr>
          <p:cNvPr id="6" name="Text 4"/>
          <p:cNvSpPr txBox="1"/>
          <p:nvPr/>
        </p:nvSpPr>
        <p:spPr>
          <a:xfrm>
            <a:off x="889711" y="1993392"/>
            <a:ext cx="4572000" cy="685800"/>
          </a:xfrm>
          <a:prstGeom prst="rect">
            <a:avLst/>
          </a:prstGeom>
          <a:noFill/>
          <a:ln/>
        </p:spPr>
        <p:txBody>
          <a:bodyPr wrap="square" lIns="0" tIns="0" rIns="0" bIns="0" rtlCol="0" anchor="ctr"/>
          <a:lstStyle/>
          <a:p>
            <a:pPr marL="0" indent="0">
              <a:lnSpc>
                <a:spcPts val="1600"/>
              </a:lnSpc>
              <a:buNone/>
            </a:pPr>
            <a:r>
              <a:rPr lang="en-US" sz="1600" dirty="0">
                <a:solidFill>
                  <a:srgbClr val="6B7280"/>
                </a:solidFill>
                <a:latin typeface="Arial" pitchFamily="34" charset="0"/>
                <a:ea typeface="Arial" pitchFamily="34" charset="-122"/>
                <a:cs typeface="Arial" pitchFamily="34" charset="-120"/>
              </a:rPr>
              <a:t>The full repository, including the entire history. Git works completely offline, commits do not need a network.</a:t>
            </a:r>
            <a:endParaRPr lang="en-US" sz="1600" dirty="0"/>
          </a:p>
        </p:txBody>
      </p:sp>
      <p:sp>
        <p:nvSpPr>
          <p:cNvPr id="7" name="Text 5"/>
          <p:cNvSpPr txBox="1"/>
          <p:nvPr/>
        </p:nvSpPr>
        <p:spPr>
          <a:xfrm>
            <a:off x="5532120" y="1828800"/>
            <a:ext cx="1188720" cy="256032"/>
          </a:xfrm>
          <a:prstGeom prst="rect">
            <a:avLst/>
          </a:prstGeom>
          <a:noFill/>
          <a:ln/>
        </p:spPr>
        <p:txBody>
          <a:bodyPr wrap="square" lIns="0" tIns="0" rIns="0" bIns="0" rtlCol="0" anchor="ctr"/>
          <a:lstStyle/>
          <a:p>
            <a:pPr marL="0" indent="0" algn="ctr">
              <a:buNone/>
            </a:pPr>
            <a:r>
              <a:rPr lang="en-US" sz="1400" b="1" dirty="0">
                <a:solidFill>
                  <a:srgbClr val="205081"/>
                </a:solidFill>
                <a:latin typeface="Courier New" pitchFamily="34" charset="0"/>
                <a:ea typeface="Courier New" pitchFamily="34" charset="-122"/>
                <a:cs typeface="Courier New" pitchFamily="34" charset="-120"/>
              </a:rPr>
              <a:t>git push →</a:t>
            </a:r>
            <a:endParaRPr lang="en-US" sz="1400" dirty="0"/>
          </a:p>
        </p:txBody>
      </p:sp>
      <p:sp>
        <p:nvSpPr>
          <p:cNvPr id="8" name="Text 6"/>
          <p:cNvSpPr txBox="1"/>
          <p:nvPr/>
        </p:nvSpPr>
        <p:spPr>
          <a:xfrm>
            <a:off x="5532120" y="2194560"/>
            <a:ext cx="1188720" cy="256032"/>
          </a:xfrm>
          <a:prstGeom prst="rect">
            <a:avLst/>
          </a:prstGeom>
          <a:noFill/>
          <a:ln/>
        </p:spPr>
        <p:txBody>
          <a:bodyPr wrap="square" lIns="0" tIns="0" rIns="0" bIns="0" rtlCol="0" anchor="ctr"/>
          <a:lstStyle/>
          <a:p>
            <a:pPr marL="0" indent="0" algn="ctr">
              <a:buNone/>
            </a:pPr>
            <a:r>
              <a:rPr lang="en-US" sz="1400" b="1" dirty="0">
                <a:solidFill>
                  <a:srgbClr val="205081"/>
                </a:solidFill>
                <a:latin typeface="Courier New" pitchFamily="34" charset="0"/>
                <a:ea typeface="Courier New" pitchFamily="34" charset="-122"/>
                <a:cs typeface="Courier New" pitchFamily="34" charset="-120"/>
              </a:rPr>
              <a:t>← git pull</a:t>
            </a:r>
            <a:endParaRPr lang="en-US" sz="1400" dirty="0"/>
          </a:p>
        </p:txBody>
      </p:sp>
      <p:sp>
        <p:nvSpPr>
          <p:cNvPr id="9" name="Shape 7"/>
          <p:cNvSpPr/>
          <p:nvPr/>
        </p:nvSpPr>
        <p:spPr>
          <a:xfrm>
            <a:off x="6720839" y="1481328"/>
            <a:ext cx="4855464" cy="1371600"/>
          </a:xfrm>
          <a:prstGeom prst="roundRect">
            <a:avLst>
              <a:gd name="adj" fmla="val 4000"/>
            </a:avLst>
          </a:prstGeom>
          <a:solidFill>
            <a:srgbClr val="EEF4FA"/>
          </a:solidFill>
          <a:ln w="12700">
            <a:solidFill>
              <a:srgbClr val="EEF4FA"/>
            </a:solidFill>
            <a:prstDash val="solid"/>
          </a:ln>
        </p:spPr>
        <p:txBody>
          <a:bodyPr/>
          <a:lstStyle/>
          <a:p>
            <a:endParaRPr lang="en-US" sz="2800"/>
          </a:p>
        </p:txBody>
      </p:sp>
      <p:sp>
        <p:nvSpPr>
          <p:cNvPr id="10" name="Text 8"/>
          <p:cNvSpPr txBox="1"/>
          <p:nvPr/>
        </p:nvSpPr>
        <p:spPr>
          <a:xfrm>
            <a:off x="6876288" y="1668780"/>
            <a:ext cx="2743200" cy="274320"/>
          </a:xfrm>
          <a:prstGeom prst="rect">
            <a:avLst/>
          </a:prstGeom>
          <a:noFill/>
          <a:ln/>
        </p:spPr>
        <p:txBody>
          <a:bodyPr wrap="square" lIns="0" tIns="0" rIns="0" bIns="0" rtlCol="0" anchor="ctr"/>
          <a:lstStyle/>
          <a:p>
            <a:pPr marL="0" indent="0">
              <a:buNone/>
            </a:pPr>
            <a:r>
              <a:rPr lang="en-US" sz="2000" b="1" dirty="0">
                <a:solidFill>
                  <a:srgbClr val="3172AE"/>
                </a:solidFill>
                <a:latin typeface="Arial" pitchFamily="34" charset="0"/>
                <a:ea typeface="Arial" pitchFamily="34" charset="-122"/>
                <a:cs typeface="Arial" pitchFamily="34" charset="-120"/>
              </a:rPr>
              <a:t>GitHub</a:t>
            </a:r>
            <a:endParaRPr lang="en-US" sz="2000" dirty="0"/>
          </a:p>
        </p:txBody>
      </p:sp>
      <p:sp>
        <p:nvSpPr>
          <p:cNvPr id="11" name="Text 9"/>
          <p:cNvSpPr txBox="1"/>
          <p:nvPr/>
        </p:nvSpPr>
        <p:spPr>
          <a:xfrm>
            <a:off x="6876288" y="2007108"/>
            <a:ext cx="4572000" cy="685800"/>
          </a:xfrm>
          <a:prstGeom prst="rect">
            <a:avLst/>
          </a:prstGeom>
          <a:noFill/>
          <a:ln/>
        </p:spPr>
        <p:txBody>
          <a:bodyPr wrap="square" lIns="0" tIns="0" rIns="0" bIns="0" rtlCol="0" anchor="ctr"/>
          <a:lstStyle/>
          <a:p>
            <a:pPr marL="0" indent="0">
              <a:lnSpc>
                <a:spcPts val="1600"/>
              </a:lnSpc>
              <a:buNone/>
            </a:pPr>
            <a:r>
              <a:rPr lang="en-US" sz="1600" dirty="0">
                <a:solidFill>
                  <a:srgbClr val="6B7280"/>
                </a:solidFill>
                <a:latin typeface="Arial" pitchFamily="34" charset="0"/>
                <a:ea typeface="Arial" pitchFamily="34" charset="-122"/>
                <a:cs typeface="Arial" pitchFamily="34" charset="-120"/>
              </a:rPr>
              <a:t>A copy on somebody else's computer, with a web interface bolted on. Convenient, not magic, and not the only option.</a:t>
            </a:r>
            <a:endParaRPr lang="en-US" sz="1600" dirty="0"/>
          </a:p>
        </p:txBody>
      </p:sp>
      <p:sp>
        <p:nvSpPr>
          <p:cNvPr id="12" name="Shape 10"/>
          <p:cNvSpPr/>
          <p:nvPr/>
        </p:nvSpPr>
        <p:spPr>
          <a:xfrm>
            <a:off x="615391" y="3054096"/>
            <a:ext cx="10960912" cy="1572768"/>
          </a:xfrm>
          <a:prstGeom prst="roundRect">
            <a:avLst>
              <a:gd name="adj" fmla="val 3488"/>
            </a:avLst>
          </a:prstGeom>
          <a:solidFill>
            <a:srgbClr val="1F2933"/>
          </a:solidFill>
          <a:ln w="12700">
            <a:solidFill>
              <a:srgbClr val="1F2933"/>
            </a:solidFill>
            <a:prstDash val="solid"/>
          </a:ln>
        </p:spPr>
        <p:txBody>
          <a:bodyPr/>
          <a:lstStyle/>
          <a:p>
            <a:endParaRPr lang="en-US"/>
          </a:p>
        </p:txBody>
      </p:sp>
      <p:sp>
        <p:nvSpPr>
          <p:cNvPr id="13" name="Text 11"/>
          <p:cNvSpPr txBox="1"/>
          <p:nvPr/>
        </p:nvSpPr>
        <p:spPr>
          <a:xfrm>
            <a:off x="853134" y="3163824"/>
            <a:ext cx="8766353" cy="320040"/>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git remote add origin git@github.com:jsmith/hw1-shell.git</a:t>
            </a:r>
            <a:endParaRPr lang="en-US" sz="1600" dirty="0"/>
          </a:p>
        </p:txBody>
      </p:sp>
      <p:sp>
        <p:nvSpPr>
          <p:cNvPr id="14" name="Text 12"/>
          <p:cNvSpPr txBox="1"/>
          <p:nvPr/>
        </p:nvSpPr>
        <p:spPr>
          <a:xfrm>
            <a:off x="853134" y="3429000"/>
            <a:ext cx="8766353" cy="320040"/>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git push -u origin main</a:t>
            </a:r>
            <a:endParaRPr lang="en-US" sz="1600" dirty="0"/>
          </a:p>
        </p:txBody>
      </p:sp>
      <p:sp>
        <p:nvSpPr>
          <p:cNvPr id="15" name="Text 13"/>
          <p:cNvSpPr txBox="1"/>
          <p:nvPr/>
        </p:nvSpPr>
        <p:spPr>
          <a:xfrm>
            <a:off x="853135" y="3749040"/>
            <a:ext cx="5943600" cy="265176"/>
          </a:xfrm>
          <a:prstGeom prst="rect">
            <a:avLst/>
          </a:prstGeom>
          <a:noFill/>
          <a:ln/>
        </p:spPr>
        <p:txBody>
          <a:bodyPr wrap="square" lIns="0" tIns="0" rIns="0" bIns="0" rtlCol="0" anchor="ctr"/>
          <a:lstStyle/>
          <a:p>
            <a:pPr marL="0" indent="0">
              <a:buNone/>
            </a:pPr>
            <a:endParaRPr lang="en-US" sz="1050" dirty="0"/>
          </a:p>
        </p:txBody>
      </p:sp>
      <p:sp>
        <p:nvSpPr>
          <p:cNvPr id="16" name="Text 14"/>
          <p:cNvSpPr txBox="1"/>
          <p:nvPr/>
        </p:nvSpPr>
        <p:spPr>
          <a:xfrm>
            <a:off x="853134" y="3959352"/>
            <a:ext cx="8766353" cy="320040"/>
          </a:xfrm>
          <a:prstGeom prst="rect">
            <a:avLst/>
          </a:prstGeom>
          <a:noFill/>
          <a:ln/>
        </p:spPr>
        <p:txBody>
          <a:bodyPr wrap="square" lIns="0" tIns="0" rIns="0" bIns="0" rtlCol="0" anchor="ctr"/>
          <a:lstStyle/>
          <a:p>
            <a:pPr marL="0" indent="0">
              <a:buNone/>
            </a:pPr>
            <a:r>
              <a:rPr lang="en-US" sz="1600" dirty="0">
                <a:solidFill>
                  <a:srgbClr val="AFBACA"/>
                </a:solidFill>
                <a:latin typeface="Courier New" pitchFamily="34" charset="0"/>
                <a:ea typeface="Courier New" pitchFamily="34" charset="-122"/>
                <a:cs typeface="Courier New" pitchFamily="34" charset="-120"/>
              </a:rPr>
              <a:t># and on another machine, or for a classmate:</a:t>
            </a:r>
            <a:endParaRPr lang="en-US" sz="1600" dirty="0"/>
          </a:p>
        </p:txBody>
      </p:sp>
      <p:sp>
        <p:nvSpPr>
          <p:cNvPr id="17" name="Text 15"/>
          <p:cNvSpPr txBox="1"/>
          <p:nvPr/>
        </p:nvSpPr>
        <p:spPr>
          <a:xfrm>
            <a:off x="853134" y="4224528"/>
            <a:ext cx="8766353" cy="320040"/>
          </a:xfrm>
          <a:prstGeom prst="rect">
            <a:avLst/>
          </a:prstGeom>
          <a:noFill/>
          <a:ln/>
        </p:spPr>
        <p:txBody>
          <a:bodyPr wrap="square" lIns="0" tIns="0" rIns="0" bIns="0" rtlCol="0" anchor="ctr"/>
          <a:lstStyle/>
          <a:p>
            <a:pPr marL="0" indent="0">
              <a:buNone/>
            </a:pPr>
            <a:r>
              <a:rPr lang="en-US" sz="1600" dirty="0">
                <a:solidFill>
                  <a:srgbClr val="8FBF5F"/>
                </a:solidFill>
                <a:latin typeface="Courier New" pitchFamily="34" charset="0"/>
                <a:ea typeface="Courier New" pitchFamily="34" charset="-122"/>
                <a:cs typeface="Courier New" pitchFamily="34" charset="-120"/>
              </a:rPr>
              <a:t>$ git clone git@github.com:jsmith/hw1-shell.git</a:t>
            </a:r>
            <a:endParaRPr lang="en-US" sz="1600" dirty="0"/>
          </a:p>
        </p:txBody>
      </p:sp>
      <p:sp>
        <p:nvSpPr>
          <p:cNvPr id="21" name="Shape 19"/>
          <p:cNvSpPr/>
          <p:nvPr/>
        </p:nvSpPr>
        <p:spPr>
          <a:xfrm>
            <a:off x="615391" y="4709160"/>
            <a:ext cx="10963656" cy="804672"/>
          </a:xfrm>
          <a:prstGeom prst="roundRect">
            <a:avLst>
              <a:gd name="adj" fmla="val 6818"/>
            </a:avLst>
          </a:prstGeom>
          <a:solidFill>
            <a:srgbClr val="EEF4FA"/>
          </a:solidFill>
          <a:ln w="12700">
            <a:solidFill>
              <a:srgbClr val="EEF4FA"/>
            </a:solidFill>
            <a:prstDash val="solid"/>
          </a:ln>
        </p:spPr>
        <p:txBody>
          <a:bodyPr/>
          <a:lstStyle/>
          <a:p>
            <a:endParaRPr lang="en-US" dirty="0"/>
          </a:p>
        </p:txBody>
      </p:sp>
      <p:sp>
        <p:nvSpPr>
          <p:cNvPr id="22" name="Text 20"/>
          <p:cNvSpPr txBox="1"/>
          <p:nvPr/>
        </p:nvSpPr>
        <p:spPr>
          <a:xfrm>
            <a:off x="999439" y="4882896"/>
            <a:ext cx="10195560" cy="411480"/>
          </a:xfrm>
          <a:prstGeom prst="rect">
            <a:avLst/>
          </a:prstGeom>
          <a:noFill/>
          <a:ln/>
        </p:spPr>
        <p:txBody>
          <a:bodyPr wrap="square" lIns="0" tIns="0" rIns="0" bIns="0" rtlCol="0" anchor="ctr"/>
          <a:lstStyle/>
          <a:p>
            <a:pPr marL="0" indent="0">
              <a:buNone/>
            </a:pPr>
            <a:r>
              <a:rPr lang="en-US" b="1" dirty="0">
                <a:solidFill>
                  <a:srgbClr val="3172AE"/>
                </a:solidFill>
                <a:latin typeface="Arial" pitchFamily="34" charset="0"/>
                <a:ea typeface="Arial" pitchFamily="34" charset="-122"/>
                <a:cs typeface="Arial" pitchFamily="34" charset="-120"/>
              </a:rPr>
              <a:t>Set up an SSH key today rather than typing a token every push. </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TotalTime>
  <Words>5702</Words>
  <Application>Microsoft Macintosh PowerPoint</Application>
  <PresentationFormat>Widescreen</PresentationFormat>
  <Paragraphs>546</Paragraphs>
  <Slides>31</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System Font Regular</vt:lpstr>
      <vt:lpstr>Aptos</vt:lpstr>
      <vt:lpstr>Arial</vt:lpstr>
      <vt:lpstr>Courier New</vt:lpstr>
      <vt:lpstr>Office Theme</vt:lpstr>
      <vt:lpstr>PowerPoint Presentation</vt:lpstr>
      <vt:lpstr>Course Staff</vt:lpstr>
      <vt:lpstr>Course Structure</vt:lpstr>
      <vt:lpstr>Deliverables</vt:lpstr>
      <vt:lpstr>AI Policy</vt:lpstr>
      <vt:lpstr>Computing Environment</vt:lpstr>
      <vt:lpstr>VS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Zhang, Yucheng</cp:lastModifiedBy>
  <cp:revision>38</cp:revision>
  <dcterms:created xsi:type="dcterms:W3CDTF">2026-09-15T19:09:46Z</dcterms:created>
  <dcterms:modified xsi:type="dcterms:W3CDTF">2026-09-29T19:49:42Z</dcterms:modified>
</cp:coreProperties>
</file>