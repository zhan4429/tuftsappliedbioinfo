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2"/>
    <p:sldId id="267" r:id="rId13"/>
    <p:sldId id="268" r:id="rId14"/>
    <p:sldId id="270" r:id="rId16"/>
    <p:sldId id="271" r:id="rId17"/>
    <p:sldId id="272" r:id="rId18"/>
    <p:sldId id="273" r:id="rId19"/>
    <p:sldId id="275" r:id="rId21"/>
    <p:sldId id="278" r:id="rId24"/>
    <p:sldId id="279" r:id="rId25"/>
    <p:sldId id="280" r:id="rId26"/>
    <p:sldId id="282" r:id="rId27"/>
    <p:sldId id="285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6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62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38 min of slidesutes and five topics. This is the densest session of the semester and you should say so out loud at the start.</a:t>
            </a:r>
          </a:p>
          <a:p/>
          <a:p>
            <a:r>
              <a:t>Blocks: HPC and SLURM (20), conda (15), containers (12), public databases (12), downloading and inspecting (10), wrap (6).</a:t>
            </a:r>
          </a:p>
          <a:p/>
          <a:p>
            <a:r>
              <a:t>Frame the session: Session 1 was your own laptop. Today is where the work actually runs and where the data comes from.</a:t>
            </a:r>
          </a:p>
          <a:p/>
          <a:p>
            <a:r>
              <a:t>Tell them plainly that nobody absorbs all of this in one sitting. It is a reference deck; the homework is what makes it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Say the last line out loud rather than letting them read it. It changes how the room experiences the next hour.</a:t>
            </a:r>
          </a:p>
          <a:p/>
          <a:p>
            <a:r>
              <a:t>The thread: blocks 1 to 3 are all answers to the same question — how do I make this run somewhere other than my laptop, the same way, twice. Blocks 4 and 5 are where the input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Use your own cluster's real numbers if you have them — node counts and memory ceilings land better than generic figures.</a:t>
            </a:r>
          </a:p>
          <a:p/>
          <a:p>
            <a:r>
              <a:t>The 'describe your work, then wait' framing is what stops students from treating pending jobs as errors.</a:t>
            </a:r>
          </a:p>
          <a:p/>
          <a:p>
            <a:r>
              <a:t>The cost line matters for graduate students who will eventually be writing the grant that pays for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Replace the filesystem names with your cluster's actual mount points before teaching.</a:t>
            </a:r>
          </a:p>
          <a:p/>
          <a:p>
            <a:r>
              <a:t>The scratch-deletion policy deserves emphasis. Every year somebody loses results to it. Tell them the retention period.</a:t>
            </a:r>
          </a:p>
          <a:p/>
          <a:p>
            <a:r>
              <a:t>'Shared filesystem, unshared CPU' is the key idea: it is why you can write a file on the login node and read it from a compute node, and why you still must not run the analysis where you wrote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Say the srun line is the single most useful command in the session and put it in the chat.</a:t>
            </a:r>
          </a:p>
          <a:p/>
          <a:p>
            <a:r>
              <a:t>The conda-solve example on the 'never' list surprises people, but a large solve can pin a core for several minutes and it is a common offender.</a:t>
            </a:r>
          </a:p>
          <a:p/>
          <a:p>
            <a:r>
              <a:t>Be honest that the rule is about courtesy as much as policy. Students respond better to 'you are sharing' than to 'it is forbidden'.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min. The OUT_OF_MEMORY row hides a very common confusion: students respond to memory errors by requesting more cores, which does nothing. Say it explicitly.</a:t>
            </a:r>
          </a:p>
          <a:p/>
          <a:p>
            <a:r>
              <a:t>COMPLETED does not mean correct. A pipeline can exit 0 having produced an empty file. Foreshadow the Week 2 QC habit.</a:t>
            </a:r>
          </a:p>
          <a:p/>
          <a:p>
            <a:r>
              <a:t>Mention fairshare briefly — heavy recent usage lowers your priority — but do not go into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Walk the script top to bottom. This is the single most reusable artefact in the session — tell them to save it as a template.</a:t>
            </a:r>
          </a:p>
          <a:p/>
          <a:p>
            <a:r>
              <a:t>The logs/ gotcha is genuinely the most common first-job failure, and the failure mode is maddening because the error message is written to a file that cannot be created. Say it twice.</a:t>
            </a:r>
          </a:p>
          <a:p/>
          <a:p>
            <a:r>
              <a:t>'source ~/.bashrc' explains the classic 'command not found' in a job that works interactively. It comes back on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min. seff is the highest-value command here. Many students never discover it and spend a semester guessing.</a:t>
            </a:r>
          </a:p>
          <a:p/>
          <a:p>
            <a:r>
              <a:t>The threading point is worth a sentence: some tools scale well, some have a serial bottleneck, and the only way to know is to measure. This is the benchmarking habit the course keeps returning to, applied to compute.</a:t>
            </a:r>
          </a:p>
          <a:p/>
          <a:p>
            <a:r>
              <a:t>If your cluster does not have seff, show 'sacct -j &lt;id&gt; --format=JobID,MaxRSS,Elapsed,State'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Lead with the third card. Ask how many of them have read a methods section that named a tool without a version. Most published papers still do this.</a:t>
            </a:r>
          </a:p>
          <a:p/>
          <a:p>
            <a:r>
              <a:t>Keep the framing scientific rather than technical. Environments are not IT hygiene; they are the difference between a method and a rumour.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Demonstrate the which/activate/which sequence live. It demystifies conda in about fifteen seconds and prevents students from treating it as magic.</a:t>
            </a:r>
          </a:p>
          <a:p/>
          <a:p>
            <a:r>
              <a:t>The 'what it is not' card is the setup for the container block. Do not resolve it yet — slide 16 is where the limitation bites.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Both right-hand cards are recent changes that most tutorials and most lab protocols have not absorbed, which is exactly why they are on a slide.</a:t>
            </a:r>
          </a:p>
          <a:p/>
          <a:p>
            <a:r>
              <a:t>Check what your own HPC centre has done about Anaconda licensing before teaching this, and say what your cluster actually provides.</a:t>
            </a:r>
          </a:p>
          <a:p/>
          <a:p>
            <a:r>
              <a:t>strict channel priority prevents a real class of mixed-channel breakage. It is worth the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min. The two-exports distinction is the part most courses skip and the part that actually matters.</a:t>
            </a:r>
          </a:p>
          <a:p/>
          <a:p>
            <a:r>
              <a:t>Demonstrate --from-history on a real environment. Students are always startled by how short it is compared with the full export.</a:t>
            </a:r>
          </a:p>
          <a:p/>
          <a:p>
            <a:r>
              <a:t>Tie back to Session 1: this file lives in the repository, next to the scripts. That is what 'reproducible' means concretely.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This is a deliberate bridge, not a criticism of conda. Say that explicitly — students who hear 'conda is unreliable' stop using it and end up worse off.</a:t>
            </a:r>
          </a:p>
          <a:p/>
          <a:p>
            <a:r>
              <a:t>The glibc example is worth keeping concrete: it is the failure that most obviously cannot be solved at the package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The distinction to land is 'packages' versus 'whole userspace'. Everything else follows.</a:t>
            </a:r>
          </a:p>
          <a:p/>
          <a:p>
            <a:r>
              <a:t>Shares the kernel is worth one sentence: it is why a container starts in milliseconds and a VM takes a minute, and why containers cannot run a different operating system than the host.</a:t>
            </a:r>
          </a:p>
          <a:p/>
          <a:p>
            <a:r>
              <a:t>Do not go into layers, overlayfs or Dockerfile syntax. They will meet Dockerfiles in Week 3 through nf-core, and only if they want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The root-daemon explanation is the reason clusters ban Docker, and giving the reason stops students from filing a ticket asking for it.</a:t>
            </a:r>
          </a:p>
          <a:p/>
          <a:p>
            <a:r>
              <a:t>The auto-mounting row surprises people in both directions: Docker users expect to see nothing, Apptainer users expect nothing and find their home directory already there.</a:t>
            </a:r>
          </a:p>
          <a:p/>
          <a:p>
            <a:r>
              <a:t>Say which runtime your own cluster provides before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min. The BioContainers point is the practically useful one: students assume they must build images. They almost never do.</a:t>
            </a:r>
          </a:p>
          <a:p/>
          <a:p>
            <a:r>
              <a:t>The :latest explanation is worth the time because it is genuinely counterintuitive — the friendliest-looking tag is the one that breaks reproducibility.</a:t>
            </a:r>
          </a:p>
          <a:p/>
          <a:p>
            <a:r>
              <a:t>Connect the closing line back to Week 2's basecaller-version point and forward to Week 3's annotation-version point. Same habit, three contexts.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This slide is pure literacy — students cannot navigate the databases until the prefixes stop being noise.</a:t>
            </a:r>
          </a:p>
          <a:p/>
          <a:p>
            <a:r>
              <a:t>The SRR line is the one to emphasise: papers cite PRJNA, tools want SRR, and getting from one to the other is the next slide.</a:t>
            </a:r>
          </a:p>
          <a:p/>
          <a:p>
            <a:r>
              <a:t>The GCA/GCF warning previews the reference-mismatch slide two ahead and the Week 3 annotation-versions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min. Run the curl live. Watching a paper's accession become a table of downloadable runs is the moment the hierarchy makes sense.</a:t>
            </a:r>
          </a:p>
          <a:p/>
          <a:p>
            <a:r>
              <a:t>The merged-runs point matters: a sample split across four runs is one sample, not four, and treating them as replicates is the Week 2 mistake arriving early.</a:t>
            </a:r>
          </a:p>
          <a:p/>
          <a:p>
            <a:r>
              <a:t>Flag explicitly that this reappears as Part 0 of the genome assembly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Treat this with the same weight as the confounding slide in Week 2. It is the same class of failure: no error, wrong answer.</a:t>
            </a:r>
          </a:p>
          <a:p/>
          <a:p>
            <a:r>
              <a:t>Call back to the sed one-liner from Session 1 — stripping chr is the fix for row three, and it is a patch on a problem you should not have had.</a:t>
            </a:r>
          </a:p>
          <a:p/>
          <a:p>
            <a:r>
              <a:t>Week 3 Session 2 goes into this properly. Today they only need the habit: one source, written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The practical recommendation is ENA first: it gives you gzipped FASTQ with no conversion, and the API on slide 24 gives you the URLs.</a:t>
            </a:r>
          </a:p>
          <a:p/>
          <a:p>
            <a:r>
              <a:t>The fasterq-dump temp-directory problem is guaranteed to bite at least a third of the class. Say it, and put the flag in the chat.</a:t>
            </a:r>
          </a:p>
          <a:p/>
          <a:p>
            <a:r>
              <a:t>Mention that downloads belong in a job or at least an interactive allocation, not on the login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Read the three aloud.</a:t>
            </a:r>
          </a:p>
          <a:p/>
          <a:p>
            <a:r>
              <a:t>Point out that the homework touches all five blocks deliberately — it is a single small task that requires the whole session, which is the only way this much material sticks.</a:t>
            </a:r>
          </a:p>
          <a:p/>
          <a:p>
            <a:r>
              <a:t>Last thing to say out loud: if they only remember one, make it number two. It is the one that separates work that can be checked from work that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FTS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7123" cy="6855257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" y="10058"/>
            <a:ext cx="2296973" cy="14932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F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2" y="6025896"/>
            <a:ext cx="1280160" cy="8321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7160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Biology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2958" y="2395728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HPC, Environments, Containers,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Public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1188" y="37307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Bioinformatics  ·  Week 1, Session 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61188" y="40965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Biology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topics, and why they belong together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26464"/>
            <a:ext cx="10963656" cy="603504"/>
          </a:xfrm>
          <a:prstGeom prst="roundRect">
            <a:avLst>
              <a:gd name="adj" fmla="val 909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1423" y="1554480"/>
            <a:ext cx="347472" cy="347472"/>
          </a:xfrm>
          <a:prstGeom prst="diamond">
            <a:avLst/>
          </a:prstGeom>
          <a:solidFill>
            <a:srgbClr val="C0CD30"/>
          </a:solidFill>
          <a:ln w="12700">
            <a:solidFill>
              <a:srgbClr val="C0CD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71423" y="16093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456639" y="1591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and SLURM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553151" y="15910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work runs, and how to ask for 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1423" y="2267712"/>
            <a:ext cx="347472" cy="347472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71423" y="232257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456639" y="2304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conda and mamba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553151" y="2304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software, exactly, and written down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5391" y="2852928"/>
            <a:ext cx="10963656" cy="603504"/>
          </a:xfrm>
          <a:prstGeom prst="roundRect">
            <a:avLst>
              <a:gd name="adj" fmla="val 909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1423" y="2980944"/>
            <a:ext cx="347472" cy="347472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71423" y="303580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456639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553151" y="30175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“written down” is not enough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5391" y="3566160"/>
            <a:ext cx="1096365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71423" y="3694176"/>
            <a:ext cx="347472" cy="347472"/>
          </a:xfrm>
          <a:prstGeom prst="diamond">
            <a:avLst/>
          </a:prstGeom>
          <a:solidFill>
            <a:srgbClr val="205081"/>
          </a:solidFill>
          <a:ln w="12700">
            <a:solidFill>
              <a:srgbClr val="2050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71423" y="37490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456639" y="3730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databases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553151" y="37307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data lives, and what its names mean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5391" y="4279392"/>
            <a:ext cx="10963656" cy="603504"/>
          </a:xfrm>
          <a:prstGeom prst="roundRect">
            <a:avLst>
              <a:gd name="adj" fmla="val 909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1423" y="4407408"/>
            <a:ext cx="347472" cy="347472"/>
          </a:xfrm>
          <a:prstGeom prst="diamond">
            <a:avLst/>
          </a:prstGeom>
          <a:solidFill>
            <a:srgbClr val="7C8A1E"/>
          </a:solidFill>
          <a:ln w="12700">
            <a:solidFill>
              <a:srgbClr val="7C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71423" y="44622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456639" y="4443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Downloading and inspecting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5553151" y="4443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it, and checking it arrived intact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cannot do this on your laptop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AND SLURM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2542032" cy="1572768"/>
          </a:xfrm>
          <a:prstGeom prst="roundRect">
            <a:avLst>
              <a:gd name="adj" fmla="val 3488"/>
            </a:avLst>
          </a:prstGeom>
          <a:solidFill>
            <a:srgbClr val="FAFBFC"/>
          </a:solidFill>
          <a:ln w="1587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53135" y="16642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53135" y="226771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and GB</a:t>
            </a:r>
            <a:endParaRPr lang="en-US" sz="14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good laptop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04311" y="1481328"/>
            <a:ext cx="2542032" cy="1572768"/>
          </a:xfrm>
          <a:prstGeom prst="roundRect">
            <a:avLst>
              <a:gd name="adj" fmla="val 3488"/>
            </a:avLst>
          </a:prstGeom>
          <a:solidFill>
            <a:srgbClr val="FAFBFC"/>
          </a:solidFill>
          <a:ln w="15875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642055" y="16642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GB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42055" y="226771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to hold a human</a:t>
            </a:r>
            <a:endParaRPr lang="en-US" sz="14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genome index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3231" y="1481328"/>
            <a:ext cx="2542032" cy="1572768"/>
          </a:xfrm>
          <a:prstGeom prst="roundRect">
            <a:avLst>
              <a:gd name="adj" fmla="val 3488"/>
            </a:avLst>
          </a:prstGeom>
          <a:solidFill>
            <a:srgbClr val="FAFBFC"/>
          </a:solidFill>
          <a:ln w="15875">
            <a:solidFill>
              <a:srgbClr val="498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30975" y="16642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98B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30975" y="226771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CPU-hours for one</a:t>
            </a:r>
            <a:endParaRPr lang="en-US" sz="14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run of 24 samples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481328"/>
            <a:ext cx="2523744" cy="1572768"/>
          </a:xfrm>
          <a:prstGeom prst="roundRect">
            <a:avLst>
              <a:gd name="adj" fmla="val 348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290304" y="1664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data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2066544"/>
            <a:ext cx="2228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sequencing run is hundreds of gigabytes, and it is already sitting on the cluster filesystem. Moving it to you is not a plan.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5391" y="3264408"/>
            <a:ext cx="10963656" cy="576072"/>
          </a:xfrm>
          <a:prstGeom prst="roundRect">
            <a:avLst>
              <a:gd name="adj" fmla="val 5714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99439" y="3438144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cluster is not a faster laptop. It is a shared queue that you submit your work to, then wait.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15391" y="4384548"/>
            <a:ext cx="1096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worth saying: compute time is real money, paid by somebody. Asking for eight cores you do not use is not free.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cluster is made of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AND SLURM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FF8E6"/>
          </a:solidFill>
          <a:ln w="19050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1423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node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71423" y="19933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machines, shared by everyone at once. Where you land when you ssh in.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07231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47311" y="1481328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EEF4FA"/>
          </a:solidFill>
          <a:ln w="19050">
            <a:solidFill>
              <a:srgbClr val="498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03343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(SLURM)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803343" y="19933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your description of a job and decides when and where it runs.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839151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479231" y="1481328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9050">
            <a:solidFill>
              <a:srgbClr val="C0CD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735263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C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nodes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735263" y="19933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machines that actually do the work. You never log in to one directly.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5391" y="3054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them see the same filesystem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5391" y="3419856"/>
            <a:ext cx="10963656" cy="530352"/>
          </a:xfrm>
          <a:prstGeom prst="roundRect">
            <a:avLst>
              <a:gd name="adj" fmla="val 10345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53135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98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$HOME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67151" y="3566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33311" y="3566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scripts, environments,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91" y="4041648"/>
            <a:ext cx="10963656" cy="530352"/>
          </a:xfrm>
          <a:prstGeom prst="roundRect">
            <a:avLst>
              <a:gd name="adj" fmla="val 10345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53135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/cluster/tufts/</a:t>
            </a:r>
            <a:r>
              <a:rPr lang="en-US" sz="1400" b="1" dirty="0" err="1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mylab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67151" y="4187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lab’s shared project folder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33311" y="41879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an analysis produces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5391" y="5029200"/>
            <a:ext cx="1096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filesystem is shared. The processor is not. 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run analyses on the login node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AND SLURM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10963656" cy="91440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99439" y="1554480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hundred people share that machine. Running an aligner on it slows everybody's typing to a crawl.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99439" y="1993392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 will be killed, and an administrator will email you about it.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5391" y="2578608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07999" y="2600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on the login node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07999" y="300939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files, git, ls, cd, small greps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Submitting and monitoring jobs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Downloading a modest file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finishes in a second or two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7064" y="2578608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FDEDEC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37960" y="2600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on the login node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00939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Alignment, assembly, variant calling, anything with -t or --threads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Unzipping or converting a sequencing run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or Python sessions that load a big matrix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conda solves for a large environment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5391" y="4899991"/>
            <a:ext cx="10963656" cy="841248"/>
          </a:xfrm>
          <a:prstGeom prst="roundRect">
            <a:avLst>
              <a:gd name="adj" fmla="val 6522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53135" y="5064583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B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Need a shell on a real machine? Ask for one: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3135" y="5357191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 err="1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srun</a:t>
            </a: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--nodes=1 --</a:t>
            </a:r>
            <a:r>
              <a:rPr lang="en-US" sz="1400" dirty="0" err="1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ntasks</a:t>
            </a: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=1 --cpus-per-task=8 --mem=32G --time=2:00:00 --</a:t>
            </a:r>
            <a:r>
              <a:rPr lang="en-US" sz="1400" dirty="0" err="1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pty</a:t>
            </a: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/bin/bash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your job says PENDING, and why that is fine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AND SLURM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15391" y="1426464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the work. The scheduler finds a slot where that description fits.</a:t>
            </a: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022700"/>
              </p:ext>
            </p:extLst>
          </p:nvPr>
        </p:nvGraphicFramePr>
        <p:xfrm>
          <a:off x="615391" y="1792224"/>
          <a:ext cx="10963656" cy="26517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PENDING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Queued. Reason given as Priority, Resources, or QOSMaxJobs.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Nothing. This is normal.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050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RUNNING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Executing on a compute node right now.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 the log file.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COMPLETED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Exited with status 0.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the output is real, not just present.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FAILED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program returned an error.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the .err file.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TIMEOUT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 the wall time you requested and was killed.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 for more time and resubmit.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OUT_OF_MEMORY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Exceeded the memory you requested.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 for more memory, not more cores.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5391" y="4572000"/>
            <a:ext cx="10963656" cy="9144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 txBox="1"/>
          <p:nvPr/>
        </p:nvSpPr>
        <p:spPr>
          <a:xfrm>
            <a:off x="999439" y="4736592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job asking for 64 cores and two days will sit behind a job asking for 8 cores and two hours, even if it was submitted first.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99439" y="5047488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Modest, accurate requests get scheduled sooner. That is the whole optimisation, and it is why the next slide matters.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job script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AND SLURM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35608"/>
            <a:ext cx="6492240" cy="3456432"/>
          </a:xfrm>
          <a:prstGeom prst="roundRect">
            <a:avLst>
              <a:gd name="adj" fmla="val 1587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53135" y="1600200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53135" y="1815084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#SBATCH --job-name=fastqc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53135" y="2029968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#SBATCH --partition=batch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3135" y="2458212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#SBATCH --cpus-per-task=8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53135" y="2673096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#SBATCH --mem=16G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3135" y="2887980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#SBATCH --time=02:00:00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53135" y="3102864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#SBATCH --output=logs/%x_%j.out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53135" y="3317748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#SBATCH --error=logs/%x_%j.err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3135" y="3319272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3135" y="3574796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-euo pipefail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3991" y="3847038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load </a:t>
            </a:r>
            <a:r>
              <a:rPr lang="en-US" sz="1100" dirty="0" err="1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fastqc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53135" y="4021282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3991" y="4174975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qc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7720" y="4493029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fastqc -t "${SLURM_CPUS_PER_TASK}" -o qc/ reads/*.fastq.gz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1499616"/>
            <a:ext cx="4306824" cy="768096"/>
          </a:xfrm>
          <a:prstGeom prst="roundRect">
            <a:avLst>
              <a:gd name="adj" fmla="val 7143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498080" y="1609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%x and %j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18653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job name and job ID, so logs do not overwrite each 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2359152"/>
            <a:ext cx="4306824" cy="768096"/>
          </a:xfrm>
          <a:prstGeom prst="roundRect">
            <a:avLst>
              <a:gd name="adj" fmla="val 7143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49808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-euo pipefail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7249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at the first error instead of carrying on and producing nonsense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69480" y="3310128"/>
            <a:ext cx="4306824" cy="768096"/>
          </a:xfrm>
          <a:prstGeom prst="roundRect">
            <a:avLst>
              <a:gd name="adj" fmla="val 7143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 txBox="1"/>
          <p:nvPr/>
        </p:nvSpPr>
        <p:spPr>
          <a:xfrm>
            <a:off x="7498080" y="3419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$SLURM_CPUS_PER_TASK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368223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what you asked for, rather than hard-coding 8 in two places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5391" y="4937760"/>
            <a:ext cx="10963656" cy="566928"/>
          </a:xfrm>
          <a:prstGeom prst="roundRect">
            <a:avLst>
              <a:gd name="adj" fmla="val 9677"/>
            </a:avLst>
          </a:prstGeom>
          <a:solidFill>
            <a:srgbClr val="FFF8E6"/>
          </a:solidFill>
          <a:ln w="15875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07720" y="5056632"/>
            <a:ext cx="10576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logs/ directory must exist before you submit. SLURM will not create it, the job dies instantly, and the error goes to a file it could not write.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12648" y="5631596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sbatch run_fastqc.sh      →     Submitted batch job 4821903</a:t>
            </a:r>
            <a:endParaRPr lang="en-US" sz="1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2B06E64-79EB-BC68-E632-3C54680BAFC5}"/>
              </a:ext>
            </a:extLst>
          </p:cNvPr>
          <p:cNvSpPr txBox="1"/>
          <p:nvPr/>
        </p:nvSpPr>
        <p:spPr>
          <a:xfrm>
            <a:off x="853135" y="2240788"/>
            <a:ext cx="6035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#SBATCH --</a:t>
            </a:r>
            <a:r>
              <a:rPr lang="en-US" sz="1100" dirty="0">
                <a:solidFill>
                  <a:srgbClr val="FFC82C"/>
                </a:solidFill>
                <a:latin typeface="Courier New" pitchFamily="34" charset="0"/>
                <a:cs typeface="Courier New" pitchFamily="34" charset="-120"/>
              </a:rPr>
              <a:t>nodes=1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to ask for, and how to find out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AND SLURM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5875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07999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too much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07999" y="19568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 waits longer for a slot big enough, and you burn allocation you never used.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27064" y="1481328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too little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568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 is killed partway through, after six hours, having produced a half-written file.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15391" y="2779776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measure. Run one sample, then ask SLURM what it actually used: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391" y="3108960"/>
            <a:ext cx="6492240" cy="1737360"/>
          </a:xfrm>
          <a:prstGeom prst="roundRect">
            <a:avLst>
              <a:gd name="adj" fmla="val 3158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53135" y="32735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seff 4821903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53135" y="3520440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B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ID: 4821903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3135" y="376732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B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Cores: 8    CPU Utilized: 00:41:12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3135" y="4014216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Efficiency: 22.4% of 03:04:00 core-walltime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3135" y="4261104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B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Wall-clock time: 00:23:00   of 02:00:00 requested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3135" y="450799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Utilized: 3.42 GB   (of 16.00 GB requested)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69480" y="3108960"/>
            <a:ext cx="4306824" cy="1737360"/>
          </a:xfrm>
          <a:prstGeom prst="roundRect">
            <a:avLst>
              <a:gd name="adj" fmla="val 315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54380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that output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52298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 CPU efficiency means six of your eight cores sat idle. Next time ask for two.</a:t>
            </a:r>
            <a:endParaRPr lang="en-US" sz="1200" dirty="0"/>
          </a:p>
          <a:p>
            <a:pPr marL="0" indent="0">
              <a:lnSpc>
                <a:spcPts val="1450"/>
              </a:lnSpc>
              <a:buNone/>
            </a:pPr>
            <a:endParaRPr lang="en-US" sz="12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used 3.4 GB of 16. Ask for 6.</a:t>
            </a:r>
            <a:endParaRPr lang="en-US" sz="1200" dirty="0"/>
          </a:p>
          <a:p>
            <a:pPr marL="0" indent="0">
              <a:lnSpc>
                <a:spcPts val="1450"/>
              </a:lnSpc>
              <a:buNone/>
            </a:pPr>
            <a:endParaRPr lang="en-US" sz="12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measure one run, then request the peak plus about thirty percent.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5390" y="5166360"/>
            <a:ext cx="110889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tool uses threads well. Doubling --cpus-per-task rarely halves the runtime, and for some tools it changes nothing at all.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environments solve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9711" y="1719072"/>
            <a:ext cx="146304" cy="146304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82319" y="1645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tools, two Pythons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182319" y="19568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package needs Python 3.9. The next one you install needs 3.12. Installing the second silently breaks the first.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29807" y="1481328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04127" y="1719072"/>
            <a:ext cx="146304" cy="146304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796735" y="1645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tools, two library versions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796735" y="19568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 links htslib 1.17. Tool B links 1.21. Only one of them can be on your PATH.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5391" y="2779776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89711" y="3017520"/>
            <a:ext cx="146304" cy="146304"/>
          </a:xfrm>
          <a:prstGeom prst="diamond">
            <a:avLst/>
          </a:prstGeom>
          <a:solidFill>
            <a:srgbClr val="C0CD30"/>
          </a:solidFill>
          <a:ln w="12700">
            <a:solidFill>
              <a:srgbClr val="C0CD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182319" y="29443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that says “we used BWA”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182319" y="325526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version, no parameters. Their result and yours differ and nobody can say why.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29807" y="2779776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04127" y="3017520"/>
            <a:ext cx="146304" cy="146304"/>
          </a:xfrm>
          <a:prstGeom prst="diamond">
            <a:avLst/>
          </a:prstGeom>
          <a:solidFill>
            <a:srgbClr val="205081"/>
          </a:solidFill>
          <a:ln w="12700">
            <a:solidFill>
              <a:srgbClr val="2050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796735" y="29443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collaborator who cannot run it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796735" y="325526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your machine. That sentence has ended more collaborations than any disagreement about biology.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91" y="4206240"/>
            <a:ext cx="10963656" cy="1260282"/>
          </a:xfrm>
          <a:prstGeom prst="roundRect">
            <a:avLst>
              <a:gd name="adj" fmla="val 521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99439" y="4389120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is a computing problem. They are all the same scientific problem: you cannot describe what you actually ran.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98220" y="5010515"/>
            <a:ext cx="10195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environment is the answer to “which software, exactly?” — written in a file, versioned in git.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conda actually does, which is less than you think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25558" y="1682496"/>
            <a:ext cx="523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environment is a directory of installed software, plus a switch that puts it at the front of your PATH.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15391" y="2715768"/>
            <a:ext cx="5486400" cy="1737360"/>
          </a:xfrm>
          <a:prstGeom prst="roundRect">
            <a:avLst>
              <a:gd name="adj" fmla="val 3158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35152" y="2813569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which python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35152" y="3069601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B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/usr/bin/python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35152" y="3325633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conda activate rnaseq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35152" y="3581665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(rnaseq) $ which python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5152" y="3837697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~/miniforge3/envs/rnaseq/bin/python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5152" y="4093729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(rnaseq) $ conda deactivate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481328"/>
            <a:ext cx="5175504" cy="1600200"/>
          </a:xfrm>
          <a:prstGeom prst="roundRect">
            <a:avLst>
              <a:gd name="adj" fmla="val 3429"/>
            </a:avLst>
          </a:prstGeom>
          <a:solidFill>
            <a:srgbClr val="FAFBFC"/>
          </a:solidFill>
          <a:ln w="15875">
            <a:solidFill>
              <a:srgbClr val="498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93408" y="159542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bioinformatics uses it rather than pip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693408" y="199339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our tools are not Python. They are C, C++, Java, Rust and R, with system libraries underneath. conda installs compiled binaries and their non-Python dependencies; pip cannot.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3264408"/>
            <a:ext cx="5175504" cy="1188720"/>
          </a:xfrm>
          <a:prstGeom prst="roundRect">
            <a:avLst>
              <a:gd name="adj" fmla="val 4615"/>
            </a:avLst>
          </a:prstGeom>
          <a:solidFill>
            <a:srgbClr val="FFF8E6"/>
          </a:solidFill>
          <a:ln w="15875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693408" y="3419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not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6693408" y="37307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virtual machine, not a container, not isolation from the operating system. Everything still runs on the host kernel, against the host's system libraries.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5391" y="4663440"/>
            <a:ext cx="10963656" cy="777240"/>
          </a:xfrm>
          <a:prstGeom prst="roundRect">
            <a:avLst>
              <a:gd name="adj" fmla="val 7059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99439" y="4828032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“which” is your debugging tool. When a tool behaves unexpectedly, the first question is always: which copy of it am I actually running?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Channels, and two things that have changed recently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07999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channels you need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07999" y="212458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conda-forge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01391" y="2133733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scientific software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07999" y="255435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bioconda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01391" y="2563501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bioinformatics tools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5391" y="306324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52551" y="3139175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conda config --add channels bioconda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2551" y="3386063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conda config --add channels conda-forge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2551" y="3632951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conda config --set channel_priority strict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8225" y="1763600"/>
            <a:ext cx="4616527" cy="3225844"/>
          </a:xfrm>
          <a:prstGeom prst="roundRect">
            <a:avLst>
              <a:gd name="adj" fmla="val 3871"/>
            </a:avLst>
          </a:prstGeom>
          <a:solidFill>
            <a:srgbClr val="FFF8E6"/>
          </a:solidFill>
          <a:ln w="15875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529121" y="1878895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Miniforge, not Anaconda or Miniconda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29121" y="2912763"/>
            <a:ext cx="4057153" cy="112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2024 the Anaconda “defaults” channel carries commercial terms. 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teaching is exempt; research use by a large institution is ambiguous enough that many university HPC centres have removed it entirely. 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Miniforge</a:t>
            </a: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ships conda pointed at conda-forge, and sidesteps the question.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5391" y="4121760"/>
            <a:ext cx="5349240" cy="1417320"/>
          </a:xfrm>
          <a:prstGeom prst="roundRect">
            <a:avLst>
              <a:gd name="adj" fmla="val 5714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52551" y="4270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probably do not need mamba any more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2551" y="47648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existed because conda's solver was painfully slow. Conda now ships that same solver by default, so plain conda is fast. 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environment.yml is the actual deliverable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53135" y="1576347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B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environment.yml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53135" y="1804947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rnaseq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3135" y="2033547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channels: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3135" y="2262147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conda-forge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3135" y="2490747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bioconda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53135" y="2719347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dependencies: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53135" y="2947947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salmon=1.10.3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3135" y="3176547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fastqc=0.12.1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53135" y="3405147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multiqc=1.25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391" y="3950208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834847" y="417721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conda env create -f environment.yml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3991" y="4493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conda env update -f environment.yml --prune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481328"/>
            <a:ext cx="5312664" cy="2048852"/>
          </a:xfrm>
          <a:prstGeom prst="roundRect">
            <a:avLst>
              <a:gd name="adj" fmla="val 324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556248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exports, two different purposes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42532" y="20907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export --from-history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2532" y="2410439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you asked for. Short, readable, works on Linux and macOS.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42532" y="279846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export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42532" y="3095443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package and build string. Exact, and tied to one platform.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3643882"/>
            <a:ext cx="5312664" cy="1357885"/>
          </a:xfrm>
          <a:prstGeom prst="roundRect">
            <a:avLst>
              <a:gd name="adj" fmla="val 3333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542532" y="37027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both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542532" y="39907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environment.yml so a human on any machine can rebuild something equivalent, and environment.lock.yml so you can reproduce the exact stack that produced your figures. They answer different questions, and reviewers ask both.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5391" y="5376672"/>
            <a:ext cx="1096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file is graded in every homework in this course. It is also the first thing a reviewer looks for.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conda stops being enough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7589520" cy="804672"/>
          </a:xfrm>
          <a:prstGeom prst="roundRect">
            <a:avLst>
              <a:gd name="adj" fmla="val 6818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9711" y="1664208"/>
            <a:ext cx="146304" cy="146304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00607" y="15910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is not deterministic over time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00607" y="188366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environment.yml resolved today and in a year gives different builds, unless every version is pinned and they never all are.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" y="2377440"/>
            <a:ext cx="7589520" cy="804672"/>
          </a:xfrm>
          <a:prstGeom prst="roundRect">
            <a:avLst>
              <a:gd name="adj" fmla="val 6818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9711" y="2560320"/>
            <a:ext cx="146304" cy="146304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200607" y="24871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files are platform-specific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00607" y="27797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export from a Linux cluster will not build on your colleague's Mac. The exact-reproducibility file is the least portable 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5391" y="3273552"/>
            <a:ext cx="7589520" cy="804672"/>
          </a:xfrm>
          <a:prstGeom prst="roundRect">
            <a:avLst>
              <a:gd name="adj" fmla="val 6818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89711" y="3456432"/>
            <a:ext cx="146304" cy="146304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200607" y="3383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move and disappear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00607" y="36758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get superseded, channels reorganise, and occasionally something you depended on is simply gone.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5391" y="4169664"/>
            <a:ext cx="7589520" cy="804672"/>
          </a:xfrm>
          <a:prstGeom prst="roundRect">
            <a:avLst>
              <a:gd name="adj" fmla="val 6818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89711" y="4352544"/>
            <a:ext cx="146304" cy="146304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200607" y="42793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isolate the operating system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00607" y="457200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needing a newer glibc than the compute node has will fail, and no conda incantation fixes that.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58200" y="1481328"/>
            <a:ext cx="3118104" cy="3456432"/>
          </a:xfrm>
          <a:prstGeom prst="roundRect">
            <a:avLst>
              <a:gd name="adj" fmla="val 176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732520" y="16824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means do not use conda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2304288"/>
            <a:ext cx="2697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weekly work it is the right tool.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when the answer has to be identical in five years, a published figure, a clinical pipeline, a shared workflow , then you need something that carries the operating system with it.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15391" y="5102351"/>
            <a:ext cx="10963656" cy="55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a container.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container ships the whole userspace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26287" y="157634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conda gives you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26287" y="1874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packages you asked for, running on whatever operating system happens to be underneath.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6287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container gives you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26287" y="28895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packages, the system libraries, the OS userland , the whole filesystem, frozen bit for bit.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27064" y="1481328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AFBFC"/>
          </a:solidFill>
          <a:ln w="15875">
            <a:solidFill>
              <a:srgbClr val="498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3796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vs. container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029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53129" y="2039112"/>
            <a:ext cx="380469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file on disk. Immutable. You can checksum it.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377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53129" y="2386584"/>
            <a:ext cx="380469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running instance of that image.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72491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virtual machine: it shares the host kernel, so there is almost no performance cost. That is why HPC centres tolerate it and why nf-core pipelines use it by default.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5391" y="3602736"/>
            <a:ext cx="10963656" cy="1177986"/>
          </a:xfrm>
          <a:prstGeom prst="roundRect">
            <a:avLst>
              <a:gd name="adj" fmla="val 5217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99439" y="3785616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image you ran in 2026 runs identically in 2032, on any Linux machine with a container runtime.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329485"/>
            <a:ext cx="10195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solve, no channels, no drift. The cost is size because an image is hundreds of megabytes to a few gigabytes and that you cannot easily edit what is inside.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on your laptop, Apptainer on the cluster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362803"/>
              </p:ext>
            </p:extLst>
          </p:nvPr>
        </p:nvGraphicFramePr>
        <p:xfrm>
          <a:off x="615391" y="1481328"/>
          <a:ext cx="10963656" cy="25298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2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Apptainer / Singularity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root daemon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you, as an ordinary user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a shared cluster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Almost always forbidden — anyone who can run it can become root on the node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standard, and usually already installed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image 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layers in a local daemon store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single .sif file you can copy, checksum and archive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files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visible unless you mount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and current directory mounted by default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Plays well with SLURM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it is just a process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5391" y="4133088"/>
            <a:ext cx="5349240" cy="1243584"/>
          </a:xfrm>
          <a:prstGeom prst="roundRect">
            <a:avLst>
              <a:gd name="adj" fmla="val 545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07999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normal division of labour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07999" y="47000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Docker where you have root:  your laptop, or CI. Run with Apptainer where you do not.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27064" y="4133087"/>
            <a:ext cx="5349240" cy="1243583"/>
          </a:xfrm>
          <a:prstGeom prst="roundRect">
            <a:avLst>
              <a:gd name="adj" fmla="val 5455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537960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naming note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47104" y="470001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Singularity was renamed Apptainer in 2021, and a separate SingularityCE also continues. Older documentation says singularity; the commands are nearly identical.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images come from, and the :latest trap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6766560" cy="1207008"/>
          </a:xfrm>
          <a:prstGeom prst="roundRect">
            <a:avLst>
              <a:gd name="adj" fmla="val 6250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1423" y="1682496"/>
            <a:ext cx="146304" cy="146304"/>
          </a:xfrm>
          <a:prstGeom prst="diamond">
            <a:avLst/>
          </a:prstGeom>
          <a:solidFill>
            <a:srgbClr val="C0CD30"/>
          </a:solidFill>
          <a:ln w="12700">
            <a:solidFill>
              <a:srgbClr val="C0CD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82319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BioContainers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541471" y="16184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quay.io/biocontainers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2319" y="202996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bioconda package is automatically built into a container. If a tool is on bioconda, an image already exists.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5391" y="2926080"/>
            <a:ext cx="6766560" cy="1152144"/>
          </a:xfrm>
          <a:prstGeom prst="roundRect">
            <a:avLst>
              <a:gd name="adj" fmla="val 6250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5878" y="3128839"/>
            <a:ext cx="146304" cy="146304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182319" y="3044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41471" y="3063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docker.io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2319" y="3488436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purpose. Base images, and tools distributed by their own authors.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89520" y="1481328"/>
            <a:ext cx="3986784" cy="2596896"/>
          </a:xfrm>
          <a:prstGeom prst="roundRect">
            <a:avLst>
              <a:gd name="adj" fmla="val 1961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86384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 :latest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029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samtools:latest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237803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“whatever was pushed most recently”. It changes under you, silently, and destroys the one property you adopted containers for.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392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samtools:1.21--h50ea8bc_0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3582857"/>
            <a:ext cx="3520440" cy="47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version and the exact build. 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5391" y="4572000"/>
            <a:ext cx="10963656" cy="804672"/>
          </a:xfrm>
          <a:prstGeom prst="roundRect">
            <a:avLst>
              <a:gd name="adj" fmla="val 652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99439" y="4736592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full image reference in your methods, the same way you record a basecaller version or a genome build. “We used samtools” is not a method; “quay.io/biocontainers/samtools:1.21--h50ea8bc_0” is.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an accession number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DATABASES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06831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98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GCA_017309835.1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084271" y="1499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GenBank assembly — exactly what the submitter deposited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21247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98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GCF_000182965.3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98687" y="1499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RefSeq assembly — NCBI's curated version of a genome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06831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NM_ / NP_ / NC_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84271" y="2066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RefSeq mRNA, protein, chromosome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21247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ENSG / ENST / ENSP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98687" y="2066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 gene, transcript, protein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PRJNA792930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84271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BioProject — the umbrella for a study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21247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SAMN12345678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98687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BioSample — one biological specimen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SRX9854710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84271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— one library on one platform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21247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SRR12345678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98687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— one sequencing run. This is what download tools want.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6831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GSE123456 / GSM1234567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084271" y="3767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series and one of its samples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4172" y="4626864"/>
            <a:ext cx="10963656" cy="731520"/>
          </a:xfrm>
          <a:prstGeom prst="roundRect">
            <a:avLst>
              <a:gd name="adj" fmla="val 75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99439" y="4791456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version suffix is part of the accession. GCA_017309835.1 and .2 are different genomes. Write the whole thing down, every time.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paper's accession to something you can download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DATABASES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6766560" cy="603504"/>
          </a:xfrm>
          <a:prstGeom prst="roundRect">
            <a:avLst>
              <a:gd name="adj" fmla="val 9091"/>
            </a:avLst>
          </a:prstGeom>
          <a:solidFill>
            <a:srgbClr val="FAFBFC"/>
          </a:solidFill>
          <a:ln w="15875">
            <a:solidFill>
              <a:srgbClr val="498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53135" y="16550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27071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98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PRJNA792930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410150" y="1609344"/>
            <a:ext cx="28155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study — what a paper cites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72591" y="20482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81151" y="2194560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FAFBFC"/>
          </a:solidFill>
          <a:ln w="15875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218895" y="2368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92831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SAMN…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775910" y="2322576"/>
            <a:ext cx="19429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biological specimen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38351" y="2761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46911" y="2907792"/>
            <a:ext cx="6035040" cy="603504"/>
          </a:xfrm>
          <a:prstGeom prst="roundRect">
            <a:avLst>
              <a:gd name="adj" fmla="val 9091"/>
            </a:avLst>
          </a:prstGeom>
          <a:solidFill>
            <a:srgbClr val="FAFBFC"/>
          </a:solidFill>
          <a:ln w="15875">
            <a:solidFill>
              <a:srgbClr val="C0CD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584655" y="3081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58591" y="3090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8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SRX9854710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141670" y="3035808"/>
            <a:ext cx="208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library, one platform, one strategy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04111" y="3474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12671" y="3621024"/>
            <a:ext cx="5669280" cy="603504"/>
          </a:xfrm>
          <a:prstGeom prst="roundRect">
            <a:avLst>
              <a:gd name="adj" fmla="val 9091"/>
            </a:avLst>
          </a:prstGeom>
          <a:solidFill>
            <a:srgbClr val="FAFBFC"/>
          </a:solidFill>
          <a:ln w="15875">
            <a:solidFill>
              <a:srgbClr val="2050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950415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24351" y="3803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SRR…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390322" y="3703320"/>
            <a:ext cx="1838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sequencing run — and one FASTQ file (or two)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43800" y="1481328"/>
            <a:ext cx="4032504" cy="3597568"/>
          </a:xfrm>
          <a:prstGeom prst="roundRect">
            <a:avLst>
              <a:gd name="adj" fmla="val 196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81812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trips people up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839151" y="2242163"/>
            <a:ext cx="3520440" cy="241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project has many samples.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sample may have several experiments — RNA and DNA, or two platforms.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experiment may have several runs, which usually should be merged.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paper cites the project. Every download tool wants the runs.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versions: where analyses corrupt silently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DATABASES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10963656" cy="676656"/>
          </a:xfrm>
          <a:prstGeom prst="roundRect">
            <a:avLst>
              <a:gd name="adj" fmla="val 8108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53135" y="1700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Genome build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901391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GRCh38 vs. T2T-CHM13 vs. an older patch release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16191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differ. Every position you report is relative to a build.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" y="2258568"/>
            <a:ext cx="10963656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53135" y="2478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source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01391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 vs. RefSeq vs. GENCODE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16191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gene models, different transcript sets, different IDs for the same gene.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5391" y="3035808"/>
            <a:ext cx="10963656" cy="676656"/>
          </a:xfrm>
          <a:prstGeom prst="roundRect">
            <a:avLst>
              <a:gd name="adj" fmla="val 8108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53135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naming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01391" y="3264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chr1 vs. 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16191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matches. Tools report zero overlaps and usually do not warn you.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5391" y="3813048"/>
            <a:ext cx="10963656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53135" y="4032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number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901391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 110 vs. 113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16191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models change between releases. So do your counts.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4904" y="4510576"/>
            <a:ext cx="10963656" cy="1405592"/>
          </a:xfrm>
          <a:prstGeom prst="roundRect">
            <a:avLst>
              <a:gd name="adj" fmla="val 4688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98220" y="462428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produces an error message.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98220" y="4873752"/>
            <a:ext cx="10195560" cy="101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result. It is wrong, and it looks exactly like a right one. This is the single most common way a bioinformatics analysis fails in a way nobody catches  and the fix is bookkeeping, not cleverness: pick one source for your genome and annotation, write down the exact build and release in your README, and never mix.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get data, and when each wins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DOWNLOADING AND INSPECTING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911542"/>
              </p:ext>
            </p:extLst>
          </p:nvPr>
        </p:nvGraphicFramePr>
        <p:xfrm>
          <a:off x="615391" y="1481327"/>
          <a:ext cx="10963656" cy="3518056"/>
        </p:xfrm>
        <a:graphic>
          <a:graphicData uri="http://schemas.openxmlformats.org/drawingml/2006/table">
            <a:tbl>
              <a:tblPr/>
              <a:tblGrid>
                <a:gridCol w="2396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7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9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 over FTP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(wget, curl, aria2c)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Reads. Fastest route, and hands you FASTQ directly with no conversion step.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aria2c -x 8 ftp.sra.ebi.ac.uk/.../SRR…_1.fastq.gz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6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sra-tools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(prefetch, fasterq-dump)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Reads, when you need the official route or ENA does not have it.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prefetch SRR… &amp;&amp; fasterq-dump --split-files SRR…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NCBI datasets CLI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Genomes, annotations, and their metadata together.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datasets download genome accession GCF_000182965.3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8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 / UCSC FTP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FASTA and GTF for a named release.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wget ftp.ensembl.org/pub/release-113/fasta/…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leave with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1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0" y="1435608"/>
            <a:ext cx="10019480" cy="987552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9711" y="1728216"/>
            <a:ext cx="384048" cy="384048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89711" y="17922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4071" y="15453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cs typeface="Arial" pitchFamily="34" charset="-120"/>
              </a:rPr>
              <a:t>Knowing how to run jobs on cluster is essential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84071" y="1856232"/>
            <a:ext cx="86339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work honestly, measure what it used with seff, and never work on the login node. Everything strange about SLURM follows from it being a shared queue.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5390" y="2551176"/>
            <a:ext cx="10019479" cy="987552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9711" y="2843784"/>
            <a:ext cx="384048" cy="384048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89711" y="29077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84071" y="2660904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software, exactly” has to be a file, not a memory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84070" y="2971800"/>
            <a:ext cx="8325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environment.yml for your weekly work, a pinned container for anything that has to survive. Never :latest, never an unversioned tool in a methods section.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8451" y="3702525"/>
            <a:ext cx="10019478" cy="987552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9711" y="3959352"/>
            <a:ext cx="384048" cy="384048"/>
          </a:xfrm>
          <a:prstGeom prst="diamond">
            <a:avLst/>
          </a:prstGeom>
          <a:solidFill>
            <a:srgbClr val="C0CD30"/>
          </a:solidFill>
          <a:ln w="12700">
            <a:solidFill>
              <a:srgbClr val="C0CD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89711" y="40233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4070" y="3776472"/>
            <a:ext cx="7888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is an accession, a version, and a pile of missing metadata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84071" y="4087368"/>
            <a:ext cx="83258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run accessions, understand the experiment design before downloading data.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5391" y="5212080"/>
            <a:ext cx="1096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sequencing technologies, experimental design, and QC — starting with the data you just learned to download.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5833</Words>
  <Application>Microsoft Macintosh PowerPoint</Application>
  <PresentationFormat>Widescreen</PresentationFormat>
  <Paragraphs>511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Zhang, Yucheng</cp:lastModifiedBy>
  <cp:revision>39</cp:revision>
  <dcterms:created xsi:type="dcterms:W3CDTF">2026-09-15T19:22:48Z</dcterms:created>
  <dcterms:modified xsi:type="dcterms:W3CDTF">2026-09-24T17:19:52Z</dcterms:modified>
</cp:coreProperties>
</file>