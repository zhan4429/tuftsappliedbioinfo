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5"/>
    <p:sldId id="261" r:id="rId7"/>
    <p:sldId id="264" r:id="rId10"/>
    <p:sldId id="265" r:id="rId11"/>
    <p:sldId id="266" r:id="rId12"/>
    <p:sldId id="267" r:id="rId13"/>
    <p:sldId id="269" r:id="rId15"/>
    <p:sldId id="273" r:id="rId19"/>
    <p:sldId id="274" r:id="rId20"/>
    <p:sldId id="275" r:id="rId21"/>
    <p:sldId id="276" r:id="rId22"/>
    <p:sldId id="277" r:id="rId23"/>
    <p:sldId id="279" r:id="rId25"/>
    <p:sldId id="280" r:id="rId26"/>
    <p:sldId id="281" r:id="rId27"/>
    <p:sldId id="282" r:id="rId28"/>
    <p:sldId id="283" r:id="rId29"/>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3.xml"/><Relationship Id="rId7"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5"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1F2933"/>
                </a:solidFill>
                <a:latin typeface="Arial"/>
              </a:defRPr>
            </a:pPr>
            <a:r>
              <a:rPr sz="1150" b="0" i="0" u="none" strike="noStrike">
                <a:solidFill>
                  <a:srgbClr val="1F2933"/>
                </a:solidFill>
                <a:latin typeface="Arial"/>
              </a:rPr>
              <a:t>Typical mean Phred score by cycle, 2 × 150 bp run</a:t>
            </a:r>
          </a:p>
        </c:rich>
      </c:tx>
      <c:layout/>
      <c:overlay val="0"/>
    </c:title>
    <c:autoTitleDeleted val="0"/>
    <c:plotArea>
      <c:layout/>
      <c:lineChart>
        <c:varyColors val="0"/>
        <c:ser>
          <c:idx val="0"/>
          <c:order val="0"/>
          <c:tx>
            <c:strRef>
              <c:f>Sheet1!$B$1</c:f>
              <c:strCache>
                <c:ptCount val="1"/>
                <c:pt idx="0">
                  <c:v>Mean quality</c:v>
                </c:pt>
              </c:strCache>
            </c:strRef>
          </c:tx>
          <c:spPr>
            <a:solidFill>
              <a:srgbClr val="498BCA"/>
            </a:solidFill>
            <a:ln w="38100" cap="flat">
              <a:solidFill>
                <a:srgbClr val="498B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498BCA"/>
              </a:solidFill>
              <a:ln w="9525" cap="flat">
                <a:solidFill>
                  <a:srgbClr val="498BCA"/>
                </a:solidFill>
                <a:prstDash val="solid"/>
                <a:round/>
              </a:ln>
              <a:effectLst/>
            </c:spPr>
          </c:marker>
          <c:cat>
            <c:multiLvlStrRef>
              <c:f>Sheet1!$A$2:$A$16</c:f>
              <c:multiLvlStrCache>
                <c:ptCount val="15"/>
                <c:lvl>
                  <c:pt idx="0">
                    <c:v>5</c:v>
                  </c:pt>
                  <c:pt idx="1">
                    <c:v>15</c:v>
                  </c:pt>
                  <c:pt idx="2">
                    <c:v>25</c:v>
                  </c:pt>
                  <c:pt idx="3">
                    <c:v>35</c:v>
                  </c:pt>
                  <c:pt idx="4">
                    <c:v>45</c:v>
                  </c:pt>
                  <c:pt idx="5">
                    <c:v>55</c:v>
                  </c:pt>
                  <c:pt idx="6">
                    <c:v>65</c:v>
                  </c:pt>
                  <c:pt idx="7">
                    <c:v>75</c:v>
                  </c:pt>
                  <c:pt idx="8">
                    <c:v>85</c:v>
                  </c:pt>
                  <c:pt idx="9">
                    <c:v>95</c:v>
                  </c:pt>
                  <c:pt idx="10">
                    <c:v>105</c:v>
                  </c:pt>
                  <c:pt idx="11">
                    <c:v>115</c:v>
                  </c:pt>
                  <c:pt idx="12">
                    <c:v>125</c:v>
                  </c:pt>
                  <c:pt idx="13">
                    <c:v>135</c:v>
                  </c:pt>
                  <c:pt idx="14">
                    <c:v>145</c:v>
                  </c:pt>
                </c:lvl>
              </c:multiLvlStrCache>
            </c:multiLvlStrRef>
          </c:cat>
          <c:val>
            <c:numRef>
              <c:f>Sheet1!$B$2:$B$16</c:f>
              <c:numCache>
                <c:formatCode>General</c:formatCode>
                <c:ptCount val="15"/>
                <c:pt idx="0">
                  <c:v>37.2</c:v>
                </c:pt>
                <c:pt idx="1">
                  <c:v>37.5</c:v>
                </c:pt>
                <c:pt idx="2">
                  <c:v>37.4</c:v>
                </c:pt>
                <c:pt idx="3">
                  <c:v>37.2</c:v>
                </c:pt>
                <c:pt idx="4">
                  <c:v>36.9</c:v>
                </c:pt>
                <c:pt idx="5">
                  <c:v>36.5</c:v>
                </c:pt>
                <c:pt idx="6">
                  <c:v>36</c:v>
                </c:pt>
                <c:pt idx="7">
                  <c:v>35.4</c:v>
                </c:pt>
                <c:pt idx="8">
                  <c:v>34.6</c:v>
                </c:pt>
                <c:pt idx="9">
                  <c:v>33.6</c:v>
                </c:pt>
                <c:pt idx="10">
                  <c:v>32.4</c:v>
                </c:pt>
                <c:pt idx="11">
                  <c:v>31</c:v>
                </c:pt>
                <c:pt idx="12">
                  <c:v>29.3</c:v>
                </c:pt>
                <c:pt idx="13">
                  <c:v>27.4</c:v>
                </c:pt>
                <c:pt idx="14">
                  <c:v>25.2</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50" b="0" i="0" u="none" strike="noStrike">
                    <a:solidFill>
                      <a:srgbClr val="6B7280"/>
                    </a:solidFill>
                    <a:latin typeface="Arial"/>
                  </a:defRPr>
                </a:pPr>
                <a:r>
                  <a:rPr sz="950" b="0" i="0" u="none" strike="noStrike">
                    <a:solidFill>
                      <a:srgbClr val="6B7280"/>
                    </a:solidFill>
                    <a:latin typeface="Arial"/>
                  </a:rPr>
                  <a:t>Cycle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max val="40"/>
          <c:min val="20"/>
        </c:scaling>
        <c:delete val="0"/>
        <c:axPos val="l"/>
        <c:majorGridlines>
          <c:spPr>
            <a:ln w="12700" cap="flat">
              <a:solidFill>
                <a:srgbClr val="E8ED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min of slidesutes. Four blocks: omics data types (12), platforms (20), experimental design (25), FASTQ and QC (13), wrap (5).</a:t>
            </a:r>
          </a:p>
          <a:p/>
          <a:p>
            <a:r>
              <a:t>Say up front: Session 2 this week is the hands-on lab (FastQC, fastp, MultiQC). Today is the reasoning that tells you what the QC output means.</a:t>
            </a:r>
          </a:p>
          <a:p/>
          <a:p>
            <a:r>
              <a:t>The single thread through today: the Mouse ENCODE batch-effect story. It shows up on slides 18-19 and again on slide 26, because the fix depended on FASTQ headers.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Set the frame: most people jump straight to question 3 because it is the one with a button.</a:t>
            </a:r>
          </a:p>
          <a:p/>
          <a:p>
            <a:r>
              <a:t>Ask for a show of hands: who has ever received data they did not generate? Almost everyone, eventually.</a:t>
            </a:r>
          </a:p>
          <a:p/>
          <a:p>
            <a:r>
              <a:t>Point at the bottom line and move on quickly. Do not answer it yet.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This is the mental model for the whole block. Resist listing assays yet.</a:t>
            </a:r>
          </a:p>
          <a:p/>
          <a:p>
            <a:r>
              <a:t>Concrete example if they look blank: poly-A selection in RNA-seq is a step-2 decision that silently removes every non-polyadenylated transcript, including most lncRNAs and all bacterial mRNA. Nothing downstream can tell you that happened unless you know the protocol.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 min. This is the highest-value slide of the block. Spend the time here.</a:t>
            </a:r>
          </a:p>
          <a:p/>
          <a:p>
            <a:r>
              <a:t>The transcriptomics card is the one students carry the longest: counts are compositional. Foreshadow Week 6 (DESeq2 size factors) and Week 10 (compositional data).</a:t>
            </a:r>
          </a:p>
          <a:p/>
          <a:p>
            <a:r>
              <a:t>Good question to pose: if I sequence the same library twice as deeply, which of these four changes? Answer: the raw numbers all change; the biology in none of them does. That is what normalisation is for.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If students remember one thing from the platform block, it should be this slide rather than the spec table.</a:t>
            </a:r>
          </a:p>
          <a:p/>
          <a:p>
            <a:r>
              <a:t>Dephasing is worth drawing on the board: 1000 molecules, each with a small per-cycle probability of adding zero or two bases. By cycle 300 the population is smeared and the consensus signal degrades.</a:t>
            </a:r>
          </a:p>
          <a:p/>
          <a:p>
            <a:r>
              <a:t>Do not go deeper into chemistry. They do not need bridge amplification or ZMW physics to make an analysis decision.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The chart is the teaching object. Ask them to predict the shape before you reveal what it is.</a:t>
            </a:r>
          </a:p>
          <a:p/>
          <a:p>
            <a:r>
              <a:t>Tie back: this is exactly the per-base quality panel they will see in FastQC on Thursday. When it drops below about Q28 they will want to trim — and we will discuss on slide 28 whether they should.</a:t>
            </a:r>
          </a:p>
          <a:p/>
          <a:p>
            <a:r>
              <a:t>Be explicit that the curve here is a schematic of the typical shape, not a specific run.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The 'already a consensus' point is the one to land. It explains why HiFi reads are both long and Illumina-accurate, which otherwise sounds like it should be impossible.</a:t>
            </a:r>
          </a:p>
          <a:p/>
          <a:p>
            <a:r>
              <a:t>Connect forward to Week 3: HiFi is why bacterial and small eukaryotic assemblies became routine rather than a project.</a:t>
            </a:r>
          </a:p>
          <a:p/>
          <a:p>
            <a:r>
              <a:t>If someone asks about cost: roughly a few hundred dollars per human genome at 20x on current chemistry, versus roughly 200 dollars for short-read at list. The gap is far smaller than students expect.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The distinctive teaching point: for ONT, the same physical run can yield different data depending on software. No other platform works this way.</a:t>
            </a:r>
          </a:p>
          <a:p/>
          <a:p>
            <a:r>
              <a:t>Mention that HERRO-style read correction now makes telomere-to-telomere assembly feasible from simplex reads alone (Nature, 2026) — accuracy has become partly a compute budget rather than a chemistry limit.</a:t>
            </a:r>
          </a:p>
          <a:p/>
          <a:p>
            <a:r>
              <a:t>Practical warning for their own projects: 'we used nanopore' is not a methods section. Chemistry, kit, basecaller, model.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 min. This is the slide that separates people who can choose a platform from people who quote datasheets.</a:t>
            </a:r>
          </a:p>
          <a:p/>
          <a:p>
            <a:r>
              <a:t>Worked example: if you are calling SNVs for a clinical panel, substitutions are your enemy and indels barely matter. If you are annotating a new bacterial isolate, a single homopolymer indel can silently truncate a gene.</a:t>
            </a:r>
          </a:p>
          <a:p/>
          <a:p>
            <a:r>
              <a:t>Week 3 connection: this is exactly why Merqury QV and BUSCO complete-but-fragmented counts are separate QC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including the pause. Genuinely wait — do not rescue the silence.</a:t>
            </a:r>
          </a:p>
          <a:p/>
          <a:p>
            <a:r>
              <a:t>Students who have had a statistics course will sometimes get there: 'how were the samples processed?' If nobody does, prompt with 'what else differs between the human samples and the mouse samples, besides being human and mouse?'</a:t>
            </a:r>
          </a:p>
          <a:p/>
          <a:p>
            <a:r>
              <a:t>Do not reveal yet. The next slide is much more effective if they have committed to a guess.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 min. The most important slide in the session.</a:t>
            </a:r>
          </a:p>
          <a:p/>
          <a:p>
            <a:r>
              <a:t>Be fair to the original authors: this was not fraud or incompetence, it was a study design choice that seemed reasonable at the time — samples arrived at different times and were run as they arrived. That is how most confounding happens.</a:t>
            </a:r>
          </a:p>
          <a:p/>
          <a:p>
            <a:r>
              <a:t>The final line is the spine of the session: it sets up the FASTQ header slide, which otherwise feels like trivia.</a:t>
            </a:r>
          </a:p>
          <a:p/>
          <a:p>
            <a:r>
              <a:t>If a student asks whether ComBat 'fixed' it: no. Correcting for a confounded batch also removes the biological signal. What the correction demonstrated was that the species effect was not separable from batch, which is a statement about the design.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 min. The two grids are the whole slide; the text is support.</a:t>
            </a:r>
          </a:p>
          <a:p/>
          <a:p>
            <a:r>
              <a:t>Press the point that balanced does not mean 'no batch effect'. Students often think randomisation eliminates the problem rather than making it separable.</a:t>
            </a:r>
          </a:p>
          <a:p/>
          <a:p>
            <a:r>
              <a:t>Ask: in the confounded grid, if treated samples show higher expression, name two explanations you cannot distinguish. (Treatment works; batch 2 had a different reagent lot.)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The cell-line example is the one that produces arguments. Three flasks split an hour before treatment share every prior source of variation; they are closer to technical than biological replicates. Three flasks from independently thawed, separately passaged stocks are a much better case.</a:t>
            </a:r>
          </a:p>
          <a:p/>
          <a:p>
            <a:r>
              <a:t>Point out that this is a genuine judgement call and reviewers disagree — what matters is that they can state which they have and defend it.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The 12% number reliably produces an audible reaction. Let it sit.</a:t>
            </a:r>
          </a:p>
          <a:p/>
          <a:p>
            <a:r>
              <a:t>Anticipate the objection: 'but everyone publishes n=3 RNA-seq.' Correct, and the honest answer is partly that gene-level information sharing helps a great deal, and partly that the literature carries more false negatives than anyone is comfortable with.</a:t>
            </a:r>
          </a:p>
          <a:p/>
          <a:p>
            <a:r>
              <a:t>Do not let this become nihilism. The actionable version: know your power before you run, and if it is low, say so in your limitations section rather than pretending.</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Tier 3 is the one worth dwelling on, because it is invisible and therefore never appears in papers.</a:t>
            </a:r>
          </a:p>
          <a:p/>
          <a:p>
            <a:r>
              <a:t>Concrete Tier 3 story: plate-position effects in 96-well extractions are real and well documented, and almost nobody records well position. If your controls were in column 1 and your treated samples in column 12, you will never know.</a:t>
            </a:r>
          </a:p>
          <a:p/>
          <a:p>
            <a:r>
              <a:t>Connect to Mouse ENCODE: that was Tier 2 that was only recoverable because the FASTQ headers accidentally preserved the batch structure. Without that it would have been Tier 3.</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 min. The plate is the visual; the sample-sheet column list is what they should photograph.</a:t>
            </a:r>
          </a:p>
          <a:p/>
          <a:p>
            <a:r>
              <a:t>Note that this sample sheet is also literally the input to nf-core pipelines in Week 3 onward — good metadata discipline and pipeline readiness are the same habit.</a:t>
            </a:r>
          </a:p>
          <a:p/>
          <a:p>
            <a:r>
              <a:t>If time is short this is the slide to compress: show the plate, point at the column list, move 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Payoff slide for the Mouse ENCODE thread. Say explicitly: this is the detail I told you to hold on to.</a:t>
            </a:r>
          </a:p>
          <a:p/>
          <a:p>
            <a:r>
              <a:t>The awk one-liner counts reads per flowcell and lane. Run it live if the projector allows; it takes seconds and makes batch structure concrete.</a:t>
            </a:r>
          </a:p>
          <a:p/>
          <a:p>
            <a:r>
              <a:t>Warn them that SRA-downloaded FASTQ often has the original headers stripped and replaced with accession-based ones. Use --original-format with fasterq-dump if you need them. That is a genuine gotcha for the homework.</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Do the 0.15-errors-per-read calculation on the board rather than just showing it. It reframes Q30 from 'good' to 'good enough only because of depth'.</a:t>
            </a:r>
          </a:p>
          <a:p/>
          <a:p>
            <a:r>
              <a:t>Q37 appearing as F is worth a mention because students see it constantly and assume F means failure.</a:t>
            </a:r>
          </a:p>
          <a:p/>
          <a:p>
            <a:r>
              <a:t>If asked about binned quality scores: modern Illumina instruments quantise quality into a handful of bins, which is why you see so few distinct characters. It saves enormous storage and costs very little accuracy.</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This is the slide that stops them from over-trimming, which is the most common Session-2 mistake.</a:t>
            </a:r>
          </a:p>
          <a:p/>
          <a:p>
            <a:r>
              <a:t>The random-hexamer artefact is worth explaining once properly: priming is not uniform, so the first bases are biased; it looks terrible and means nothing. Trimming it costs real data.</a:t>
            </a:r>
          </a:p>
          <a:p/>
          <a:p>
            <a:r>
              <a:t>Set up Thursday: they will run FastQC on data that has several of these, and the exercise is judging which matter.</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Read the three aloud; they are the assessable content of the session.</a:t>
            </a:r>
          </a:p>
          <a:p/>
          <a:p>
            <a:r>
              <a:t>For the homework, point them at GEO or ENA and say the dataset must have at least two conditions and more than two samples per condition, or the design critique has nothing to bite on.</a:t>
            </a:r>
          </a:p>
          <a:p/>
          <a:p>
            <a:r>
              <a:t>Remind graduate students that their version adds the methods-comparison component per the syllabus.</a:t>
            </a:r>
          </a:p>
          <a:p/>
          <a:p>
            <a:r>
              <a:t>Last thing to say out loud: if they can only remember one, make it number three.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UFTS_TITLE">
    <p:bg>
      <p:bgPr>
        <a:solidFill>
          <a:srgbClr val="FFFFFF"/>
        </a:solidFill>
      </p:bgPr>
    </p:bg>
    <p:spTree>
      <p:nvGrpSpPr>
        <p:cNvPr id="1" name=""/>
        <p:cNvGrpSpPr/>
        <p:nvPr/>
      </p:nvGrpSpPr>
      <p:grpSpPr>
        <a:xfrm>
          <a:off x="0" y="0"/>
          <a:ext cx="0" cy="0"/>
          <a:chOff x="0" y="0"/>
          <a:chExt cx="0" cy="0"/>
        </a:xfrm>
      </p:grpSpPr>
      <p:pic>
        <p:nvPicPr>
          <p:cNvPr id="2" name="Image 0" descr="bg_title.png">    </p:cNvPr>
          <p:cNvPicPr>
            <a:picLocks noChangeAspect="1"/>
          </p:cNvPicPr>
          <p:nvPr/>
        </p:nvPicPr>
        <p:blipFill>
          <a:blip r:embed="rId1"/>
          <a:stretch>
            <a:fillRect/>
          </a:stretch>
        </p:blipFill>
        <p:spPr>
          <a:xfrm>
            <a:off x="0" y="0"/>
            <a:ext cx="12187123" cy="6855257"/>
          </a:xfrm>
          <a:prstGeom prst="rect">
            <a:avLst/>
          </a:prstGeom>
        </p:spPr>
      </p:pic>
      <p:pic>
        <p:nvPicPr>
          <p:cNvPr id="3" name="Image 1" descr="logo.png">    </p:cNvPr>
          <p:cNvPicPr>
            <a:picLocks noChangeAspect="1"/>
          </p:cNvPicPr>
          <p:nvPr/>
        </p:nvPicPr>
        <p:blipFill>
          <a:blip r:embed="rId2"/>
          <a:stretch>
            <a:fillRect/>
          </a:stretch>
        </p:blipFill>
        <p:spPr>
          <a:xfrm>
            <a:off x="5486" y="10058"/>
            <a:ext cx="2296973" cy="149321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UFTS">
    <p:bg>
      <p:bgPr>
        <a:solidFill>
          <a:srgbClr val="FFFFFF"/>
        </a:solidFill>
      </p:bgPr>
    </p:bg>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logo.png">    </p:cNvPr>
          <p:cNvPicPr>
            <a:picLocks noChangeAspect="1"/>
          </p:cNvPicPr>
          <p:nvPr/>
        </p:nvPicPr>
        <p:blipFill>
          <a:blip r:embed="rId2"/>
          <a:stretch>
            <a:fillRect/>
          </a:stretch>
        </p:blipFill>
        <p:spPr>
          <a:xfrm>
            <a:off x="58522" y="6025896"/>
            <a:ext cx="1280160" cy="832104"/>
          </a:xfrm>
          <a:prstGeom prst="rect">
            <a:avLst/>
          </a:prstGeom>
        </p:spPr>
      </p:pic>
      <p:sp>
        <p:nvSpPr>
          <p:cNvPr id="4" name="Text 0"/>
          <p:cNvSpPr txBox="1"/>
          <p:nvPr/>
        </p:nvSpPr>
        <p:spPr>
          <a:xfrm>
            <a:off x="1371600" y="6336792"/>
            <a:ext cx="3657600" cy="274320"/>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Department of Biology</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6.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352958" y="2487168"/>
            <a:ext cx="7132320" cy="1143000"/>
          </a:xfrm>
          <a:prstGeom prst="rect">
            <a:avLst/>
          </a:prstGeom>
          <a:noFill/>
          <a:ln/>
        </p:spPr>
        <p:txBody>
          <a:bodyPr wrap="square" lIns="0" tIns="0" rIns="0" bIns="0" rtlCol="0" anchor="ctr"/>
          <a:lstStyle/>
          <a:p>
            <a:pPr indent="0" marL="0">
              <a:lnSpc>
                <a:spcPts val="4000"/>
              </a:lnSpc>
              <a:buNone/>
            </a:pPr>
            <a:r>
              <a:rPr lang="en-US" sz="3400" b="1" dirty="0">
                <a:solidFill>
                  <a:srgbClr val="3172AE"/>
                </a:solidFill>
                <a:latin typeface="Arial" pitchFamily="34" charset="0"/>
                <a:ea typeface="Arial" pitchFamily="34" charset="-122"/>
                <a:cs typeface="Arial" pitchFamily="34" charset="-120"/>
              </a:rPr>
              <a:t>Sequencing Technologies,</a:t>
            </a:r>
            <a:endParaRPr lang="en-US" sz="3400" dirty="0"/>
          </a:p>
          <a:p>
            <a:pPr indent="0" marL="0">
              <a:lnSpc>
                <a:spcPts val="4000"/>
              </a:lnSpc>
              <a:buNone/>
            </a:pPr>
            <a:r>
              <a:rPr lang="en-US" sz="3400" b="1" dirty="0">
                <a:solidFill>
                  <a:srgbClr val="3172AE"/>
                </a:solidFill>
                <a:latin typeface="Arial" pitchFamily="34" charset="0"/>
                <a:ea typeface="Arial" pitchFamily="34" charset="-122"/>
                <a:cs typeface="Arial" pitchFamily="34" charset="-120"/>
              </a:rPr>
              <a:t>Experimental Design, and QC</a:t>
            </a:r>
            <a:endParaRPr lang="en-US" sz="3400" dirty="0"/>
          </a:p>
        </p:txBody>
      </p:sp>
      <p:sp>
        <p:nvSpPr>
          <p:cNvPr id="3" name="Text 1"/>
          <p:cNvSpPr txBox="1"/>
          <p:nvPr/>
        </p:nvSpPr>
        <p:spPr>
          <a:xfrm>
            <a:off x="361188" y="3730752"/>
            <a:ext cx="6949440" cy="329184"/>
          </a:xfrm>
          <a:prstGeom prst="rect">
            <a:avLst/>
          </a:prstGeom>
          <a:noFill/>
          <a:ln/>
        </p:spPr>
        <p:txBody>
          <a:bodyPr wrap="square" lIns="0" tIns="0" rIns="0" bIns="0" rtlCol="0" anchor="ctr"/>
          <a:lstStyle/>
          <a:p>
            <a:pPr indent="0" marL="0">
              <a:buNone/>
            </a:pPr>
            <a:r>
              <a:rPr lang="en-US" sz="1800" dirty="0">
                <a:solidFill>
                  <a:srgbClr val="1F2933"/>
                </a:solidFill>
                <a:latin typeface="Arial" pitchFamily="34" charset="0"/>
                <a:ea typeface="Arial" pitchFamily="34" charset="-122"/>
                <a:cs typeface="Arial" pitchFamily="34" charset="-120"/>
              </a:rPr>
              <a:t>Applied Bioinformatics  ·  Week 2, Session 1</a:t>
            </a:r>
            <a:endParaRPr lang="en-US" sz="1800" dirty="0"/>
          </a:p>
        </p:txBody>
      </p:sp>
      <p:sp>
        <p:nvSpPr>
          <p:cNvPr id="4" name="Text 2"/>
          <p:cNvSpPr txBox="1"/>
          <p:nvPr/>
        </p:nvSpPr>
        <p:spPr>
          <a:xfrm>
            <a:off x="361188" y="4096512"/>
            <a:ext cx="6949440" cy="292608"/>
          </a:xfrm>
          <a:prstGeom prst="rect">
            <a:avLst/>
          </a:prstGeom>
          <a:noFill/>
          <a:ln/>
        </p:spPr>
        <p:txBody>
          <a:bodyPr wrap="square" lIns="0" tIns="0" rIns="0" bIns="0" rtlCol="0" anchor="ctr"/>
          <a:lstStyle/>
          <a:p>
            <a:pPr indent="0" marL="0">
              <a:buNone/>
            </a:pPr>
            <a:r>
              <a:rPr lang="en-US" sz="1400" dirty="0">
                <a:solidFill>
                  <a:srgbClr val="6B7280"/>
                </a:solidFill>
                <a:latin typeface="Arial" pitchFamily="34" charset="0"/>
                <a:ea typeface="Arial" pitchFamily="34" charset="-122"/>
                <a:cs typeface="Arial" pitchFamily="34" charset="-120"/>
              </a:rPr>
              <a:t>Department of Biology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15391" y="329184"/>
            <a:ext cx="10963656" cy="603504"/>
          </a:xfrm>
          <a:prstGeom prst="rect">
            <a:avLst/>
          </a:prstGeom>
          <a:noFill/>
          <a:ln/>
        </p:spPr>
        <p:txBody>
          <a:bodyPr wrap="square" lIns="0" tIns="0" rIns="0" bIns="0" rtlCol="0" anchor="ctr"/>
          <a:lstStyle/>
          <a:p>
            <a:pPr indent="0" marL="0">
              <a:buNone/>
            </a:pPr>
            <a:r>
              <a:rPr lang="en-US" sz="2800" b="1" dirty="0">
                <a:solidFill>
                  <a:srgbClr val="3172AE"/>
                </a:solidFill>
                <a:latin typeface="Arial" pitchFamily="34" charset="0"/>
                <a:ea typeface="Arial" pitchFamily="34" charset="-122"/>
                <a:cs typeface="Arial" pitchFamily="34" charset="-120"/>
              </a:rPr>
              <a:t>One question, for 40 minutes</a:t>
            </a:r>
            <a:endParaRPr lang="en-US" sz="2800" dirty="0"/>
          </a:p>
        </p:txBody>
      </p:sp>
      <p:sp>
        <p:nvSpPr>
          <p:cNvPr id="3" name="Text 1"/>
          <p:cNvSpPr txBox="1"/>
          <p:nvPr/>
        </p:nvSpPr>
        <p:spPr>
          <a:xfrm>
            <a:off x="615391" y="941832"/>
            <a:ext cx="10963656" cy="274320"/>
          </a:xfrm>
          <a:prstGeom prst="rect">
            <a:avLst/>
          </a:prstGeom>
          <a:noFill/>
          <a:ln/>
        </p:spPr>
        <p:txBody>
          <a:bodyPr wrap="square" lIns="0" tIns="0" rIns="0" bIns="0" rtlCol="0" anchor="ctr"/>
          <a:lstStyle/>
          <a:p>
            <a:pPr indent="0" marL="0">
              <a:buNone/>
            </a:pPr>
            <a:r>
              <a:rPr lang="en-US" sz="1200" spc="110" kern="0" dirty="0">
                <a:solidFill>
                  <a:srgbClr val="9AA5B1"/>
                </a:solidFill>
                <a:latin typeface="Arial" pitchFamily="34" charset="0"/>
                <a:ea typeface="Arial" pitchFamily="34" charset="-122"/>
                <a:cs typeface="Arial" pitchFamily="34" charset="-120"/>
              </a:rPr>
              <a:t>OPENING</a:t>
            </a:r>
            <a:endParaRPr lang="en-US" sz="1200" dirty="0"/>
          </a:p>
        </p:txBody>
      </p:sp>
      <p:sp>
        <p:nvSpPr>
          <p:cNvPr id="4" name="Shape 2"/>
          <p:cNvSpPr/>
          <p:nvPr/>
        </p:nvSpPr>
        <p:spPr>
          <a:xfrm>
            <a:off x="615391" y="1481328"/>
            <a:ext cx="6400800" cy="2057400"/>
          </a:xfrm>
          <a:prstGeom prst="roundRect">
            <a:avLst>
              <a:gd name="adj" fmla="val 2667"/>
            </a:avLst>
          </a:prstGeom>
          <a:solidFill>
            <a:srgbClr val="EEF4FA"/>
          </a:solidFill>
          <a:ln w="12700">
            <a:solidFill>
              <a:srgbClr val="EEF4FA"/>
            </a:solidFill>
            <a:prstDash val="solid"/>
          </a:ln>
        </p:spPr>
        <p:txBody>
          <a:bodyPr/>
          <a:p/>
        </p:txBody>
      </p:sp>
      <p:sp>
        <p:nvSpPr>
          <p:cNvPr id="5" name="Text 3"/>
          <p:cNvSpPr txBox="1"/>
          <p:nvPr/>
        </p:nvSpPr>
        <p:spPr>
          <a:xfrm>
            <a:off x="999439" y="1755648"/>
            <a:ext cx="5669280" cy="822960"/>
          </a:xfrm>
          <a:prstGeom prst="rect">
            <a:avLst/>
          </a:prstGeom>
          <a:noFill/>
          <a:ln/>
        </p:spPr>
        <p:txBody>
          <a:bodyPr wrap="square" lIns="0" tIns="0" rIns="0" bIns="0" rtlCol="0" anchor="ctr"/>
          <a:lstStyle/>
          <a:p>
            <a:pPr indent="0" marL="0">
              <a:lnSpc>
                <a:spcPts val="2700"/>
              </a:lnSpc>
              <a:buNone/>
            </a:pPr>
            <a:r>
              <a:rPr lang="en-US" sz="1900" dirty="0">
                <a:solidFill>
                  <a:srgbClr val="1F2933"/>
                </a:solidFill>
                <a:latin typeface="Arial" pitchFamily="34" charset="0"/>
                <a:ea typeface="Arial" pitchFamily="34" charset="-122"/>
                <a:cs typeface="Arial" pitchFamily="34" charset="-120"/>
              </a:rPr>
              <a:t>You have just been handed 40 FASTQ files</a:t>
            </a:r>
            <a:endParaRPr lang="en-US" sz="1900" dirty="0"/>
          </a:p>
          <a:p>
            <a:pPr indent="0" marL="0">
              <a:lnSpc>
                <a:spcPts val="2700"/>
              </a:lnSpc>
              <a:buNone/>
            </a:pPr>
            <a:r>
              <a:rPr lang="en-US" sz="1900" dirty="0">
                <a:solidFill>
                  <a:srgbClr val="1F2933"/>
                </a:solidFill>
                <a:latin typeface="Arial" pitchFamily="34" charset="0"/>
                <a:ea typeface="Arial" pitchFamily="34" charset="-122"/>
                <a:cs typeface="Arial" pitchFamily="34" charset="-120"/>
              </a:rPr>
              <a:t>and a sample sheet.</a:t>
            </a:r>
            <a:endParaRPr lang="en-US" sz="1900" dirty="0"/>
          </a:p>
        </p:txBody>
      </p:sp>
      <p:sp>
        <p:nvSpPr>
          <p:cNvPr id="6" name="Text 4"/>
          <p:cNvSpPr txBox="1"/>
          <p:nvPr/>
        </p:nvSpPr>
        <p:spPr>
          <a:xfrm>
            <a:off x="999439" y="2706624"/>
            <a:ext cx="5669280" cy="548640"/>
          </a:xfrm>
          <a:prstGeom prst="rect">
            <a:avLst/>
          </a:prstGeom>
          <a:noFill/>
          <a:ln/>
        </p:spPr>
        <p:txBody>
          <a:bodyPr wrap="square" lIns="0" tIns="0" rIns="0" bIns="0" rtlCol="0" anchor="ctr"/>
          <a:lstStyle/>
          <a:p>
            <a:pPr indent="0" marL="0">
              <a:buNone/>
            </a:pPr>
            <a:r>
              <a:rPr lang="en-US" sz="3000" b="1" dirty="0">
                <a:solidFill>
                  <a:srgbClr val="3172AE"/>
                </a:solidFill>
                <a:latin typeface="Arial" pitchFamily="34" charset="0"/>
                <a:ea typeface="Arial" pitchFamily="34" charset="-122"/>
                <a:cs typeface="Arial" pitchFamily="34" charset="-120"/>
              </a:rPr>
              <a:t>Should you trust them?</a:t>
            </a:r>
            <a:endParaRPr lang="en-US" sz="3000" dirty="0"/>
          </a:p>
        </p:txBody>
      </p:sp>
      <p:sp>
        <p:nvSpPr>
          <p:cNvPr id="7" name="Shape 5"/>
          <p:cNvSpPr/>
          <p:nvPr/>
        </p:nvSpPr>
        <p:spPr>
          <a:xfrm>
            <a:off x="7360920" y="1627632"/>
            <a:ext cx="137160" cy="137160"/>
          </a:xfrm>
          <a:prstGeom prst="diamond">
            <a:avLst/>
          </a:prstGeom>
          <a:solidFill>
            <a:srgbClr val="498BCA"/>
          </a:solidFill>
          <a:ln w="12700">
            <a:solidFill>
              <a:srgbClr val="498BCA"/>
            </a:solidFill>
            <a:prstDash val="solid"/>
          </a:ln>
        </p:spPr>
        <p:txBody>
          <a:bodyPr/>
          <a:p/>
        </p:txBody>
      </p:sp>
      <p:sp>
        <p:nvSpPr>
          <p:cNvPr id="8" name="Text 6"/>
          <p:cNvSpPr txBox="1"/>
          <p:nvPr/>
        </p:nvSpPr>
        <p:spPr>
          <a:xfrm>
            <a:off x="7680960" y="1481328"/>
            <a:ext cx="3886200" cy="274320"/>
          </a:xfrm>
          <a:prstGeom prst="rect">
            <a:avLst/>
          </a:prstGeom>
          <a:noFill/>
          <a:ln/>
        </p:spPr>
        <p:txBody>
          <a:bodyPr wrap="square" lIns="0" tIns="0" rIns="0" bIns="0" rtlCol="0" anchor="ctr"/>
          <a:lstStyle/>
          <a:p>
            <a:pPr indent="0" marL="0">
              <a:buNone/>
            </a:pPr>
            <a:r>
              <a:rPr lang="en-US" sz="1450" b="1" dirty="0">
                <a:solidFill>
                  <a:srgbClr val="1F2933"/>
                </a:solidFill>
                <a:latin typeface="Arial" pitchFamily="34" charset="0"/>
                <a:ea typeface="Arial" pitchFamily="34" charset="-122"/>
                <a:cs typeface="Arial" pitchFamily="34" charset="-120"/>
              </a:rPr>
              <a:t>What was actually sequenced?</a:t>
            </a:r>
            <a:endParaRPr lang="en-US" sz="1450" dirty="0"/>
          </a:p>
        </p:txBody>
      </p:sp>
      <p:sp>
        <p:nvSpPr>
          <p:cNvPr id="9" name="Text 7"/>
          <p:cNvSpPr txBox="1"/>
          <p:nvPr/>
        </p:nvSpPr>
        <p:spPr>
          <a:xfrm>
            <a:off x="7680960" y="1755648"/>
            <a:ext cx="3886200" cy="411480"/>
          </a:xfrm>
          <a:prstGeom prst="rect">
            <a:avLst/>
          </a:prstGeom>
          <a:noFill/>
          <a:ln/>
        </p:spPr>
        <p:txBody>
          <a:bodyPr wrap="square" lIns="0" tIns="0" rIns="0" bIns="0" rtlCol="0" anchor="ctr"/>
          <a:lstStyle/>
          <a:p>
            <a:pPr indent="0" marL="0">
              <a:lnSpc>
                <a:spcPts val="1500"/>
              </a:lnSpc>
              <a:buNone/>
            </a:pPr>
            <a:r>
              <a:rPr lang="en-US" sz="1150" dirty="0">
                <a:solidFill>
                  <a:srgbClr val="6B7280"/>
                </a:solidFill>
                <a:latin typeface="Arial" pitchFamily="34" charset="0"/>
                <a:ea typeface="Arial" pitchFamily="34" charset="-122"/>
                <a:cs typeface="Arial" pitchFamily="34" charset="-120"/>
              </a:rPr>
              <a:t>Assay type and platform decide what a read means.</a:t>
            </a:r>
            <a:endParaRPr lang="en-US" sz="1150" dirty="0"/>
          </a:p>
        </p:txBody>
      </p:sp>
      <p:sp>
        <p:nvSpPr>
          <p:cNvPr id="10" name="Shape 8"/>
          <p:cNvSpPr/>
          <p:nvPr/>
        </p:nvSpPr>
        <p:spPr>
          <a:xfrm>
            <a:off x="7360920" y="2386584"/>
            <a:ext cx="137160" cy="137160"/>
          </a:xfrm>
          <a:prstGeom prst="diamond">
            <a:avLst/>
          </a:prstGeom>
          <a:solidFill>
            <a:srgbClr val="FFC82C"/>
          </a:solidFill>
          <a:ln w="12700">
            <a:solidFill>
              <a:srgbClr val="FFC82C"/>
            </a:solidFill>
            <a:prstDash val="solid"/>
          </a:ln>
        </p:spPr>
        <p:txBody>
          <a:bodyPr/>
          <a:p/>
        </p:txBody>
      </p:sp>
      <p:sp>
        <p:nvSpPr>
          <p:cNvPr id="11" name="Text 9"/>
          <p:cNvSpPr txBox="1"/>
          <p:nvPr/>
        </p:nvSpPr>
        <p:spPr>
          <a:xfrm>
            <a:off x="7680960" y="2240280"/>
            <a:ext cx="3886200" cy="274320"/>
          </a:xfrm>
          <a:prstGeom prst="rect">
            <a:avLst/>
          </a:prstGeom>
          <a:noFill/>
          <a:ln/>
        </p:spPr>
        <p:txBody>
          <a:bodyPr wrap="square" lIns="0" tIns="0" rIns="0" bIns="0" rtlCol="0" anchor="ctr"/>
          <a:lstStyle/>
          <a:p>
            <a:pPr indent="0" marL="0">
              <a:buNone/>
            </a:pPr>
            <a:r>
              <a:rPr lang="en-US" sz="1450" b="1" dirty="0">
                <a:solidFill>
                  <a:srgbClr val="1F2933"/>
                </a:solidFill>
                <a:latin typeface="Arial" pitchFamily="34" charset="0"/>
                <a:ea typeface="Arial" pitchFamily="34" charset="-122"/>
                <a:cs typeface="Arial" pitchFamily="34" charset="-120"/>
              </a:rPr>
              <a:t>How was the experiment designed?</a:t>
            </a:r>
            <a:endParaRPr lang="en-US" sz="1450" dirty="0"/>
          </a:p>
        </p:txBody>
      </p:sp>
      <p:sp>
        <p:nvSpPr>
          <p:cNvPr id="12" name="Text 10"/>
          <p:cNvSpPr txBox="1"/>
          <p:nvPr/>
        </p:nvSpPr>
        <p:spPr>
          <a:xfrm>
            <a:off x="7680960" y="2514600"/>
            <a:ext cx="3886200" cy="411480"/>
          </a:xfrm>
          <a:prstGeom prst="rect">
            <a:avLst/>
          </a:prstGeom>
          <a:noFill/>
          <a:ln/>
        </p:spPr>
        <p:txBody>
          <a:bodyPr wrap="square" lIns="0" tIns="0" rIns="0" bIns="0" rtlCol="0" anchor="ctr"/>
          <a:lstStyle/>
          <a:p>
            <a:pPr indent="0" marL="0">
              <a:lnSpc>
                <a:spcPts val="1500"/>
              </a:lnSpc>
              <a:buNone/>
            </a:pPr>
            <a:r>
              <a:rPr lang="en-US" sz="1150" dirty="0">
                <a:solidFill>
                  <a:srgbClr val="6B7280"/>
                </a:solidFill>
                <a:latin typeface="Arial" pitchFamily="34" charset="0"/>
                <a:ea typeface="Arial" pitchFamily="34" charset="-122"/>
                <a:cs typeface="Arial" pitchFamily="34" charset="-120"/>
              </a:rPr>
              <a:t>Decided months ago. Cannot be fixed by software.</a:t>
            </a:r>
            <a:endParaRPr lang="en-US" sz="1150" dirty="0"/>
          </a:p>
        </p:txBody>
      </p:sp>
      <p:sp>
        <p:nvSpPr>
          <p:cNvPr id="13" name="Shape 11"/>
          <p:cNvSpPr/>
          <p:nvPr/>
        </p:nvSpPr>
        <p:spPr>
          <a:xfrm>
            <a:off x="7360920" y="3145536"/>
            <a:ext cx="137160" cy="137160"/>
          </a:xfrm>
          <a:prstGeom prst="diamond">
            <a:avLst/>
          </a:prstGeom>
          <a:solidFill>
            <a:srgbClr val="C0CD30"/>
          </a:solidFill>
          <a:ln w="12700">
            <a:solidFill>
              <a:srgbClr val="C0CD30"/>
            </a:solidFill>
            <a:prstDash val="solid"/>
          </a:ln>
        </p:spPr>
        <p:txBody>
          <a:bodyPr/>
          <a:p/>
        </p:txBody>
      </p:sp>
      <p:sp>
        <p:nvSpPr>
          <p:cNvPr id="14" name="Text 12"/>
          <p:cNvSpPr txBox="1"/>
          <p:nvPr/>
        </p:nvSpPr>
        <p:spPr>
          <a:xfrm>
            <a:off x="7680960" y="2999232"/>
            <a:ext cx="3886200" cy="274320"/>
          </a:xfrm>
          <a:prstGeom prst="rect">
            <a:avLst/>
          </a:prstGeom>
          <a:noFill/>
          <a:ln/>
        </p:spPr>
        <p:txBody>
          <a:bodyPr wrap="square" lIns="0" tIns="0" rIns="0" bIns="0" rtlCol="0" anchor="ctr"/>
          <a:lstStyle/>
          <a:p>
            <a:pPr indent="0" marL="0">
              <a:buNone/>
            </a:pPr>
            <a:r>
              <a:rPr lang="en-US" sz="1450" b="1" dirty="0">
                <a:solidFill>
                  <a:srgbClr val="1F2933"/>
                </a:solidFill>
                <a:latin typeface="Arial" pitchFamily="34" charset="0"/>
                <a:ea typeface="Arial" pitchFamily="34" charset="-122"/>
                <a:cs typeface="Arial" pitchFamily="34" charset="-120"/>
              </a:rPr>
              <a:t>Did the sequencing work?</a:t>
            </a:r>
            <a:endParaRPr lang="en-US" sz="1450" dirty="0"/>
          </a:p>
        </p:txBody>
      </p:sp>
      <p:sp>
        <p:nvSpPr>
          <p:cNvPr id="15" name="Text 13"/>
          <p:cNvSpPr txBox="1"/>
          <p:nvPr/>
        </p:nvSpPr>
        <p:spPr>
          <a:xfrm>
            <a:off x="7680960" y="3273552"/>
            <a:ext cx="3886200" cy="411480"/>
          </a:xfrm>
          <a:prstGeom prst="rect">
            <a:avLst/>
          </a:prstGeom>
          <a:noFill/>
          <a:ln/>
        </p:spPr>
        <p:txBody>
          <a:bodyPr wrap="square" lIns="0" tIns="0" rIns="0" bIns="0" rtlCol="0" anchor="ctr"/>
          <a:lstStyle/>
          <a:p>
            <a:pPr indent="0" marL="0">
              <a:lnSpc>
                <a:spcPts val="1500"/>
              </a:lnSpc>
              <a:buNone/>
            </a:pPr>
            <a:r>
              <a:rPr lang="en-US" sz="1150" dirty="0">
                <a:solidFill>
                  <a:srgbClr val="6B7280"/>
                </a:solidFill>
                <a:latin typeface="Arial" pitchFamily="34" charset="0"/>
                <a:ea typeface="Arial" pitchFamily="34" charset="-122"/>
                <a:cs typeface="Arial" pitchFamily="34" charset="-120"/>
              </a:rPr>
              <a:t>The only part QC tools can answer directly.</a:t>
            </a:r>
            <a:endParaRPr lang="en-US" sz="1150" dirty="0"/>
          </a:p>
        </p:txBody>
      </p:sp>
      <p:sp>
        <p:nvSpPr>
          <p:cNvPr id="16" name="Shape 14"/>
          <p:cNvSpPr/>
          <p:nvPr/>
        </p:nvSpPr>
        <p:spPr>
          <a:xfrm>
            <a:off x="615391" y="3913632"/>
            <a:ext cx="10963656" cy="0"/>
          </a:xfrm>
          <a:prstGeom prst="line">
            <a:avLst/>
          </a:prstGeom>
          <a:noFill/>
          <a:ln w="12700">
            <a:solidFill>
              <a:srgbClr val="D6DEE7"/>
            </a:solidFill>
            <a:prstDash val="solid"/>
          </a:ln>
        </p:spPr>
        <p:txBody>
          <a:bodyPr/>
          <a:p/>
        </p:txBody>
      </p:sp>
      <p:sp>
        <p:nvSpPr>
          <p:cNvPr id="17" name="Text 15"/>
          <p:cNvSpPr txBox="1"/>
          <p:nvPr/>
        </p:nvSpPr>
        <p:spPr>
          <a:xfrm>
            <a:off x="615391" y="4069080"/>
            <a:ext cx="10963656" cy="365760"/>
          </a:xfrm>
          <a:prstGeom prst="rect">
            <a:avLst/>
          </a:prstGeom>
          <a:noFill/>
          <a:ln/>
        </p:spPr>
        <p:txBody>
          <a:bodyPr wrap="square" lIns="0" tIns="0" rIns="0" bIns="0" rtlCol="0" anchor="ctr"/>
          <a:lstStyle/>
          <a:p>
            <a:pPr indent="0" marL="0">
              <a:buNone/>
            </a:pPr>
            <a:r>
              <a:rPr lang="en-US" sz="1500" i="1" dirty="0">
                <a:solidFill>
                  <a:srgbClr val="205081"/>
                </a:solidFill>
                <a:latin typeface="Arial" pitchFamily="34" charset="0"/>
                <a:ea typeface="Arial" pitchFamily="34" charset="-122"/>
                <a:cs typeface="Arial" pitchFamily="34" charset="-120"/>
              </a:rPr>
              <a:t>Two of those three you answer before you open a single file. That is the uncomfortable part.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15391" y="329184"/>
            <a:ext cx="10963656" cy="603504"/>
          </a:xfrm>
          <a:prstGeom prst="rect">
            <a:avLst/>
          </a:prstGeom>
          <a:noFill/>
          <a:ln/>
        </p:spPr>
        <p:txBody>
          <a:bodyPr wrap="square" lIns="0" tIns="0" rIns="0" bIns="0" rtlCol="0" anchor="ctr"/>
          <a:lstStyle/>
          <a:p>
            <a:pPr indent="0" marL="0">
              <a:buNone/>
            </a:pPr>
            <a:r>
              <a:rPr lang="en-US" sz="2800" b="1" dirty="0">
                <a:solidFill>
                  <a:srgbClr val="3172AE"/>
                </a:solidFill>
                <a:latin typeface="Arial" pitchFamily="34" charset="0"/>
                <a:ea typeface="Arial" pitchFamily="34" charset="-122"/>
                <a:cs typeface="Arial" pitchFamily="34" charset="-120"/>
              </a:rPr>
              <a:t>Every omics assay is the same three steps</a:t>
            </a:r>
            <a:endParaRPr lang="en-US" sz="2800" dirty="0"/>
          </a:p>
        </p:txBody>
      </p:sp>
      <p:sp>
        <p:nvSpPr>
          <p:cNvPr id="3" name="Text 1"/>
          <p:cNvSpPr txBox="1"/>
          <p:nvPr/>
        </p:nvSpPr>
        <p:spPr>
          <a:xfrm>
            <a:off x="615391" y="941832"/>
            <a:ext cx="10963656" cy="274320"/>
          </a:xfrm>
          <a:prstGeom prst="rect">
            <a:avLst/>
          </a:prstGeom>
          <a:noFill/>
          <a:ln/>
        </p:spPr>
        <p:txBody>
          <a:bodyPr wrap="square" lIns="0" tIns="0" rIns="0" bIns="0" rtlCol="0" anchor="ctr"/>
          <a:lstStyle/>
          <a:p>
            <a:pPr indent="0" marL="0">
              <a:buNone/>
            </a:pPr>
            <a:r>
              <a:rPr lang="en-US" sz="1200" spc="110" kern="0" dirty="0">
                <a:solidFill>
                  <a:srgbClr val="9AA5B1"/>
                </a:solidFill>
                <a:latin typeface="Arial" pitchFamily="34" charset="0"/>
                <a:ea typeface="Arial" pitchFamily="34" charset="-122"/>
                <a:cs typeface="Arial" pitchFamily="34" charset="-120"/>
              </a:rPr>
              <a:t>OMICS DATA TYPES</a:t>
            </a:r>
            <a:endParaRPr lang="en-US" sz="1200" dirty="0"/>
          </a:p>
        </p:txBody>
      </p:sp>
      <p:sp>
        <p:nvSpPr>
          <p:cNvPr id="4" name="Shape 2"/>
          <p:cNvSpPr/>
          <p:nvPr/>
        </p:nvSpPr>
        <p:spPr>
          <a:xfrm>
            <a:off x="615391" y="1481328"/>
            <a:ext cx="3246120" cy="1783080"/>
          </a:xfrm>
          <a:prstGeom prst="roundRect">
            <a:avLst>
              <a:gd name="adj" fmla="val 3077"/>
            </a:avLst>
          </a:prstGeom>
          <a:solidFill>
            <a:srgbClr val="FAFBFC"/>
          </a:solidFill>
          <a:ln w="12700">
            <a:solidFill>
              <a:srgbClr val="FAFBFC"/>
            </a:solidFill>
            <a:prstDash val="solid"/>
          </a:ln>
        </p:spPr>
      </p:sp>
      <p:sp>
        <p:nvSpPr>
          <p:cNvPr id="5" name="Text 3"/>
          <p:cNvSpPr txBox="1"/>
          <p:nvPr/>
        </p:nvSpPr>
        <p:spPr>
          <a:xfrm>
            <a:off x="889711" y="1682496"/>
            <a:ext cx="1828800" cy="237744"/>
          </a:xfrm>
          <a:prstGeom prst="rect">
            <a:avLst/>
          </a:prstGeom>
          <a:noFill/>
          <a:ln/>
        </p:spPr>
        <p:txBody>
          <a:bodyPr wrap="square" lIns="0" tIns="0" rIns="0" bIns="0" rtlCol="0" anchor="ctr"/>
          <a:lstStyle/>
          <a:p>
            <a:pPr indent="0" marL="0">
              <a:buNone/>
            </a:pPr>
            <a:r>
              <a:rPr lang="en-US" sz="1050" b="1" spc="120" kern="0" dirty="0">
                <a:solidFill>
                  <a:srgbClr val="9AA5B1"/>
                </a:solidFill>
                <a:latin typeface="Arial" pitchFamily="34" charset="0"/>
                <a:ea typeface="Arial" pitchFamily="34" charset="-122"/>
                <a:cs typeface="Arial" pitchFamily="34" charset="-120"/>
              </a:rPr>
              <a:t>STEP 1</a:t>
            </a:r>
            <a:endParaRPr lang="en-US" sz="1050" dirty="0"/>
          </a:p>
        </p:txBody>
      </p:sp>
      <p:sp>
        <p:nvSpPr>
          <p:cNvPr id="6" name="Text 4"/>
          <p:cNvSpPr txBox="1"/>
          <p:nvPr/>
        </p:nvSpPr>
        <p:spPr>
          <a:xfrm>
            <a:off x="889711" y="1956816"/>
            <a:ext cx="2651760" cy="347472"/>
          </a:xfrm>
          <a:prstGeom prst="rect">
            <a:avLst/>
          </a:prstGeom>
          <a:noFill/>
          <a:ln/>
        </p:spPr>
        <p:txBody>
          <a:bodyPr wrap="square" lIns="0" tIns="0" rIns="0" bIns="0" rtlCol="0" anchor="ctr"/>
          <a:lstStyle/>
          <a:p>
            <a:pPr indent="0" marL="0">
              <a:buNone/>
            </a:pPr>
            <a:r>
              <a:rPr lang="en-US" sz="1900" b="1" dirty="0">
                <a:solidFill>
                  <a:srgbClr val="1F2933"/>
                </a:solidFill>
                <a:latin typeface="Arial" pitchFamily="34" charset="0"/>
                <a:ea typeface="Arial" pitchFamily="34" charset="-122"/>
                <a:cs typeface="Arial" pitchFamily="34" charset="-120"/>
              </a:rPr>
              <a:t>Extract</a:t>
            </a:r>
            <a:endParaRPr lang="en-US" sz="1900" dirty="0"/>
          </a:p>
        </p:txBody>
      </p:sp>
      <p:sp>
        <p:nvSpPr>
          <p:cNvPr id="7" name="Text 5"/>
          <p:cNvSpPr txBox="1"/>
          <p:nvPr/>
        </p:nvSpPr>
        <p:spPr>
          <a:xfrm>
            <a:off x="889711" y="2377440"/>
            <a:ext cx="2697480" cy="777240"/>
          </a:xfrm>
          <a:prstGeom prst="rect">
            <a:avLst/>
          </a:prstGeom>
          <a:noFill/>
          <a:ln/>
        </p:spPr>
        <p:txBody>
          <a:bodyPr wrap="square" lIns="0" tIns="0" rIns="0" bIns="0" rtlCol="0" anchor="ctr"/>
          <a:lstStyle/>
          <a:p>
            <a:pPr indent="0" marL="0">
              <a:lnSpc>
                <a:spcPts val="1600"/>
              </a:lnSpc>
              <a:buNone/>
            </a:pPr>
            <a:r>
              <a:rPr lang="en-US" sz="1200" dirty="0">
                <a:solidFill>
                  <a:srgbClr val="6B7280"/>
                </a:solidFill>
                <a:latin typeface="Arial" pitchFamily="34" charset="0"/>
                <a:ea typeface="Arial" pitchFamily="34" charset="-122"/>
                <a:cs typeface="Arial" pitchFamily="34" charset="-120"/>
              </a:rPr>
              <a:t>Pull some class of molecule out of a cell: DNA, RNA, chromatin, a whole community.</a:t>
            </a:r>
            <a:endParaRPr lang="en-US" sz="1200" dirty="0"/>
          </a:p>
        </p:txBody>
      </p:sp>
      <p:sp>
        <p:nvSpPr>
          <p:cNvPr id="8" name="Text 6"/>
          <p:cNvSpPr txBox="1"/>
          <p:nvPr/>
        </p:nvSpPr>
        <p:spPr>
          <a:xfrm>
            <a:off x="3934663" y="2139696"/>
            <a:ext cx="420624" cy="457200"/>
          </a:xfrm>
          <a:prstGeom prst="rect">
            <a:avLst/>
          </a:prstGeom>
          <a:noFill/>
          <a:ln/>
        </p:spPr>
        <p:txBody>
          <a:bodyPr wrap="square" lIns="0" tIns="0" rIns="0" bIns="0" rtlCol="0" anchor="ctr"/>
          <a:lstStyle/>
          <a:p>
            <a:pPr algn="ctr" indent="0" marL="0">
              <a:buNone/>
            </a:pPr>
            <a:r>
              <a:rPr lang="en-US" sz="2600" dirty="0">
                <a:solidFill>
                  <a:srgbClr val="9AA5B1"/>
                </a:solidFill>
                <a:latin typeface="Arial" pitchFamily="34" charset="0"/>
                <a:ea typeface="Arial" pitchFamily="34" charset="-122"/>
                <a:cs typeface="Arial" pitchFamily="34" charset="-120"/>
              </a:rPr>
              <a:t>→</a:t>
            </a:r>
            <a:endParaRPr lang="en-US" sz="2600" dirty="0"/>
          </a:p>
        </p:txBody>
      </p:sp>
      <p:sp>
        <p:nvSpPr>
          <p:cNvPr id="9" name="Shape 7"/>
          <p:cNvSpPr/>
          <p:nvPr/>
        </p:nvSpPr>
        <p:spPr>
          <a:xfrm>
            <a:off x="4428439" y="1481328"/>
            <a:ext cx="3246120" cy="1783080"/>
          </a:xfrm>
          <a:prstGeom prst="roundRect">
            <a:avLst>
              <a:gd name="adj" fmla="val 3077"/>
            </a:avLst>
          </a:prstGeom>
          <a:solidFill>
            <a:srgbClr val="EEF4FA"/>
          </a:solidFill>
          <a:ln w="15875">
            <a:solidFill>
              <a:srgbClr val="498BCA"/>
            </a:solidFill>
            <a:prstDash val="solid"/>
          </a:ln>
        </p:spPr>
      </p:sp>
      <p:sp>
        <p:nvSpPr>
          <p:cNvPr id="10" name="Text 8"/>
          <p:cNvSpPr txBox="1"/>
          <p:nvPr/>
        </p:nvSpPr>
        <p:spPr>
          <a:xfrm>
            <a:off x="4702759" y="1682496"/>
            <a:ext cx="1828800" cy="237744"/>
          </a:xfrm>
          <a:prstGeom prst="rect">
            <a:avLst/>
          </a:prstGeom>
          <a:noFill/>
          <a:ln/>
        </p:spPr>
        <p:txBody>
          <a:bodyPr wrap="square" lIns="0" tIns="0" rIns="0" bIns="0" rtlCol="0" anchor="ctr"/>
          <a:lstStyle/>
          <a:p>
            <a:pPr indent="0" marL="0">
              <a:buNone/>
            </a:pPr>
            <a:r>
              <a:rPr lang="en-US" sz="1050" b="1" spc="120" kern="0" dirty="0">
                <a:solidFill>
                  <a:srgbClr val="3172AE"/>
                </a:solidFill>
                <a:latin typeface="Arial" pitchFamily="34" charset="0"/>
                <a:ea typeface="Arial" pitchFamily="34" charset="-122"/>
                <a:cs typeface="Arial" pitchFamily="34" charset="-120"/>
              </a:rPr>
              <a:t>STEP 2</a:t>
            </a:r>
            <a:endParaRPr lang="en-US" sz="1050" dirty="0"/>
          </a:p>
        </p:txBody>
      </p:sp>
      <p:sp>
        <p:nvSpPr>
          <p:cNvPr id="11" name="Text 9"/>
          <p:cNvSpPr txBox="1"/>
          <p:nvPr/>
        </p:nvSpPr>
        <p:spPr>
          <a:xfrm>
            <a:off x="4702759" y="1956816"/>
            <a:ext cx="2651760" cy="347472"/>
          </a:xfrm>
          <a:prstGeom prst="rect">
            <a:avLst/>
          </a:prstGeom>
          <a:noFill/>
          <a:ln/>
        </p:spPr>
        <p:txBody>
          <a:bodyPr wrap="square" lIns="0" tIns="0" rIns="0" bIns="0" rtlCol="0" anchor="ctr"/>
          <a:lstStyle/>
          <a:p>
            <a:pPr indent="0" marL="0">
              <a:buNone/>
            </a:pPr>
            <a:r>
              <a:rPr lang="en-US" sz="1900" b="1" dirty="0">
                <a:solidFill>
                  <a:srgbClr val="1F2933"/>
                </a:solidFill>
                <a:latin typeface="Arial" pitchFamily="34" charset="0"/>
                <a:ea typeface="Arial" pitchFamily="34" charset="-122"/>
                <a:cs typeface="Arial" pitchFamily="34" charset="-120"/>
              </a:rPr>
              <a:t>Convert</a:t>
            </a:r>
            <a:endParaRPr lang="en-US" sz="1900" dirty="0"/>
          </a:p>
        </p:txBody>
      </p:sp>
      <p:sp>
        <p:nvSpPr>
          <p:cNvPr id="12" name="Text 10"/>
          <p:cNvSpPr txBox="1"/>
          <p:nvPr/>
        </p:nvSpPr>
        <p:spPr>
          <a:xfrm>
            <a:off x="4702759" y="2377440"/>
            <a:ext cx="2697480" cy="777240"/>
          </a:xfrm>
          <a:prstGeom prst="rect">
            <a:avLst/>
          </a:prstGeom>
          <a:noFill/>
          <a:ln/>
        </p:spPr>
        <p:txBody>
          <a:bodyPr wrap="square" lIns="0" tIns="0" rIns="0" bIns="0" rtlCol="0" anchor="ctr"/>
          <a:lstStyle/>
          <a:p>
            <a:pPr indent="0" marL="0">
              <a:lnSpc>
                <a:spcPts val="1600"/>
              </a:lnSpc>
              <a:buNone/>
            </a:pPr>
            <a:r>
              <a:rPr lang="en-US" sz="1200" dirty="0">
                <a:solidFill>
                  <a:srgbClr val="6B7280"/>
                </a:solidFill>
                <a:latin typeface="Arial" pitchFamily="34" charset="0"/>
                <a:ea typeface="Arial" pitchFamily="34" charset="-122"/>
                <a:cs typeface="Arial" pitchFamily="34" charset="-120"/>
              </a:rPr>
              <a:t>Turn it into a sequenceable DNA library. Fragment, select, capture, reverse-transcribe, amplify.</a:t>
            </a:r>
            <a:endParaRPr lang="en-US" sz="1200" dirty="0"/>
          </a:p>
        </p:txBody>
      </p:sp>
      <p:sp>
        <p:nvSpPr>
          <p:cNvPr id="13" name="Text 11"/>
          <p:cNvSpPr txBox="1"/>
          <p:nvPr/>
        </p:nvSpPr>
        <p:spPr>
          <a:xfrm>
            <a:off x="7747711" y="2139696"/>
            <a:ext cx="420624" cy="457200"/>
          </a:xfrm>
          <a:prstGeom prst="rect">
            <a:avLst/>
          </a:prstGeom>
          <a:noFill/>
          <a:ln/>
        </p:spPr>
        <p:txBody>
          <a:bodyPr wrap="square" lIns="0" tIns="0" rIns="0" bIns="0" rtlCol="0" anchor="ctr"/>
          <a:lstStyle/>
          <a:p>
            <a:pPr algn="ctr" indent="0" marL="0">
              <a:buNone/>
            </a:pPr>
            <a:r>
              <a:rPr lang="en-US" sz="2600" dirty="0">
                <a:solidFill>
                  <a:srgbClr val="9AA5B1"/>
                </a:solidFill>
                <a:latin typeface="Arial" pitchFamily="34" charset="0"/>
                <a:ea typeface="Arial" pitchFamily="34" charset="-122"/>
                <a:cs typeface="Arial" pitchFamily="34" charset="-120"/>
              </a:rPr>
              <a:t>→</a:t>
            </a:r>
            <a:endParaRPr lang="en-US" sz="2600" dirty="0"/>
          </a:p>
        </p:txBody>
      </p:sp>
      <p:sp>
        <p:nvSpPr>
          <p:cNvPr id="14" name="Shape 12"/>
          <p:cNvSpPr/>
          <p:nvPr/>
        </p:nvSpPr>
        <p:spPr>
          <a:xfrm>
            <a:off x="8241487" y="1481328"/>
            <a:ext cx="3246120" cy="1783080"/>
          </a:xfrm>
          <a:prstGeom prst="roundRect">
            <a:avLst>
              <a:gd name="adj" fmla="val 3077"/>
            </a:avLst>
          </a:prstGeom>
          <a:solidFill>
            <a:srgbClr val="FAFBFC"/>
          </a:solidFill>
          <a:ln w="12700">
            <a:solidFill>
              <a:srgbClr val="FAFBFC"/>
            </a:solidFill>
            <a:prstDash val="solid"/>
          </a:ln>
        </p:spPr>
      </p:sp>
      <p:sp>
        <p:nvSpPr>
          <p:cNvPr id="15" name="Text 13"/>
          <p:cNvSpPr txBox="1"/>
          <p:nvPr/>
        </p:nvSpPr>
        <p:spPr>
          <a:xfrm>
            <a:off x="8515807" y="1682496"/>
            <a:ext cx="1828800" cy="237744"/>
          </a:xfrm>
          <a:prstGeom prst="rect">
            <a:avLst/>
          </a:prstGeom>
          <a:noFill/>
          <a:ln/>
        </p:spPr>
        <p:txBody>
          <a:bodyPr wrap="square" lIns="0" tIns="0" rIns="0" bIns="0" rtlCol="0" anchor="ctr"/>
          <a:lstStyle/>
          <a:p>
            <a:pPr indent="0" marL="0">
              <a:buNone/>
            </a:pPr>
            <a:r>
              <a:rPr lang="en-US" sz="1050" b="1" spc="120" kern="0" dirty="0">
                <a:solidFill>
                  <a:srgbClr val="9AA5B1"/>
                </a:solidFill>
                <a:latin typeface="Arial" pitchFamily="34" charset="0"/>
                <a:ea typeface="Arial" pitchFamily="34" charset="-122"/>
                <a:cs typeface="Arial" pitchFamily="34" charset="-120"/>
              </a:rPr>
              <a:t>STEP 3</a:t>
            </a:r>
            <a:endParaRPr lang="en-US" sz="1050" dirty="0"/>
          </a:p>
        </p:txBody>
      </p:sp>
      <p:sp>
        <p:nvSpPr>
          <p:cNvPr id="16" name="Text 14"/>
          <p:cNvSpPr txBox="1"/>
          <p:nvPr/>
        </p:nvSpPr>
        <p:spPr>
          <a:xfrm>
            <a:off x="8515807" y="1956816"/>
            <a:ext cx="2651760" cy="347472"/>
          </a:xfrm>
          <a:prstGeom prst="rect">
            <a:avLst/>
          </a:prstGeom>
          <a:noFill/>
          <a:ln/>
        </p:spPr>
        <p:txBody>
          <a:bodyPr wrap="square" lIns="0" tIns="0" rIns="0" bIns="0" rtlCol="0" anchor="ctr"/>
          <a:lstStyle/>
          <a:p>
            <a:pPr indent="0" marL="0">
              <a:buNone/>
            </a:pPr>
            <a:r>
              <a:rPr lang="en-US" sz="1900" b="1" dirty="0">
                <a:solidFill>
                  <a:srgbClr val="1F2933"/>
                </a:solidFill>
                <a:latin typeface="Arial" pitchFamily="34" charset="0"/>
                <a:ea typeface="Arial" pitchFamily="34" charset="-122"/>
                <a:cs typeface="Arial" pitchFamily="34" charset="-120"/>
              </a:rPr>
              <a:t>Count</a:t>
            </a:r>
            <a:endParaRPr lang="en-US" sz="1900" dirty="0"/>
          </a:p>
        </p:txBody>
      </p:sp>
      <p:sp>
        <p:nvSpPr>
          <p:cNvPr id="17" name="Text 15"/>
          <p:cNvSpPr txBox="1"/>
          <p:nvPr/>
        </p:nvSpPr>
        <p:spPr>
          <a:xfrm>
            <a:off x="8515807" y="2377440"/>
            <a:ext cx="2697480" cy="777240"/>
          </a:xfrm>
          <a:prstGeom prst="rect">
            <a:avLst/>
          </a:prstGeom>
          <a:noFill/>
          <a:ln/>
        </p:spPr>
        <p:txBody>
          <a:bodyPr wrap="square" lIns="0" tIns="0" rIns="0" bIns="0" rtlCol="0" anchor="ctr"/>
          <a:lstStyle/>
          <a:p>
            <a:pPr indent="0" marL="0">
              <a:lnSpc>
                <a:spcPts val="1600"/>
              </a:lnSpc>
              <a:buNone/>
            </a:pPr>
            <a:r>
              <a:rPr lang="en-US" sz="1200" dirty="0">
                <a:solidFill>
                  <a:srgbClr val="6B7280"/>
                </a:solidFill>
                <a:latin typeface="Arial" pitchFamily="34" charset="0"/>
                <a:ea typeface="Arial" pitchFamily="34" charset="-122"/>
                <a:cs typeface="Arial" pitchFamily="34" charset="-120"/>
              </a:rPr>
              <a:t>Sequence the library. Reads out, one file per sample.</a:t>
            </a:r>
            <a:endParaRPr lang="en-US" sz="1200" dirty="0"/>
          </a:p>
        </p:txBody>
      </p:sp>
      <p:sp>
        <p:nvSpPr>
          <p:cNvPr id="18" name="Shape 16"/>
          <p:cNvSpPr/>
          <p:nvPr/>
        </p:nvSpPr>
        <p:spPr>
          <a:xfrm>
            <a:off x="615391" y="3584448"/>
            <a:ext cx="10963656" cy="1417320"/>
          </a:xfrm>
          <a:prstGeom prst="roundRect">
            <a:avLst>
              <a:gd name="adj" fmla="val 3871"/>
            </a:avLst>
          </a:prstGeom>
          <a:solidFill>
            <a:srgbClr val="F5F6F0"/>
          </a:solidFill>
          <a:ln w="12700">
            <a:solidFill>
              <a:srgbClr val="F5F6F0"/>
            </a:solidFill>
            <a:prstDash val="solid"/>
          </a:ln>
        </p:spPr>
      </p:sp>
      <p:sp>
        <p:nvSpPr>
          <p:cNvPr id="19" name="Text 17"/>
          <p:cNvSpPr txBox="1"/>
          <p:nvPr/>
        </p:nvSpPr>
        <p:spPr>
          <a:xfrm>
            <a:off x="999439" y="3776472"/>
            <a:ext cx="10195560" cy="457200"/>
          </a:xfrm>
          <a:prstGeom prst="rect">
            <a:avLst/>
          </a:prstGeom>
          <a:noFill/>
          <a:ln/>
        </p:spPr>
        <p:txBody>
          <a:bodyPr wrap="square" lIns="0" tIns="0" rIns="0" bIns="0" rtlCol="0" anchor="ctr"/>
          <a:lstStyle/>
          <a:p>
            <a:pPr indent="0" marL="0">
              <a:lnSpc>
                <a:spcPts val="2200"/>
              </a:lnSpc>
              <a:buNone/>
            </a:pPr>
            <a:r>
              <a:rPr lang="en-US" sz="1600" b="1" dirty="0">
                <a:solidFill>
                  <a:srgbClr val="1F2933"/>
                </a:solidFill>
                <a:latin typeface="Arial" pitchFamily="34" charset="0"/>
                <a:ea typeface="Arial" pitchFamily="34" charset="-122"/>
                <a:cs typeface="Arial" pitchFamily="34" charset="-120"/>
              </a:rPr>
              <a:t>Step 1 and step 3 are nearly identical across assays. Step 2 is where they diverge — and step 2 is what you are actually analysing.</a:t>
            </a:r>
            <a:endParaRPr lang="en-US" sz="1600" dirty="0"/>
          </a:p>
        </p:txBody>
      </p:sp>
      <p:sp>
        <p:nvSpPr>
          <p:cNvPr id="20" name="Text 18"/>
          <p:cNvSpPr txBox="1"/>
          <p:nvPr/>
        </p:nvSpPr>
        <p:spPr>
          <a:xfrm>
            <a:off x="999439" y="4315968"/>
            <a:ext cx="10195560" cy="548640"/>
          </a:xfrm>
          <a:prstGeom prst="rect">
            <a:avLst/>
          </a:prstGeom>
          <a:noFill/>
          <a:ln/>
        </p:spPr>
        <p:txBody>
          <a:bodyPr wrap="square" lIns="0" tIns="0" rIns="0" bIns="0" rtlCol="0" anchor="ctr"/>
          <a:lstStyle/>
          <a:p>
            <a:pPr indent="0" marL="0">
              <a:lnSpc>
                <a:spcPts val="1700"/>
              </a:lnSpc>
              <a:buNone/>
            </a:pPr>
            <a:r>
              <a:rPr lang="en-US" sz="1250" dirty="0">
                <a:solidFill>
                  <a:srgbClr val="6B7280"/>
                </a:solidFill>
                <a:latin typeface="Arial" pitchFamily="34" charset="0"/>
                <a:ea typeface="Arial" pitchFamily="34" charset="-122"/>
                <a:cs typeface="Arial" pitchFamily="34" charset="-120"/>
              </a:rPr>
              <a:t>A read is never raw biology. It is biology after a protocol did something to it. Most analysis mistakes are really misunderstandings of step 2 — what got enriched, what got amplified, what got thrown away.</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15391" y="329184"/>
            <a:ext cx="10963656" cy="603504"/>
          </a:xfrm>
          <a:prstGeom prst="rect">
            <a:avLst/>
          </a:prstGeom>
          <a:noFill/>
          <a:ln/>
        </p:spPr>
        <p:txBody>
          <a:bodyPr wrap="square" lIns="0" tIns="0" rIns="0" bIns="0" rtlCol="0" anchor="ctr"/>
          <a:lstStyle/>
          <a:p>
            <a:pPr indent="0" marL="0">
              <a:buNone/>
            </a:pPr>
            <a:r>
              <a:rPr lang="en-US" sz="2800" b="1" dirty="0">
                <a:solidFill>
                  <a:srgbClr val="3172AE"/>
                </a:solidFill>
                <a:latin typeface="Arial" pitchFamily="34" charset="0"/>
                <a:ea typeface="Arial" pitchFamily="34" charset="-122"/>
                <a:cs typeface="Arial" pitchFamily="34" charset="-120"/>
              </a:rPr>
              <a:t>What a read represents decides your statistics</a:t>
            </a:r>
            <a:endParaRPr lang="en-US" sz="2800" dirty="0"/>
          </a:p>
        </p:txBody>
      </p:sp>
      <p:sp>
        <p:nvSpPr>
          <p:cNvPr id="3" name="Text 1"/>
          <p:cNvSpPr txBox="1"/>
          <p:nvPr/>
        </p:nvSpPr>
        <p:spPr>
          <a:xfrm>
            <a:off x="615391" y="941832"/>
            <a:ext cx="10963656" cy="274320"/>
          </a:xfrm>
          <a:prstGeom prst="rect">
            <a:avLst/>
          </a:prstGeom>
          <a:noFill/>
          <a:ln/>
        </p:spPr>
        <p:txBody>
          <a:bodyPr wrap="square" lIns="0" tIns="0" rIns="0" bIns="0" rtlCol="0" anchor="ctr"/>
          <a:lstStyle/>
          <a:p>
            <a:pPr indent="0" marL="0">
              <a:buNone/>
            </a:pPr>
            <a:r>
              <a:rPr lang="en-US" sz="1200" spc="110" kern="0" dirty="0">
                <a:solidFill>
                  <a:srgbClr val="9AA5B1"/>
                </a:solidFill>
                <a:latin typeface="Arial" pitchFamily="34" charset="0"/>
                <a:ea typeface="Arial" pitchFamily="34" charset="-122"/>
                <a:cs typeface="Arial" pitchFamily="34" charset="-120"/>
              </a:rPr>
              <a:t>OMICS DATA TYPES</a:t>
            </a:r>
            <a:endParaRPr lang="en-US" sz="1200" dirty="0"/>
          </a:p>
        </p:txBody>
      </p:sp>
      <p:sp>
        <p:nvSpPr>
          <p:cNvPr id="4" name="Shape 2"/>
          <p:cNvSpPr/>
          <p:nvPr/>
        </p:nvSpPr>
        <p:spPr>
          <a:xfrm>
            <a:off x="615391" y="1481328"/>
            <a:ext cx="5349240" cy="1938528"/>
          </a:xfrm>
          <a:prstGeom prst="roundRect">
            <a:avLst>
              <a:gd name="adj" fmla="val 2830"/>
            </a:avLst>
          </a:prstGeom>
          <a:solidFill>
            <a:srgbClr val="FAFBFC"/>
          </a:solidFill>
          <a:ln w="12700">
            <a:solidFill>
              <a:srgbClr val="FAFBFC"/>
            </a:solidFill>
            <a:prstDash val="solid"/>
          </a:ln>
        </p:spPr>
      </p:sp>
      <p:sp>
        <p:nvSpPr>
          <p:cNvPr id="5" name="Shape 3"/>
          <p:cNvSpPr/>
          <p:nvPr/>
        </p:nvSpPr>
        <p:spPr>
          <a:xfrm>
            <a:off x="907999" y="1764792"/>
            <a:ext cx="155448" cy="155448"/>
          </a:xfrm>
          <a:prstGeom prst="diamond">
            <a:avLst/>
          </a:prstGeom>
          <a:solidFill>
            <a:srgbClr val="498BCA"/>
          </a:solidFill>
          <a:ln w="12700">
            <a:solidFill>
              <a:srgbClr val="498BCA"/>
            </a:solidFill>
            <a:prstDash val="solid"/>
          </a:ln>
        </p:spPr>
      </p:sp>
      <p:sp>
        <p:nvSpPr>
          <p:cNvPr id="6" name="Text 4"/>
          <p:cNvSpPr txBox="1"/>
          <p:nvPr/>
        </p:nvSpPr>
        <p:spPr>
          <a:xfrm>
            <a:off x="1218895" y="1682496"/>
            <a:ext cx="3108960" cy="292608"/>
          </a:xfrm>
          <a:prstGeom prst="rect">
            <a:avLst/>
          </a:prstGeom>
          <a:noFill/>
          <a:ln/>
        </p:spPr>
        <p:txBody>
          <a:bodyPr wrap="square" lIns="0" tIns="0" rIns="0" bIns="0" rtlCol="0" anchor="ctr"/>
          <a:lstStyle/>
          <a:p>
            <a:pPr indent="0" marL="0">
              <a:buNone/>
            </a:pPr>
            <a:r>
              <a:rPr lang="en-US" sz="1550" b="1" dirty="0">
                <a:solidFill>
                  <a:srgbClr val="1F2933"/>
                </a:solidFill>
                <a:latin typeface="Arial" pitchFamily="34" charset="0"/>
                <a:ea typeface="Arial" pitchFamily="34" charset="-122"/>
                <a:cs typeface="Arial" pitchFamily="34" charset="-120"/>
              </a:rPr>
              <a:t>Genomics</a:t>
            </a:r>
            <a:endParaRPr lang="en-US" sz="1550" dirty="0"/>
          </a:p>
        </p:txBody>
      </p:sp>
      <p:sp>
        <p:nvSpPr>
          <p:cNvPr id="7" name="Text 5"/>
          <p:cNvSpPr txBox="1"/>
          <p:nvPr/>
        </p:nvSpPr>
        <p:spPr>
          <a:xfrm>
            <a:off x="907999" y="2057400"/>
            <a:ext cx="4764024" cy="274320"/>
          </a:xfrm>
          <a:prstGeom prst="rect">
            <a:avLst/>
          </a:prstGeom>
          <a:noFill/>
          <a:ln/>
        </p:spPr>
        <p:txBody>
          <a:bodyPr wrap="square" lIns="0" tIns="0" rIns="0" bIns="0" rtlCol="0" anchor="ctr"/>
          <a:lstStyle/>
          <a:p>
            <a:pPr indent="0" marL="0">
              <a:buNone/>
            </a:pPr>
            <a:r>
              <a:rPr lang="en-US" sz="1300" b="1" dirty="0">
                <a:solidFill>
                  <a:srgbClr val="498BCA"/>
                </a:solidFill>
                <a:latin typeface="Arial" pitchFamily="34" charset="0"/>
                <a:ea typeface="Arial" pitchFamily="34" charset="-122"/>
                <a:cs typeface="Arial" pitchFamily="34" charset="-120"/>
              </a:rPr>
              <a:t>The denominator is known.</a:t>
            </a:r>
            <a:endParaRPr lang="en-US" sz="1300" dirty="0"/>
          </a:p>
        </p:txBody>
      </p:sp>
      <p:sp>
        <p:nvSpPr>
          <p:cNvPr id="8" name="Text 6"/>
          <p:cNvSpPr txBox="1"/>
          <p:nvPr/>
        </p:nvSpPr>
        <p:spPr>
          <a:xfrm>
            <a:off x="907999" y="2377440"/>
            <a:ext cx="4764024" cy="914400"/>
          </a:xfrm>
          <a:prstGeom prst="rect">
            <a:avLst/>
          </a:prstGeom>
          <a:noFill/>
          <a:ln/>
        </p:spPr>
        <p:txBody>
          <a:bodyPr wrap="square" lIns="0" tIns="0" rIns="0" bIns="0" rtlCol="0" anchor="ctr"/>
          <a:lstStyle/>
          <a:p>
            <a:pPr indent="0" marL="0">
              <a:lnSpc>
                <a:spcPts val="1550"/>
              </a:lnSpc>
              <a:buNone/>
            </a:pPr>
            <a:r>
              <a:rPr lang="en-US" sz="1150" dirty="0">
                <a:solidFill>
                  <a:srgbClr val="6B7280"/>
                </a:solidFill>
                <a:latin typeface="Arial" pitchFamily="34" charset="0"/>
                <a:ea typeface="Arial" pitchFamily="34" charset="-122"/>
                <a:cs typeface="Arial" pitchFamily="34" charset="-120"/>
              </a:rPr>
              <a:t>A diploid genome has two copies of each locus. Depth at a site is interpretable on its own: 30× means 30 observations of a thing you know is there. This is why variant calling can be a per-site probability problem.</a:t>
            </a:r>
            <a:endParaRPr lang="en-US" sz="1150" dirty="0"/>
          </a:p>
        </p:txBody>
      </p:sp>
      <p:sp>
        <p:nvSpPr>
          <p:cNvPr id="9" name="Shape 7"/>
          <p:cNvSpPr/>
          <p:nvPr/>
        </p:nvSpPr>
        <p:spPr>
          <a:xfrm>
            <a:off x="6229807" y="1481328"/>
            <a:ext cx="5349240" cy="1938528"/>
          </a:xfrm>
          <a:prstGeom prst="roundRect">
            <a:avLst>
              <a:gd name="adj" fmla="val 2830"/>
            </a:avLst>
          </a:prstGeom>
          <a:solidFill>
            <a:srgbClr val="FAFBFC"/>
          </a:solidFill>
          <a:ln w="12700">
            <a:solidFill>
              <a:srgbClr val="FAFBFC"/>
            </a:solidFill>
            <a:prstDash val="solid"/>
          </a:ln>
        </p:spPr>
      </p:sp>
      <p:sp>
        <p:nvSpPr>
          <p:cNvPr id="10" name="Shape 8"/>
          <p:cNvSpPr/>
          <p:nvPr/>
        </p:nvSpPr>
        <p:spPr>
          <a:xfrm>
            <a:off x="6522415" y="1764792"/>
            <a:ext cx="155448" cy="155448"/>
          </a:xfrm>
          <a:prstGeom prst="diamond">
            <a:avLst/>
          </a:prstGeom>
          <a:solidFill>
            <a:srgbClr val="FFC82C"/>
          </a:solidFill>
          <a:ln w="12700">
            <a:solidFill>
              <a:srgbClr val="FFC82C"/>
            </a:solidFill>
            <a:prstDash val="solid"/>
          </a:ln>
        </p:spPr>
      </p:sp>
      <p:sp>
        <p:nvSpPr>
          <p:cNvPr id="11" name="Text 9"/>
          <p:cNvSpPr txBox="1"/>
          <p:nvPr/>
        </p:nvSpPr>
        <p:spPr>
          <a:xfrm>
            <a:off x="6833311" y="1682496"/>
            <a:ext cx="3108960" cy="292608"/>
          </a:xfrm>
          <a:prstGeom prst="rect">
            <a:avLst/>
          </a:prstGeom>
          <a:noFill/>
          <a:ln/>
        </p:spPr>
        <p:txBody>
          <a:bodyPr wrap="square" lIns="0" tIns="0" rIns="0" bIns="0" rtlCol="0" anchor="ctr"/>
          <a:lstStyle/>
          <a:p>
            <a:pPr indent="0" marL="0">
              <a:buNone/>
            </a:pPr>
            <a:r>
              <a:rPr lang="en-US" sz="1550" b="1" dirty="0">
                <a:solidFill>
                  <a:srgbClr val="1F2933"/>
                </a:solidFill>
                <a:latin typeface="Arial" pitchFamily="34" charset="0"/>
                <a:ea typeface="Arial" pitchFamily="34" charset="-122"/>
                <a:cs typeface="Arial" pitchFamily="34" charset="-120"/>
              </a:rPr>
              <a:t>Transcriptomics</a:t>
            </a:r>
            <a:endParaRPr lang="en-US" sz="1550" dirty="0"/>
          </a:p>
        </p:txBody>
      </p:sp>
      <p:sp>
        <p:nvSpPr>
          <p:cNvPr id="12" name="Text 10"/>
          <p:cNvSpPr txBox="1"/>
          <p:nvPr/>
        </p:nvSpPr>
        <p:spPr>
          <a:xfrm>
            <a:off x="6522415" y="2057400"/>
            <a:ext cx="4764024" cy="274320"/>
          </a:xfrm>
          <a:prstGeom prst="rect">
            <a:avLst/>
          </a:prstGeom>
          <a:noFill/>
          <a:ln/>
        </p:spPr>
        <p:txBody>
          <a:bodyPr wrap="square" lIns="0" tIns="0" rIns="0" bIns="0" rtlCol="0" anchor="ctr"/>
          <a:lstStyle/>
          <a:p>
            <a:pPr indent="0" marL="0">
              <a:buNone/>
            </a:pPr>
            <a:r>
              <a:rPr lang="en-US" sz="1300" b="1" dirty="0">
                <a:solidFill>
                  <a:srgbClr val="B8860B"/>
                </a:solidFill>
                <a:latin typeface="Arial" pitchFamily="34" charset="0"/>
                <a:ea typeface="Arial" pitchFamily="34" charset="-122"/>
                <a:cs typeface="Arial" pitchFamily="34" charset="-120"/>
              </a:rPr>
              <a:t>The denominator is arbitrary.</a:t>
            </a:r>
            <a:endParaRPr lang="en-US" sz="1300" dirty="0"/>
          </a:p>
        </p:txBody>
      </p:sp>
      <p:sp>
        <p:nvSpPr>
          <p:cNvPr id="13" name="Text 11"/>
          <p:cNvSpPr txBox="1"/>
          <p:nvPr/>
        </p:nvSpPr>
        <p:spPr>
          <a:xfrm>
            <a:off x="6522415" y="2377440"/>
            <a:ext cx="4764024" cy="914400"/>
          </a:xfrm>
          <a:prstGeom prst="rect">
            <a:avLst/>
          </a:prstGeom>
          <a:noFill/>
          <a:ln/>
        </p:spPr>
        <p:txBody>
          <a:bodyPr wrap="square" lIns="0" tIns="0" rIns="0" bIns="0" rtlCol="0" anchor="ctr"/>
          <a:lstStyle/>
          <a:p>
            <a:pPr indent="0" marL="0">
              <a:lnSpc>
                <a:spcPts val="1550"/>
              </a:lnSpc>
              <a:buNone/>
            </a:pPr>
            <a:r>
              <a:rPr lang="en-US" sz="1150" dirty="0">
                <a:solidFill>
                  <a:srgbClr val="6B7280"/>
                </a:solidFill>
                <a:latin typeface="Arial" pitchFamily="34" charset="0"/>
                <a:ea typeface="Arial" pitchFamily="34" charset="-122"/>
                <a:cs typeface="Arial" pitchFamily="34" charset="-120"/>
              </a:rPr>
              <a:t>Library size is set by how much you loaded, not by biology. A gene's raw count means nothing until it is normalised. If one gene doubles, every other gene's fraction falls — without changing.</a:t>
            </a:r>
            <a:endParaRPr lang="en-US" sz="1150" dirty="0"/>
          </a:p>
        </p:txBody>
      </p:sp>
      <p:sp>
        <p:nvSpPr>
          <p:cNvPr id="14" name="Shape 12"/>
          <p:cNvSpPr/>
          <p:nvPr/>
        </p:nvSpPr>
        <p:spPr>
          <a:xfrm>
            <a:off x="615391" y="3675888"/>
            <a:ext cx="5349240" cy="1938528"/>
          </a:xfrm>
          <a:prstGeom prst="roundRect">
            <a:avLst>
              <a:gd name="adj" fmla="val 2830"/>
            </a:avLst>
          </a:prstGeom>
          <a:solidFill>
            <a:srgbClr val="FAFBFC"/>
          </a:solidFill>
          <a:ln w="12700">
            <a:solidFill>
              <a:srgbClr val="FAFBFC"/>
            </a:solidFill>
            <a:prstDash val="solid"/>
          </a:ln>
        </p:spPr>
      </p:sp>
      <p:sp>
        <p:nvSpPr>
          <p:cNvPr id="15" name="Shape 13"/>
          <p:cNvSpPr/>
          <p:nvPr/>
        </p:nvSpPr>
        <p:spPr>
          <a:xfrm>
            <a:off x="907999" y="3959352"/>
            <a:ext cx="155448" cy="155448"/>
          </a:xfrm>
          <a:prstGeom prst="diamond">
            <a:avLst/>
          </a:prstGeom>
          <a:solidFill>
            <a:srgbClr val="C0CD30"/>
          </a:solidFill>
          <a:ln w="12700">
            <a:solidFill>
              <a:srgbClr val="C0CD30"/>
            </a:solidFill>
            <a:prstDash val="solid"/>
          </a:ln>
        </p:spPr>
      </p:sp>
      <p:sp>
        <p:nvSpPr>
          <p:cNvPr id="16" name="Text 14"/>
          <p:cNvSpPr txBox="1"/>
          <p:nvPr/>
        </p:nvSpPr>
        <p:spPr>
          <a:xfrm>
            <a:off x="1218895" y="3877056"/>
            <a:ext cx="3108960" cy="292608"/>
          </a:xfrm>
          <a:prstGeom prst="rect">
            <a:avLst/>
          </a:prstGeom>
          <a:noFill/>
          <a:ln/>
        </p:spPr>
        <p:txBody>
          <a:bodyPr wrap="square" lIns="0" tIns="0" rIns="0" bIns="0" rtlCol="0" anchor="ctr"/>
          <a:lstStyle/>
          <a:p>
            <a:pPr indent="0" marL="0">
              <a:buNone/>
            </a:pPr>
            <a:r>
              <a:rPr lang="en-US" sz="1550" b="1" dirty="0">
                <a:solidFill>
                  <a:srgbClr val="1F2933"/>
                </a:solidFill>
                <a:latin typeface="Arial" pitchFamily="34" charset="0"/>
                <a:ea typeface="Arial" pitchFamily="34" charset="-122"/>
                <a:cs typeface="Arial" pitchFamily="34" charset="-120"/>
              </a:rPr>
              <a:t>Epigenomics</a:t>
            </a:r>
            <a:endParaRPr lang="en-US" sz="1550" dirty="0"/>
          </a:p>
        </p:txBody>
      </p:sp>
      <p:sp>
        <p:nvSpPr>
          <p:cNvPr id="17" name="Text 15"/>
          <p:cNvSpPr txBox="1"/>
          <p:nvPr/>
        </p:nvSpPr>
        <p:spPr>
          <a:xfrm>
            <a:off x="907999" y="4251960"/>
            <a:ext cx="4764024" cy="274320"/>
          </a:xfrm>
          <a:prstGeom prst="rect">
            <a:avLst/>
          </a:prstGeom>
          <a:noFill/>
          <a:ln/>
        </p:spPr>
        <p:txBody>
          <a:bodyPr wrap="square" lIns="0" tIns="0" rIns="0" bIns="0" rtlCol="0" anchor="ctr"/>
          <a:lstStyle/>
          <a:p>
            <a:pPr indent="0" marL="0">
              <a:buNone/>
            </a:pPr>
            <a:r>
              <a:rPr lang="en-US" sz="1300" b="1" dirty="0">
                <a:solidFill>
                  <a:srgbClr val="7C8A1E"/>
                </a:solidFill>
                <a:latin typeface="Arial" pitchFamily="34" charset="0"/>
                <a:ea typeface="Arial" pitchFamily="34" charset="-122"/>
                <a:cs typeface="Arial" pitchFamily="34" charset="-120"/>
              </a:rPr>
              <a:t>There is no denominator — only a background.</a:t>
            </a:r>
            <a:endParaRPr lang="en-US" sz="1300" dirty="0"/>
          </a:p>
        </p:txBody>
      </p:sp>
      <p:sp>
        <p:nvSpPr>
          <p:cNvPr id="18" name="Text 16"/>
          <p:cNvSpPr txBox="1"/>
          <p:nvPr/>
        </p:nvSpPr>
        <p:spPr>
          <a:xfrm>
            <a:off x="907999" y="4572000"/>
            <a:ext cx="4764024" cy="914400"/>
          </a:xfrm>
          <a:prstGeom prst="rect">
            <a:avLst/>
          </a:prstGeom>
          <a:noFill/>
          <a:ln/>
        </p:spPr>
        <p:txBody>
          <a:bodyPr wrap="square" lIns="0" tIns="0" rIns="0" bIns="0" rtlCol="0" anchor="ctr"/>
          <a:lstStyle/>
          <a:p>
            <a:pPr indent="0" marL="0">
              <a:lnSpc>
                <a:spcPts val="1550"/>
              </a:lnSpc>
              <a:buNone/>
            </a:pPr>
            <a:r>
              <a:rPr lang="en-US" sz="1150" dirty="0">
                <a:solidFill>
                  <a:srgbClr val="6B7280"/>
                </a:solidFill>
                <a:latin typeface="Arial" pitchFamily="34" charset="0"/>
                <a:ea typeface="Arial" pitchFamily="34" charset="-122"/>
                <a:cs typeface="Arial" pitchFamily="34" charset="-120"/>
              </a:rPr>
              <a:t>Enrichment is meaningless without a model of what unenriched looks like. That is why peak callers need an input control or a local background estimate, and why FRiP is a real QC metric.</a:t>
            </a:r>
            <a:endParaRPr lang="en-US" sz="1150" dirty="0"/>
          </a:p>
        </p:txBody>
      </p:sp>
      <p:sp>
        <p:nvSpPr>
          <p:cNvPr id="19" name="Shape 17"/>
          <p:cNvSpPr/>
          <p:nvPr/>
        </p:nvSpPr>
        <p:spPr>
          <a:xfrm>
            <a:off x="6229807" y="3675888"/>
            <a:ext cx="5349240" cy="1938528"/>
          </a:xfrm>
          <a:prstGeom prst="roundRect">
            <a:avLst>
              <a:gd name="adj" fmla="val 2830"/>
            </a:avLst>
          </a:prstGeom>
          <a:solidFill>
            <a:srgbClr val="FAFBFC"/>
          </a:solidFill>
          <a:ln w="12700">
            <a:solidFill>
              <a:srgbClr val="FAFBFC"/>
            </a:solidFill>
            <a:prstDash val="solid"/>
          </a:ln>
        </p:spPr>
      </p:sp>
      <p:sp>
        <p:nvSpPr>
          <p:cNvPr id="20" name="Shape 18"/>
          <p:cNvSpPr/>
          <p:nvPr/>
        </p:nvSpPr>
        <p:spPr>
          <a:xfrm>
            <a:off x="6522415" y="3959352"/>
            <a:ext cx="155448" cy="155448"/>
          </a:xfrm>
          <a:prstGeom prst="diamond">
            <a:avLst/>
          </a:prstGeom>
          <a:solidFill>
            <a:srgbClr val="205081"/>
          </a:solidFill>
          <a:ln w="12700">
            <a:solidFill>
              <a:srgbClr val="205081"/>
            </a:solidFill>
            <a:prstDash val="solid"/>
          </a:ln>
        </p:spPr>
      </p:sp>
      <p:sp>
        <p:nvSpPr>
          <p:cNvPr id="21" name="Text 19"/>
          <p:cNvSpPr txBox="1"/>
          <p:nvPr/>
        </p:nvSpPr>
        <p:spPr>
          <a:xfrm>
            <a:off x="6833311" y="3877056"/>
            <a:ext cx="3108960" cy="292608"/>
          </a:xfrm>
          <a:prstGeom prst="rect">
            <a:avLst/>
          </a:prstGeom>
          <a:noFill/>
          <a:ln/>
        </p:spPr>
        <p:txBody>
          <a:bodyPr wrap="square" lIns="0" tIns="0" rIns="0" bIns="0" rtlCol="0" anchor="ctr"/>
          <a:lstStyle/>
          <a:p>
            <a:pPr indent="0" marL="0">
              <a:buNone/>
            </a:pPr>
            <a:r>
              <a:rPr lang="en-US" sz="1550" b="1" dirty="0">
                <a:solidFill>
                  <a:srgbClr val="1F2933"/>
                </a:solidFill>
                <a:latin typeface="Arial" pitchFamily="34" charset="0"/>
                <a:ea typeface="Arial" pitchFamily="34" charset="-122"/>
                <a:cs typeface="Arial" pitchFamily="34" charset="-120"/>
              </a:rPr>
              <a:t>Metagenomics</a:t>
            </a:r>
            <a:endParaRPr lang="en-US" sz="1550" dirty="0"/>
          </a:p>
        </p:txBody>
      </p:sp>
      <p:sp>
        <p:nvSpPr>
          <p:cNvPr id="22" name="Text 20"/>
          <p:cNvSpPr txBox="1"/>
          <p:nvPr/>
        </p:nvSpPr>
        <p:spPr>
          <a:xfrm>
            <a:off x="6522415" y="4251960"/>
            <a:ext cx="4764024" cy="274320"/>
          </a:xfrm>
          <a:prstGeom prst="rect">
            <a:avLst/>
          </a:prstGeom>
          <a:noFill/>
          <a:ln/>
        </p:spPr>
        <p:txBody>
          <a:bodyPr wrap="square" lIns="0" tIns="0" rIns="0" bIns="0" rtlCol="0" anchor="ctr"/>
          <a:lstStyle/>
          <a:p>
            <a:pPr indent="0" marL="0">
              <a:buNone/>
            </a:pPr>
            <a:r>
              <a:rPr lang="en-US" sz="1300" b="1" dirty="0">
                <a:solidFill>
                  <a:srgbClr val="205081"/>
                </a:solidFill>
                <a:latin typeface="Arial" pitchFamily="34" charset="0"/>
                <a:ea typeface="Arial" pitchFamily="34" charset="-122"/>
                <a:cs typeface="Arial" pitchFamily="34" charset="-120"/>
              </a:rPr>
              <a:t>No denominator, and no reference.</a:t>
            </a:r>
            <a:endParaRPr lang="en-US" sz="1300" dirty="0"/>
          </a:p>
        </p:txBody>
      </p:sp>
      <p:sp>
        <p:nvSpPr>
          <p:cNvPr id="23" name="Text 21"/>
          <p:cNvSpPr txBox="1"/>
          <p:nvPr/>
        </p:nvSpPr>
        <p:spPr>
          <a:xfrm>
            <a:off x="6522415" y="4572000"/>
            <a:ext cx="4764024" cy="914400"/>
          </a:xfrm>
          <a:prstGeom prst="rect">
            <a:avLst/>
          </a:prstGeom>
          <a:noFill/>
          <a:ln/>
        </p:spPr>
        <p:txBody>
          <a:bodyPr wrap="square" lIns="0" tIns="0" rIns="0" bIns="0" rtlCol="0" anchor="ctr"/>
          <a:lstStyle/>
          <a:p>
            <a:pPr indent="0" marL="0">
              <a:lnSpc>
                <a:spcPts val="1550"/>
              </a:lnSpc>
              <a:buNone/>
            </a:pPr>
            <a:r>
              <a:rPr lang="en-US" sz="1150" dirty="0">
                <a:solidFill>
                  <a:srgbClr val="6B7280"/>
                </a:solidFill>
                <a:latin typeface="Arial" pitchFamily="34" charset="0"/>
                <a:ea typeface="Arial" pitchFamily="34" charset="-122"/>
                <a:cs typeface="Arial" pitchFamily="34" charset="-120"/>
              </a:rPr>
              <a:t>Composition problems and unknown-organism problems at the same time. This is why Week 10 spends a session on why standard statistics mislead on compositional data.</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15391" y="329184"/>
            <a:ext cx="10963656" cy="603504"/>
          </a:xfrm>
          <a:prstGeom prst="rect">
            <a:avLst/>
          </a:prstGeom>
          <a:noFill/>
          <a:ln/>
        </p:spPr>
        <p:txBody>
          <a:bodyPr wrap="square" lIns="0" tIns="0" rIns="0" bIns="0" rtlCol="0" anchor="ctr"/>
          <a:lstStyle/>
          <a:p>
            <a:pPr indent="0" marL="0">
              <a:buNone/>
            </a:pPr>
            <a:r>
              <a:rPr lang="en-US" sz="2800" b="1" dirty="0">
                <a:solidFill>
                  <a:srgbClr val="3172AE"/>
                </a:solidFill>
                <a:latin typeface="Arial" pitchFamily="34" charset="0"/>
                <a:ea typeface="Arial" pitchFamily="34" charset="-122"/>
                <a:cs typeface="Arial" pitchFamily="34" charset="-120"/>
              </a:rPr>
              <a:t>Why length and accuracy pull against each other</a:t>
            </a:r>
            <a:endParaRPr lang="en-US" sz="2800" dirty="0"/>
          </a:p>
        </p:txBody>
      </p:sp>
      <p:sp>
        <p:nvSpPr>
          <p:cNvPr id="3" name="Text 1"/>
          <p:cNvSpPr txBox="1"/>
          <p:nvPr/>
        </p:nvSpPr>
        <p:spPr>
          <a:xfrm>
            <a:off x="615391" y="941832"/>
            <a:ext cx="10963656" cy="274320"/>
          </a:xfrm>
          <a:prstGeom prst="rect">
            <a:avLst/>
          </a:prstGeom>
          <a:noFill/>
          <a:ln/>
        </p:spPr>
        <p:txBody>
          <a:bodyPr wrap="square" lIns="0" tIns="0" rIns="0" bIns="0" rtlCol="0" anchor="ctr"/>
          <a:lstStyle/>
          <a:p>
            <a:pPr indent="0" marL="0">
              <a:buNone/>
            </a:pPr>
            <a:r>
              <a:rPr lang="en-US" sz="1200" spc="110" kern="0" dirty="0">
                <a:solidFill>
                  <a:srgbClr val="9AA5B1"/>
                </a:solidFill>
                <a:latin typeface="Arial" pitchFamily="34" charset="0"/>
                <a:ea typeface="Arial" pitchFamily="34" charset="-122"/>
                <a:cs typeface="Arial" pitchFamily="34" charset="-120"/>
              </a:rPr>
              <a:t>PLATFORMS</a:t>
            </a:r>
            <a:endParaRPr lang="en-US" sz="1200" dirty="0"/>
          </a:p>
        </p:txBody>
      </p:sp>
      <p:sp>
        <p:nvSpPr>
          <p:cNvPr id="4" name="Shape 2"/>
          <p:cNvSpPr/>
          <p:nvPr/>
        </p:nvSpPr>
        <p:spPr>
          <a:xfrm>
            <a:off x="615391" y="1481328"/>
            <a:ext cx="5349240" cy="2331720"/>
          </a:xfrm>
          <a:prstGeom prst="roundRect">
            <a:avLst>
              <a:gd name="adj" fmla="val 2353"/>
            </a:avLst>
          </a:prstGeom>
          <a:solidFill>
            <a:srgbClr val="EEF4FA"/>
          </a:solidFill>
          <a:ln w="12700">
            <a:solidFill>
              <a:srgbClr val="EEF4FA"/>
            </a:solidFill>
            <a:prstDash val="solid"/>
          </a:ln>
        </p:spPr>
      </p:sp>
      <p:sp>
        <p:nvSpPr>
          <p:cNvPr id="5" name="Text 3"/>
          <p:cNvSpPr txBox="1"/>
          <p:nvPr/>
        </p:nvSpPr>
        <p:spPr>
          <a:xfrm>
            <a:off x="926287" y="1700784"/>
            <a:ext cx="4754880" cy="292608"/>
          </a:xfrm>
          <a:prstGeom prst="rect">
            <a:avLst/>
          </a:prstGeom>
          <a:noFill/>
          <a:ln/>
        </p:spPr>
        <p:txBody>
          <a:bodyPr wrap="square" lIns="0" tIns="0" rIns="0" bIns="0" rtlCol="0" anchor="ctr"/>
          <a:lstStyle/>
          <a:p>
            <a:pPr indent="0" marL="0">
              <a:buNone/>
            </a:pPr>
            <a:r>
              <a:rPr lang="en-US" sz="1600" b="1" dirty="0">
                <a:solidFill>
                  <a:srgbClr val="3172AE"/>
                </a:solidFill>
                <a:latin typeface="Arial" pitchFamily="34" charset="0"/>
                <a:ea typeface="Arial" pitchFamily="34" charset="-122"/>
                <a:cs typeface="Arial" pitchFamily="34" charset="-120"/>
              </a:rPr>
              <a:t>Short read: synchronised chemistry</a:t>
            </a:r>
            <a:endParaRPr lang="en-US" sz="1600" dirty="0"/>
          </a:p>
        </p:txBody>
      </p:sp>
      <p:sp>
        <p:nvSpPr>
          <p:cNvPr id="6" name="Text 4"/>
          <p:cNvSpPr txBox="1"/>
          <p:nvPr/>
        </p:nvSpPr>
        <p:spPr>
          <a:xfrm>
            <a:off x="926287" y="2084832"/>
            <a:ext cx="4754880" cy="685800"/>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Arial" pitchFamily="34" charset="0"/>
                <a:ea typeface="Arial" pitchFamily="34" charset="-122"/>
                <a:cs typeface="Arial" pitchFamily="34" charset="-120"/>
              </a:rPr>
              <a:t>Illumina reads millions of identical copies in a cluster, one base per cycle, all at once. The signal is an average over the cluster, which is why it is clean.</a:t>
            </a:r>
            <a:endParaRPr lang="en-US" sz="1250" dirty="0"/>
          </a:p>
        </p:txBody>
      </p:sp>
      <p:sp>
        <p:nvSpPr>
          <p:cNvPr id="7" name="Text 5"/>
          <p:cNvSpPr txBox="1"/>
          <p:nvPr/>
        </p:nvSpPr>
        <p:spPr>
          <a:xfrm>
            <a:off x="926287" y="2807208"/>
            <a:ext cx="4754880" cy="777240"/>
          </a:xfrm>
          <a:prstGeom prst="rect">
            <a:avLst/>
          </a:prstGeom>
          <a:noFill/>
          <a:ln/>
        </p:spPr>
        <p:txBody>
          <a:bodyPr wrap="square" lIns="0" tIns="0" rIns="0" bIns="0" rtlCol="0" anchor="ctr"/>
          <a:lstStyle/>
          <a:p>
            <a:pPr indent="0" marL="0">
              <a:lnSpc>
                <a:spcPts val="1700"/>
              </a:lnSpc>
              <a:buNone/>
            </a:pPr>
            <a:r>
              <a:rPr lang="en-US" sz="1250" dirty="0">
                <a:solidFill>
                  <a:srgbClr val="6B7280"/>
                </a:solidFill>
                <a:latin typeface="Arial" pitchFamily="34" charset="0"/>
                <a:ea typeface="Arial" pitchFamily="34" charset="-122"/>
                <a:cs typeface="Arial" pitchFamily="34" charset="-120"/>
              </a:rPr>
              <a:t>The cost: molecules drift out of step. A few per cycle fall behind or run ahead, and the error compounds. That is the ceiling on read length — not optics, not cost.</a:t>
            </a:r>
            <a:endParaRPr lang="en-US" sz="1250" dirty="0"/>
          </a:p>
        </p:txBody>
      </p:sp>
      <p:sp>
        <p:nvSpPr>
          <p:cNvPr id="8" name="Shape 6"/>
          <p:cNvSpPr/>
          <p:nvPr/>
        </p:nvSpPr>
        <p:spPr>
          <a:xfrm>
            <a:off x="6227064" y="1481328"/>
            <a:ext cx="5349240" cy="2331720"/>
          </a:xfrm>
          <a:prstGeom prst="roundRect">
            <a:avLst>
              <a:gd name="adj" fmla="val 2353"/>
            </a:avLst>
          </a:prstGeom>
          <a:solidFill>
            <a:srgbClr val="F5F6F0"/>
          </a:solidFill>
          <a:ln w="12700">
            <a:solidFill>
              <a:srgbClr val="F5F6F0"/>
            </a:solidFill>
            <a:prstDash val="solid"/>
          </a:ln>
        </p:spPr>
      </p:sp>
      <p:sp>
        <p:nvSpPr>
          <p:cNvPr id="9" name="Text 7"/>
          <p:cNvSpPr txBox="1"/>
          <p:nvPr/>
        </p:nvSpPr>
        <p:spPr>
          <a:xfrm>
            <a:off x="6537960" y="1700784"/>
            <a:ext cx="4754880" cy="292608"/>
          </a:xfrm>
          <a:prstGeom prst="rect">
            <a:avLst/>
          </a:prstGeom>
          <a:noFill/>
          <a:ln/>
        </p:spPr>
        <p:txBody>
          <a:bodyPr wrap="square" lIns="0" tIns="0" rIns="0" bIns="0" rtlCol="0" anchor="ctr"/>
          <a:lstStyle/>
          <a:p>
            <a:pPr indent="0" marL="0">
              <a:buNone/>
            </a:pPr>
            <a:r>
              <a:rPr lang="en-US" sz="1600" b="1" dirty="0">
                <a:solidFill>
                  <a:srgbClr val="205081"/>
                </a:solidFill>
                <a:latin typeface="Arial" pitchFamily="34" charset="0"/>
                <a:ea typeface="Arial" pitchFamily="34" charset="-122"/>
                <a:cs typeface="Arial" pitchFamily="34" charset="-120"/>
              </a:rPr>
              <a:t>Long read: one molecule at a time</a:t>
            </a:r>
            <a:endParaRPr lang="en-US" sz="1600" dirty="0"/>
          </a:p>
        </p:txBody>
      </p:sp>
      <p:sp>
        <p:nvSpPr>
          <p:cNvPr id="10" name="Text 8"/>
          <p:cNvSpPr txBox="1"/>
          <p:nvPr/>
        </p:nvSpPr>
        <p:spPr>
          <a:xfrm>
            <a:off x="6537960" y="2084832"/>
            <a:ext cx="4754880" cy="685800"/>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Arial" pitchFamily="34" charset="0"/>
                <a:ea typeface="Arial" pitchFamily="34" charset="-122"/>
                <a:cs typeface="Arial" pitchFamily="34" charset="-120"/>
              </a:rPr>
              <a:t>PacBio and Oxford Nanopore watch a single molecule. Nothing has to stay in step, so length is limited by your DNA extraction, not by the chemistry.</a:t>
            </a:r>
            <a:endParaRPr lang="en-US" sz="1250" dirty="0"/>
          </a:p>
        </p:txBody>
      </p:sp>
      <p:sp>
        <p:nvSpPr>
          <p:cNvPr id="11" name="Text 9"/>
          <p:cNvSpPr txBox="1"/>
          <p:nvPr/>
        </p:nvSpPr>
        <p:spPr>
          <a:xfrm>
            <a:off x="6537960" y="2807208"/>
            <a:ext cx="4754880" cy="777240"/>
          </a:xfrm>
          <a:prstGeom prst="rect">
            <a:avLst/>
          </a:prstGeom>
          <a:noFill/>
          <a:ln/>
        </p:spPr>
        <p:txBody>
          <a:bodyPr wrap="square" lIns="0" tIns="0" rIns="0" bIns="0" rtlCol="0" anchor="ctr"/>
          <a:lstStyle/>
          <a:p>
            <a:pPr indent="0" marL="0">
              <a:lnSpc>
                <a:spcPts val="1700"/>
              </a:lnSpc>
              <a:buNone/>
            </a:pPr>
            <a:r>
              <a:rPr lang="en-US" sz="1250" dirty="0">
                <a:solidFill>
                  <a:srgbClr val="6B7280"/>
                </a:solidFill>
                <a:latin typeface="Arial" pitchFamily="34" charset="0"/>
                <a:ea typeface="Arial" pitchFamily="34" charset="-122"/>
                <a:cs typeface="Arial" pitchFamily="34" charset="-120"/>
              </a:rPr>
              <a:t>The cost: there is no cluster to average over. A single molecule gives a noisy signal, so accuracy has to be recovered — by repeated passes, or by a better basecaller.</a:t>
            </a:r>
            <a:endParaRPr lang="en-US" sz="1250" dirty="0"/>
          </a:p>
        </p:txBody>
      </p:sp>
      <p:sp>
        <p:nvSpPr>
          <p:cNvPr id="12" name="Shape 10"/>
          <p:cNvSpPr/>
          <p:nvPr/>
        </p:nvSpPr>
        <p:spPr>
          <a:xfrm>
            <a:off x="615391" y="4133088"/>
            <a:ext cx="10963656" cy="0"/>
          </a:xfrm>
          <a:prstGeom prst="line">
            <a:avLst/>
          </a:prstGeom>
          <a:noFill/>
          <a:ln w="12700">
            <a:solidFill>
              <a:srgbClr val="D6DEE7"/>
            </a:solidFill>
            <a:prstDash val="solid"/>
          </a:ln>
        </p:spPr>
      </p:sp>
      <p:sp>
        <p:nvSpPr>
          <p:cNvPr id="13" name="Text 11"/>
          <p:cNvSpPr txBox="1"/>
          <p:nvPr/>
        </p:nvSpPr>
        <p:spPr>
          <a:xfrm>
            <a:off x="615391" y="4297680"/>
            <a:ext cx="10963656" cy="365760"/>
          </a:xfrm>
          <a:prstGeom prst="rect">
            <a:avLst/>
          </a:prstGeom>
          <a:noFill/>
          <a:ln/>
        </p:spPr>
        <p:txBody>
          <a:bodyPr wrap="square" lIns="0" tIns="0" rIns="0" bIns="0" rtlCol="0" anchor="ctr"/>
          <a:lstStyle/>
          <a:p>
            <a:pPr indent="0" marL="0">
              <a:buNone/>
            </a:pPr>
            <a:r>
              <a:rPr lang="en-US" sz="1500" b="1" dirty="0">
                <a:solidFill>
                  <a:srgbClr val="1F2933"/>
                </a:solidFill>
                <a:latin typeface="Arial" pitchFamily="34" charset="0"/>
                <a:ea typeface="Arial" pitchFamily="34" charset="-122"/>
                <a:cs typeface="Arial" pitchFamily="34" charset="-120"/>
              </a:rPr>
              <a:t>Read length is not a marketing number. It follows directly from whether your chemistry has to keep millions of molecules in lockstep.</a:t>
            </a:r>
            <a:endParaRPr lang="en-US" sz="1500" dirty="0"/>
          </a:p>
        </p:txBody>
      </p:sp>
      <p:sp>
        <p:nvSpPr>
          <p:cNvPr id="14" name="Text 12"/>
          <p:cNvSpPr txBox="1"/>
          <p:nvPr/>
        </p:nvSpPr>
        <p:spPr>
          <a:xfrm>
            <a:off x="615391" y="4700016"/>
            <a:ext cx="10963656" cy="365760"/>
          </a:xfrm>
          <a:prstGeom prst="rect">
            <a:avLst/>
          </a:prstGeom>
          <a:noFill/>
          <a:ln/>
        </p:spPr>
        <p:txBody>
          <a:bodyPr wrap="square" lIns="0" tIns="0" rIns="0" bIns="0" rtlCol="0" anchor="ctr"/>
          <a:lstStyle/>
          <a:p>
            <a:pPr indent="0" marL="0">
              <a:buNone/>
            </a:pPr>
            <a:r>
              <a:rPr lang="en-US" sz="1250" dirty="0">
                <a:solidFill>
                  <a:srgbClr val="6B7280"/>
                </a:solidFill>
                <a:latin typeface="Arial" pitchFamily="34" charset="0"/>
                <a:ea typeface="Arial" pitchFamily="34" charset="-122"/>
                <a:cs typeface="Arial" pitchFamily="34" charset="-120"/>
              </a:rPr>
              <a:t>Everything else on the next four slides — accuracy, cost, error mode, what each platform is good for — comes out of this one difference.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15391" y="329184"/>
            <a:ext cx="10963656" cy="603504"/>
          </a:xfrm>
          <a:prstGeom prst="rect">
            <a:avLst/>
          </a:prstGeom>
          <a:noFill/>
          <a:ln/>
        </p:spPr>
        <p:txBody>
          <a:bodyPr wrap="square" lIns="0" tIns="0" rIns="0" bIns="0" rtlCol="0" anchor="ctr"/>
          <a:lstStyle/>
          <a:p>
            <a:pPr indent="0" marL="0">
              <a:buNone/>
            </a:pPr>
            <a:r>
              <a:rPr lang="en-US" sz="2800" b="1" dirty="0">
                <a:solidFill>
                  <a:srgbClr val="3172AE"/>
                </a:solidFill>
                <a:latin typeface="Arial" pitchFamily="34" charset="0"/>
                <a:ea typeface="Arial" pitchFamily="34" charset="-122"/>
                <a:cs typeface="Arial" pitchFamily="34" charset="-120"/>
              </a:rPr>
              <a:t>Illumina: cheap depth, capped length</a:t>
            </a:r>
            <a:endParaRPr lang="en-US" sz="2800" dirty="0"/>
          </a:p>
        </p:txBody>
      </p:sp>
      <p:sp>
        <p:nvSpPr>
          <p:cNvPr id="3" name="Text 1"/>
          <p:cNvSpPr txBox="1"/>
          <p:nvPr/>
        </p:nvSpPr>
        <p:spPr>
          <a:xfrm>
            <a:off x="615391" y="941832"/>
            <a:ext cx="10963656" cy="274320"/>
          </a:xfrm>
          <a:prstGeom prst="rect">
            <a:avLst/>
          </a:prstGeom>
          <a:noFill/>
          <a:ln/>
        </p:spPr>
        <p:txBody>
          <a:bodyPr wrap="square" lIns="0" tIns="0" rIns="0" bIns="0" rtlCol="0" anchor="ctr"/>
          <a:lstStyle/>
          <a:p>
            <a:pPr indent="0" marL="0">
              <a:buNone/>
            </a:pPr>
            <a:r>
              <a:rPr lang="en-US" sz="1200" spc="110" kern="0" dirty="0">
                <a:solidFill>
                  <a:srgbClr val="9AA5B1"/>
                </a:solidFill>
                <a:latin typeface="Arial" pitchFamily="34" charset="0"/>
                <a:ea typeface="Arial" pitchFamily="34" charset="-122"/>
                <a:cs typeface="Arial" pitchFamily="34" charset="-120"/>
              </a:rPr>
              <a:t>PLATFORMS</a:t>
            </a:r>
            <a:endParaRPr lang="en-US" sz="1200" dirty="0"/>
          </a:p>
        </p:txBody>
      </p:sp>
      <p:sp>
        <p:nvSpPr>
          <p:cNvPr id="4" name="Text 2"/>
          <p:cNvSpPr txBox="1"/>
          <p:nvPr/>
        </p:nvSpPr>
        <p:spPr>
          <a:xfrm>
            <a:off x="615391" y="1536192"/>
            <a:ext cx="5486400" cy="2377440"/>
          </a:xfrm>
          <a:prstGeom prst="rect">
            <a:avLst/>
          </a:prstGeom>
          <a:noFill/>
          <a:ln/>
        </p:spPr>
        <p:txBody>
          <a:bodyPr wrap="square" lIns="0" tIns="0" rIns="0" bIns="0" rtlCol="0" anchor="t"/>
          <a:lstStyle/>
          <a:p>
            <a:pPr marL="177800" indent="-177800">
              <a:spcAft>
                <a:spcPts val="1300"/>
              </a:spcAft>
              <a:buSzPct val="100000"/>
              <a:buChar char="●"/>
            </a:pPr>
            <a:r>
              <a:rPr lang="en-US" sz="1350" dirty="0">
                <a:solidFill>
                  <a:srgbClr val="1F2933"/>
                </a:solidFill>
                <a:latin typeface="Arial" pitchFamily="34" charset="0"/>
                <a:ea typeface="Arial" pitchFamily="34" charset="-122"/>
                <a:cs typeface="Arial" pitchFamily="34" charset="-120"/>
              </a:rPr>
              <a:t>Paired-end, 2 × 50 to 2 × 150 bp. Longer kits exist; almost nobody uses them for genomics.</a:t>
            </a:r>
            <a:endParaRPr lang="en-US" sz="1350" dirty="0"/>
          </a:p>
          <a:p>
            <a:pPr marL="177800" indent="-177800">
              <a:spcAft>
                <a:spcPts val="1300"/>
              </a:spcAft>
              <a:buSzPct val="100000"/>
              <a:buChar char="●"/>
            </a:pPr>
            <a:r>
              <a:rPr lang="en-US" sz="1350" dirty="0">
                <a:solidFill>
                  <a:srgbClr val="1F2933"/>
                </a:solidFill>
                <a:latin typeface="Arial" pitchFamily="34" charset="0"/>
                <a:ea typeface="Arial" pitchFamily="34" charset="-122"/>
                <a:cs typeface="Arial" pitchFamily="34" charset="-120"/>
              </a:rPr>
              <a:t>NovaSeq X Plus: up to ~16 Tb and tens of billions of reads per dual flow-cell run.</a:t>
            </a:r>
            <a:endParaRPr lang="en-US" sz="1350" dirty="0"/>
          </a:p>
          <a:p>
            <a:pPr marL="177800" indent="-177800">
              <a:spcAft>
                <a:spcPts val="1300"/>
              </a:spcAft>
              <a:buSzPct val="100000"/>
              <a:buChar char="●"/>
            </a:pPr>
            <a:r>
              <a:rPr lang="en-US" sz="1350" dirty="0">
                <a:solidFill>
                  <a:srgbClr val="1F2933"/>
                </a:solidFill>
                <a:latin typeface="Arial" pitchFamily="34" charset="0"/>
                <a:ea typeface="Arial" pitchFamily="34" charset="-122"/>
                <a:cs typeface="Arial" pitchFamily="34" charset="-120"/>
              </a:rPr>
              <a:t>Specification is ≥85% of bases above Q30; well-behaved runs report well above that.</a:t>
            </a:r>
            <a:endParaRPr lang="en-US" sz="1350" dirty="0"/>
          </a:p>
          <a:p>
            <a:pPr marL="177800" indent="-177800">
              <a:spcAft>
                <a:spcPts val="1300"/>
              </a:spcAft>
              <a:buSzPct val="100000"/>
              <a:buChar char="●"/>
            </a:pPr>
            <a:r>
              <a:rPr lang="en-US" sz="1350" dirty="0">
                <a:solidFill>
                  <a:srgbClr val="1F2933"/>
                </a:solidFill>
                <a:latin typeface="Arial" pitchFamily="34" charset="0"/>
                <a:ea typeface="Arial" pitchFamily="34" charset="-122"/>
                <a:cs typeface="Arial" pitchFamily="34" charset="-120"/>
              </a:rPr>
              <a:t>Dominant error is substitution — one base called as another.</a:t>
            </a:r>
            <a:endParaRPr lang="en-US" sz="1350" dirty="0"/>
          </a:p>
          <a:p>
            <a:pPr marL="177800" indent="-177800">
              <a:spcAft>
                <a:spcPts val="1300"/>
              </a:spcAft>
              <a:buSzPct val="100000"/>
              <a:buChar char="●"/>
            </a:pPr>
            <a:r>
              <a:rPr lang="en-US" sz="1350" dirty="0">
                <a:solidFill>
                  <a:srgbClr val="1F2933"/>
                </a:solidFill>
                <a:latin typeface="Arial" pitchFamily="34" charset="0"/>
                <a:ea typeface="Arial" pitchFamily="34" charset="-122"/>
                <a:cs typeface="Arial" pitchFamily="34" charset="-120"/>
              </a:rPr>
              <a:t>Quality declines along the read. That decline is dephasing, not bad DNA.</a:t>
            </a:r>
            <a:endParaRPr lang="en-US" sz="1350" dirty="0"/>
          </a:p>
        </p:txBody>
      </p:sp>
      <p:graphicFrame>
        <p:nvGraphicFramePr>
          <p:cNvPr id="5" name="Chart 0" descr=""/>
          <p:cNvGraphicFramePr/>
          <p:nvPr/>
        </p:nvGraphicFramePr>
        <p:xfrm>
          <a:off x="6355080" y="1435608"/>
          <a:ext cx="5212080" cy="26060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15391" y="4160520"/>
            <a:ext cx="10963656" cy="1078992"/>
          </a:xfrm>
          <a:prstGeom prst="roundRect">
            <a:avLst>
              <a:gd name="adj" fmla="val 5085"/>
            </a:avLst>
          </a:prstGeom>
          <a:solidFill>
            <a:srgbClr val="EEF4FA"/>
          </a:solidFill>
          <a:ln w="12700">
            <a:solidFill>
              <a:srgbClr val="EEF4FA"/>
            </a:solidFill>
            <a:prstDash val="solid"/>
          </a:ln>
        </p:spPr>
      </p:sp>
      <p:sp>
        <p:nvSpPr>
          <p:cNvPr id="7" name="Text 4"/>
          <p:cNvSpPr txBox="1"/>
          <p:nvPr/>
        </p:nvSpPr>
        <p:spPr>
          <a:xfrm>
            <a:off x="926287" y="4315968"/>
            <a:ext cx="4572000" cy="274320"/>
          </a:xfrm>
          <a:prstGeom prst="rect">
            <a:avLst/>
          </a:prstGeom>
          <a:noFill/>
          <a:ln/>
        </p:spPr>
        <p:txBody>
          <a:bodyPr wrap="square" lIns="0" tIns="0" rIns="0" bIns="0" rtlCol="0" anchor="ctr"/>
          <a:lstStyle/>
          <a:p>
            <a:pPr indent="0" marL="0">
              <a:buNone/>
            </a:pPr>
            <a:r>
              <a:rPr lang="en-US" sz="1300" b="1" dirty="0">
                <a:solidFill>
                  <a:srgbClr val="3172AE"/>
                </a:solidFill>
                <a:latin typeface="Arial" pitchFamily="34" charset="0"/>
                <a:ea typeface="Arial" pitchFamily="34" charset="-122"/>
                <a:cs typeface="Arial" pitchFamily="34" charset="-120"/>
              </a:rPr>
              <a:t>What this means at the bench</a:t>
            </a:r>
            <a:endParaRPr lang="en-US" sz="1300" dirty="0"/>
          </a:p>
        </p:txBody>
      </p:sp>
      <p:sp>
        <p:nvSpPr>
          <p:cNvPr id="8" name="Text 5"/>
          <p:cNvSpPr txBox="1"/>
          <p:nvPr/>
        </p:nvSpPr>
        <p:spPr>
          <a:xfrm>
            <a:off x="926287" y="4608576"/>
            <a:ext cx="10341864" cy="530352"/>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Arial" pitchFamily="34" charset="0"/>
                <a:ea typeface="Arial" pitchFamily="34" charset="-122"/>
                <a:cs typeface="Arial" pitchFamily="34" charset="-120"/>
              </a:rPr>
              <a:t>If you need 30× coverage of a human genome, or 30 million reads across 24 RNA-seq samples, this is the cheapest way to get it by a wide margin. If you need to span a 5 kb repeat, no amount of depth will help you.</a:t>
            </a:r>
            <a:endParaRPr lang="en-US" sz="1250" dirty="0"/>
          </a:p>
        </p:txBody>
      </p:sp>
      <p:sp>
        <p:nvSpPr>
          <p:cNvPr id="9" name="Text 6"/>
          <p:cNvSpPr txBox="1"/>
          <p:nvPr/>
        </p:nvSpPr>
        <p:spPr>
          <a:xfrm>
            <a:off x="615391" y="5358384"/>
            <a:ext cx="10963656" cy="237744"/>
          </a:xfrm>
          <a:prstGeom prst="rect">
            <a:avLst/>
          </a:prstGeom>
          <a:noFill/>
          <a:ln/>
        </p:spPr>
        <p:txBody>
          <a:bodyPr wrap="square" lIns="0" tIns="0" rIns="0" bIns="0" rtlCol="0" anchor="ctr"/>
          <a:lstStyle/>
          <a:p>
            <a:pPr indent="0" marL="0">
              <a:buNone/>
            </a:pPr>
            <a:r>
              <a:rPr lang="en-US" sz="950" i="1" dirty="0">
                <a:solidFill>
                  <a:srgbClr val="9AA5B1"/>
                </a:solidFill>
                <a:latin typeface="Arial" pitchFamily="34" charset="0"/>
                <a:ea typeface="Arial" pitchFamily="34" charset="-122"/>
                <a:cs typeface="Arial" pitchFamily="34" charset="-120"/>
              </a:rPr>
              <a:t>Illustrative curve showing the expected shape; your own run's numbers come from FastQC in Session 2. Instrument figures: Illumina NovaSeq X specifications, 2026.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15391" y="329184"/>
            <a:ext cx="10963656" cy="603504"/>
          </a:xfrm>
          <a:prstGeom prst="rect">
            <a:avLst/>
          </a:prstGeom>
          <a:noFill/>
          <a:ln/>
        </p:spPr>
        <p:txBody>
          <a:bodyPr wrap="square" lIns="0" tIns="0" rIns="0" bIns="0" rtlCol="0" anchor="ctr"/>
          <a:lstStyle/>
          <a:p>
            <a:pPr indent="0" marL="0">
              <a:buNone/>
            </a:pPr>
            <a:r>
              <a:rPr lang="en-US" sz="2800" b="1" dirty="0">
                <a:solidFill>
                  <a:srgbClr val="3172AE"/>
                </a:solidFill>
                <a:latin typeface="Arial" pitchFamily="34" charset="0"/>
                <a:ea typeface="Arial" pitchFamily="34" charset="-122"/>
                <a:cs typeface="Arial" pitchFamily="34" charset="-120"/>
              </a:rPr>
              <a:t>PacBio HiFi: accuracy earned by repetition</a:t>
            </a:r>
            <a:endParaRPr lang="en-US" sz="2800" dirty="0"/>
          </a:p>
        </p:txBody>
      </p:sp>
      <p:sp>
        <p:nvSpPr>
          <p:cNvPr id="3" name="Text 1"/>
          <p:cNvSpPr txBox="1"/>
          <p:nvPr/>
        </p:nvSpPr>
        <p:spPr>
          <a:xfrm>
            <a:off x="615391" y="941832"/>
            <a:ext cx="10963656" cy="274320"/>
          </a:xfrm>
          <a:prstGeom prst="rect">
            <a:avLst/>
          </a:prstGeom>
          <a:noFill/>
          <a:ln/>
        </p:spPr>
        <p:txBody>
          <a:bodyPr wrap="square" lIns="0" tIns="0" rIns="0" bIns="0" rtlCol="0" anchor="ctr"/>
          <a:lstStyle/>
          <a:p>
            <a:pPr indent="0" marL="0">
              <a:buNone/>
            </a:pPr>
            <a:r>
              <a:rPr lang="en-US" sz="1200" spc="110" kern="0" dirty="0">
                <a:solidFill>
                  <a:srgbClr val="9AA5B1"/>
                </a:solidFill>
                <a:latin typeface="Arial" pitchFamily="34" charset="0"/>
                <a:ea typeface="Arial" pitchFamily="34" charset="-122"/>
                <a:cs typeface="Arial" pitchFamily="34" charset="-120"/>
              </a:rPr>
              <a:t>PLATFORMS</a:t>
            </a:r>
            <a:endParaRPr lang="en-US" sz="1200" dirty="0"/>
          </a:p>
        </p:txBody>
      </p:sp>
      <p:sp>
        <p:nvSpPr>
          <p:cNvPr id="4" name="Shape 2"/>
          <p:cNvSpPr/>
          <p:nvPr/>
        </p:nvSpPr>
        <p:spPr>
          <a:xfrm>
            <a:off x="615391" y="1481328"/>
            <a:ext cx="5669280" cy="2286000"/>
          </a:xfrm>
          <a:prstGeom prst="roundRect">
            <a:avLst>
              <a:gd name="adj" fmla="val 2400"/>
            </a:avLst>
          </a:prstGeom>
          <a:solidFill>
            <a:srgbClr val="F5F6F0"/>
          </a:solidFill>
          <a:ln w="12700">
            <a:solidFill>
              <a:srgbClr val="F5F6F0"/>
            </a:solidFill>
            <a:prstDash val="solid"/>
          </a:ln>
        </p:spPr>
      </p:sp>
      <p:sp>
        <p:nvSpPr>
          <p:cNvPr id="5" name="Text 3"/>
          <p:cNvSpPr txBox="1"/>
          <p:nvPr/>
        </p:nvSpPr>
        <p:spPr>
          <a:xfrm>
            <a:off x="926287" y="1682496"/>
            <a:ext cx="5029200" cy="274320"/>
          </a:xfrm>
          <a:prstGeom prst="rect">
            <a:avLst/>
          </a:prstGeom>
          <a:noFill/>
          <a:ln/>
        </p:spPr>
        <p:txBody>
          <a:bodyPr wrap="square" lIns="0" tIns="0" rIns="0" bIns="0" rtlCol="0" anchor="ctr"/>
          <a:lstStyle/>
          <a:p>
            <a:pPr indent="0" marL="0">
              <a:buNone/>
            </a:pPr>
            <a:r>
              <a:rPr lang="en-US" sz="1500" b="1" dirty="0">
                <a:solidFill>
                  <a:srgbClr val="205081"/>
                </a:solidFill>
                <a:latin typeface="Arial" pitchFamily="34" charset="0"/>
                <a:ea typeface="Arial" pitchFamily="34" charset="-122"/>
                <a:cs typeface="Arial" pitchFamily="34" charset="-120"/>
              </a:rPr>
              <a:t>Circular consensus sequencing</a:t>
            </a:r>
            <a:endParaRPr lang="en-US" sz="1500" dirty="0"/>
          </a:p>
        </p:txBody>
      </p:sp>
      <p:sp>
        <p:nvSpPr>
          <p:cNvPr id="6" name="Text 4"/>
          <p:cNvSpPr txBox="1"/>
          <p:nvPr/>
        </p:nvSpPr>
        <p:spPr>
          <a:xfrm>
            <a:off x="926287" y="2029968"/>
            <a:ext cx="5029200" cy="731520"/>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Arial" pitchFamily="34" charset="0"/>
                <a:ea typeface="Arial" pitchFamily="34" charset="-122"/>
                <a:cs typeface="Arial" pitchFamily="34" charset="-120"/>
              </a:rPr>
              <a:t>The library molecule is circularised. One polymerase reads around it again and again. Each individual pass is mediocre; the consensus across passes is excellent.</a:t>
            </a:r>
            <a:endParaRPr lang="en-US" sz="1250" dirty="0"/>
          </a:p>
        </p:txBody>
      </p:sp>
      <p:sp>
        <p:nvSpPr>
          <p:cNvPr id="7" name="Text 5"/>
          <p:cNvSpPr txBox="1"/>
          <p:nvPr/>
        </p:nvSpPr>
        <p:spPr>
          <a:xfrm>
            <a:off x="926287" y="2816352"/>
            <a:ext cx="5029200" cy="685800"/>
          </a:xfrm>
          <a:prstGeom prst="rect">
            <a:avLst/>
          </a:prstGeom>
          <a:noFill/>
          <a:ln/>
        </p:spPr>
        <p:txBody>
          <a:bodyPr wrap="square" lIns="0" tIns="0" rIns="0" bIns="0" rtlCol="0" anchor="ctr"/>
          <a:lstStyle/>
          <a:p>
            <a:pPr indent="0" marL="0">
              <a:lnSpc>
                <a:spcPts val="1700"/>
              </a:lnSpc>
              <a:buNone/>
            </a:pPr>
            <a:r>
              <a:rPr lang="en-US" sz="1250" dirty="0">
                <a:solidFill>
                  <a:srgbClr val="6B7280"/>
                </a:solidFill>
                <a:latin typeface="Arial" pitchFamily="34" charset="0"/>
                <a:ea typeface="Arial" pitchFamily="34" charset="-122"/>
                <a:cs typeface="Arial" pitchFamily="34" charset="-120"/>
              </a:rPr>
              <a:t>A HiFi read is therefore not a raw observation — it is already a consensus, computed on the instrument before you ever see it.</a:t>
            </a:r>
            <a:endParaRPr lang="en-US" sz="1250" dirty="0"/>
          </a:p>
        </p:txBody>
      </p:sp>
      <p:sp>
        <p:nvSpPr>
          <p:cNvPr id="8" name="Shape 6"/>
          <p:cNvSpPr/>
          <p:nvPr/>
        </p:nvSpPr>
        <p:spPr>
          <a:xfrm>
            <a:off x="6537960" y="1481328"/>
            <a:ext cx="2377440" cy="1042416"/>
          </a:xfrm>
          <a:prstGeom prst="roundRect">
            <a:avLst>
              <a:gd name="adj" fmla="val 5263"/>
            </a:avLst>
          </a:prstGeom>
          <a:solidFill>
            <a:srgbClr val="EEF4FA"/>
          </a:solidFill>
          <a:ln w="12700">
            <a:solidFill>
              <a:srgbClr val="EEF4FA"/>
            </a:solidFill>
            <a:prstDash val="solid"/>
          </a:ln>
        </p:spPr>
      </p:sp>
      <p:sp>
        <p:nvSpPr>
          <p:cNvPr id="9" name="Text 7"/>
          <p:cNvSpPr txBox="1"/>
          <p:nvPr/>
        </p:nvSpPr>
        <p:spPr>
          <a:xfrm>
            <a:off x="6739128" y="1636776"/>
            <a:ext cx="2011680" cy="420624"/>
          </a:xfrm>
          <a:prstGeom prst="rect">
            <a:avLst/>
          </a:prstGeom>
          <a:noFill/>
          <a:ln/>
        </p:spPr>
        <p:txBody>
          <a:bodyPr wrap="square" lIns="0" tIns="0" rIns="0" bIns="0" rtlCol="0" anchor="ctr"/>
          <a:lstStyle/>
          <a:p>
            <a:pPr indent="0" marL="0">
              <a:buNone/>
            </a:pPr>
            <a:r>
              <a:rPr lang="en-US" sz="2400" b="1" dirty="0">
                <a:solidFill>
                  <a:srgbClr val="3172AE"/>
                </a:solidFill>
                <a:latin typeface="Arial" pitchFamily="34" charset="0"/>
                <a:ea typeface="Arial" pitchFamily="34" charset="-122"/>
                <a:cs typeface="Arial" pitchFamily="34" charset="-120"/>
              </a:rPr>
              <a:t>15–25 kb</a:t>
            </a:r>
            <a:endParaRPr lang="en-US" sz="2400" dirty="0"/>
          </a:p>
        </p:txBody>
      </p:sp>
      <p:sp>
        <p:nvSpPr>
          <p:cNvPr id="10" name="Text 8"/>
          <p:cNvSpPr txBox="1"/>
          <p:nvPr/>
        </p:nvSpPr>
        <p:spPr>
          <a:xfrm>
            <a:off x="6739128" y="2103120"/>
            <a:ext cx="2011680" cy="365760"/>
          </a:xfrm>
          <a:prstGeom prst="rect">
            <a:avLst/>
          </a:prstGeom>
          <a:noFill/>
          <a:ln/>
        </p:spPr>
        <p:txBody>
          <a:bodyPr wrap="square" lIns="0" tIns="0" rIns="0" bIns="0" rtlCol="0" anchor="ctr"/>
          <a:lstStyle/>
          <a:p>
            <a:pPr indent="0" marL="0">
              <a:lnSpc>
                <a:spcPts val="1400"/>
              </a:lnSpc>
              <a:buNone/>
            </a:pPr>
            <a:r>
              <a:rPr lang="en-US" sz="1050" dirty="0">
                <a:solidFill>
                  <a:srgbClr val="6B7280"/>
                </a:solidFill>
                <a:latin typeface="Arial" pitchFamily="34" charset="0"/>
                <a:ea typeface="Arial" pitchFamily="34" charset="-122"/>
                <a:cs typeface="Arial" pitchFamily="34" charset="-120"/>
              </a:rPr>
              <a:t>typical HiFi read length</a:t>
            </a:r>
            <a:endParaRPr lang="en-US" sz="1050" dirty="0"/>
          </a:p>
        </p:txBody>
      </p:sp>
      <p:sp>
        <p:nvSpPr>
          <p:cNvPr id="11" name="Shape 9"/>
          <p:cNvSpPr/>
          <p:nvPr/>
        </p:nvSpPr>
        <p:spPr>
          <a:xfrm>
            <a:off x="9144000" y="1481328"/>
            <a:ext cx="2377440" cy="1042416"/>
          </a:xfrm>
          <a:prstGeom prst="roundRect">
            <a:avLst>
              <a:gd name="adj" fmla="val 5263"/>
            </a:avLst>
          </a:prstGeom>
          <a:solidFill>
            <a:srgbClr val="EEF4FA"/>
          </a:solidFill>
          <a:ln w="12700">
            <a:solidFill>
              <a:srgbClr val="EEF4FA"/>
            </a:solidFill>
            <a:prstDash val="solid"/>
          </a:ln>
        </p:spPr>
      </p:sp>
      <p:sp>
        <p:nvSpPr>
          <p:cNvPr id="12" name="Text 10"/>
          <p:cNvSpPr txBox="1"/>
          <p:nvPr/>
        </p:nvSpPr>
        <p:spPr>
          <a:xfrm>
            <a:off x="9345168" y="1636776"/>
            <a:ext cx="2011680" cy="420624"/>
          </a:xfrm>
          <a:prstGeom prst="rect">
            <a:avLst/>
          </a:prstGeom>
          <a:noFill/>
          <a:ln/>
        </p:spPr>
        <p:txBody>
          <a:bodyPr wrap="square" lIns="0" tIns="0" rIns="0" bIns="0" rtlCol="0" anchor="ctr"/>
          <a:lstStyle/>
          <a:p>
            <a:pPr indent="0" marL="0">
              <a:buNone/>
            </a:pPr>
            <a:r>
              <a:rPr lang="en-US" sz="2400" b="1" dirty="0">
                <a:solidFill>
                  <a:srgbClr val="3172AE"/>
                </a:solidFill>
                <a:latin typeface="Arial" pitchFamily="34" charset="0"/>
                <a:ea typeface="Arial" pitchFamily="34" charset="-122"/>
                <a:cs typeface="Arial" pitchFamily="34" charset="-120"/>
              </a:rPr>
              <a:t>Q30+</a:t>
            </a:r>
            <a:endParaRPr lang="en-US" sz="2400" dirty="0"/>
          </a:p>
        </p:txBody>
      </p:sp>
      <p:sp>
        <p:nvSpPr>
          <p:cNvPr id="13" name="Text 11"/>
          <p:cNvSpPr txBox="1"/>
          <p:nvPr/>
        </p:nvSpPr>
        <p:spPr>
          <a:xfrm>
            <a:off x="9345168" y="2103120"/>
            <a:ext cx="2011680" cy="365760"/>
          </a:xfrm>
          <a:prstGeom prst="rect">
            <a:avLst/>
          </a:prstGeom>
          <a:noFill/>
          <a:ln/>
        </p:spPr>
        <p:txBody>
          <a:bodyPr wrap="square" lIns="0" tIns="0" rIns="0" bIns="0" rtlCol="0" anchor="ctr"/>
          <a:lstStyle/>
          <a:p>
            <a:pPr indent="0" marL="0">
              <a:lnSpc>
                <a:spcPts val="1400"/>
              </a:lnSpc>
              <a:buNone/>
            </a:pPr>
            <a:r>
              <a:rPr lang="en-US" sz="1050" dirty="0">
                <a:solidFill>
                  <a:srgbClr val="6B7280"/>
                </a:solidFill>
                <a:latin typeface="Arial" pitchFamily="34" charset="0"/>
                <a:ea typeface="Arial" pitchFamily="34" charset="-122"/>
                <a:cs typeface="Arial" pitchFamily="34" charset="-120"/>
              </a:rPr>
              <a:t>99.9% or better per read</a:t>
            </a:r>
            <a:endParaRPr lang="en-US" sz="1050" dirty="0"/>
          </a:p>
        </p:txBody>
      </p:sp>
      <p:sp>
        <p:nvSpPr>
          <p:cNvPr id="14" name="Shape 12"/>
          <p:cNvSpPr/>
          <p:nvPr/>
        </p:nvSpPr>
        <p:spPr>
          <a:xfrm>
            <a:off x="6537960" y="2688336"/>
            <a:ext cx="2377440" cy="1042416"/>
          </a:xfrm>
          <a:prstGeom prst="roundRect">
            <a:avLst>
              <a:gd name="adj" fmla="val 5263"/>
            </a:avLst>
          </a:prstGeom>
          <a:solidFill>
            <a:srgbClr val="EEF4FA"/>
          </a:solidFill>
          <a:ln w="12700">
            <a:solidFill>
              <a:srgbClr val="EEF4FA"/>
            </a:solidFill>
            <a:prstDash val="solid"/>
          </a:ln>
        </p:spPr>
      </p:sp>
      <p:sp>
        <p:nvSpPr>
          <p:cNvPr id="15" name="Text 13"/>
          <p:cNvSpPr txBox="1"/>
          <p:nvPr/>
        </p:nvSpPr>
        <p:spPr>
          <a:xfrm>
            <a:off x="6739128" y="2843784"/>
            <a:ext cx="2011680" cy="420624"/>
          </a:xfrm>
          <a:prstGeom prst="rect">
            <a:avLst/>
          </a:prstGeom>
          <a:noFill/>
          <a:ln/>
        </p:spPr>
        <p:txBody>
          <a:bodyPr wrap="square" lIns="0" tIns="0" rIns="0" bIns="0" rtlCol="0" anchor="ctr"/>
          <a:lstStyle/>
          <a:p>
            <a:pPr indent="0" marL="0">
              <a:buNone/>
            </a:pPr>
            <a:r>
              <a:rPr lang="en-US" sz="2400" b="1" dirty="0">
                <a:solidFill>
                  <a:srgbClr val="3172AE"/>
                </a:solidFill>
                <a:latin typeface="Arial" pitchFamily="34" charset="0"/>
                <a:ea typeface="Arial" pitchFamily="34" charset="-122"/>
                <a:cs typeface="Arial" pitchFamily="34" charset="-120"/>
              </a:rPr>
              <a:t>60–120 Gb</a:t>
            </a:r>
            <a:endParaRPr lang="en-US" sz="2400" dirty="0"/>
          </a:p>
        </p:txBody>
      </p:sp>
      <p:sp>
        <p:nvSpPr>
          <p:cNvPr id="16" name="Text 14"/>
          <p:cNvSpPr txBox="1"/>
          <p:nvPr/>
        </p:nvSpPr>
        <p:spPr>
          <a:xfrm>
            <a:off x="6739128" y="3310128"/>
            <a:ext cx="2011680" cy="365760"/>
          </a:xfrm>
          <a:prstGeom prst="rect">
            <a:avLst/>
          </a:prstGeom>
          <a:noFill/>
          <a:ln/>
        </p:spPr>
        <p:txBody>
          <a:bodyPr wrap="square" lIns="0" tIns="0" rIns="0" bIns="0" rtlCol="0" anchor="ctr"/>
          <a:lstStyle/>
          <a:p>
            <a:pPr indent="0" marL="0">
              <a:lnSpc>
                <a:spcPts val="1400"/>
              </a:lnSpc>
              <a:buNone/>
            </a:pPr>
            <a:r>
              <a:rPr lang="en-US" sz="1050" dirty="0">
                <a:solidFill>
                  <a:srgbClr val="6B7280"/>
                </a:solidFill>
                <a:latin typeface="Arial" pitchFamily="34" charset="0"/>
                <a:ea typeface="Arial" pitchFamily="34" charset="-122"/>
                <a:cs typeface="Arial" pitchFamily="34" charset="-120"/>
              </a:rPr>
              <a:t>HiFi data per SMRT Cell</a:t>
            </a:r>
            <a:endParaRPr lang="en-US" sz="1050" dirty="0"/>
          </a:p>
        </p:txBody>
      </p:sp>
      <p:sp>
        <p:nvSpPr>
          <p:cNvPr id="17" name="Shape 15"/>
          <p:cNvSpPr/>
          <p:nvPr/>
        </p:nvSpPr>
        <p:spPr>
          <a:xfrm>
            <a:off x="9144000" y="2688336"/>
            <a:ext cx="2377440" cy="1042416"/>
          </a:xfrm>
          <a:prstGeom prst="roundRect">
            <a:avLst>
              <a:gd name="adj" fmla="val 5263"/>
            </a:avLst>
          </a:prstGeom>
          <a:solidFill>
            <a:srgbClr val="EEF4FA"/>
          </a:solidFill>
          <a:ln w="12700">
            <a:solidFill>
              <a:srgbClr val="EEF4FA"/>
            </a:solidFill>
            <a:prstDash val="solid"/>
          </a:ln>
        </p:spPr>
      </p:sp>
      <p:sp>
        <p:nvSpPr>
          <p:cNvPr id="18" name="Text 16"/>
          <p:cNvSpPr txBox="1"/>
          <p:nvPr/>
        </p:nvSpPr>
        <p:spPr>
          <a:xfrm>
            <a:off x="9345168" y="2843784"/>
            <a:ext cx="2011680" cy="420624"/>
          </a:xfrm>
          <a:prstGeom prst="rect">
            <a:avLst/>
          </a:prstGeom>
          <a:noFill/>
          <a:ln/>
        </p:spPr>
        <p:txBody>
          <a:bodyPr wrap="square" lIns="0" tIns="0" rIns="0" bIns="0" rtlCol="0" anchor="ctr"/>
          <a:lstStyle/>
          <a:p>
            <a:pPr indent="0" marL="0">
              <a:buNone/>
            </a:pPr>
            <a:r>
              <a:rPr lang="en-US" sz="2400" b="1" dirty="0">
                <a:solidFill>
                  <a:srgbClr val="3172AE"/>
                </a:solidFill>
                <a:latin typeface="Arial" pitchFamily="34" charset="0"/>
                <a:ea typeface="Arial" pitchFamily="34" charset="-122"/>
                <a:cs typeface="Arial" pitchFamily="34" charset="-120"/>
              </a:rPr>
              <a:t>~360 Gb</a:t>
            </a:r>
            <a:endParaRPr lang="en-US" sz="2400" dirty="0"/>
          </a:p>
        </p:txBody>
      </p:sp>
      <p:sp>
        <p:nvSpPr>
          <p:cNvPr id="19" name="Text 17"/>
          <p:cNvSpPr txBox="1"/>
          <p:nvPr/>
        </p:nvSpPr>
        <p:spPr>
          <a:xfrm>
            <a:off x="9345168" y="3310128"/>
            <a:ext cx="2011680" cy="365760"/>
          </a:xfrm>
          <a:prstGeom prst="rect">
            <a:avLst/>
          </a:prstGeom>
          <a:noFill/>
          <a:ln/>
        </p:spPr>
        <p:txBody>
          <a:bodyPr wrap="square" lIns="0" tIns="0" rIns="0" bIns="0" rtlCol="0" anchor="ctr"/>
          <a:lstStyle/>
          <a:p>
            <a:pPr indent="0" marL="0">
              <a:buNone/>
            </a:pPr>
            <a:r>
              <a:rPr lang="en-US" sz="1050" dirty="0">
                <a:solidFill>
                  <a:srgbClr val="6B7280"/>
                </a:solidFill>
                <a:latin typeface="Arial" pitchFamily="34" charset="0"/>
                <a:ea typeface="Arial" pitchFamily="34" charset="-122"/>
                <a:cs typeface="Arial" pitchFamily="34" charset="-120"/>
              </a:rPr>
              <a:t>per Revio run, 4 cells</a:t>
            </a:r>
            <a:endParaRPr lang="en-US" sz="1050" dirty="0"/>
          </a:p>
        </p:txBody>
      </p:sp>
      <p:sp>
        <p:nvSpPr>
          <p:cNvPr id="20" name="Shape 18"/>
          <p:cNvSpPr/>
          <p:nvPr/>
        </p:nvSpPr>
        <p:spPr>
          <a:xfrm>
            <a:off x="615391" y="4114800"/>
            <a:ext cx="10963656" cy="1097280"/>
          </a:xfrm>
          <a:prstGeom prst="roundRect">
            <a:avLst>
              <a:gd name="adj" fmla="val 5000"/>
            </a:avLst>
          </a:prstGeom>
          <a:solidFill>
            <a:srgbClr val="FAFBFC"/>
          </a:solidFill>
          <a:ln w="19050">
            <a:solidFill>
              <a:srgbClr val="FFC82C"/>
            </a:solidFill>
            <a:prstDash val="solid"/>
          </a:ln>
        </p:spPr>
      </p:sp>
      <p:sp>
        <p:nvSpPr>
          <p:cNvPr id="21" name="Text 19"/>
          <p:cNvSpPr txBox="1"/>
          <p:nvPr/>
        </p:nvSpPr>
        <p:spPr>
          <a:xfrm>
            <a:off x="926287" y="4270248"/>
            <a:ext cx="5486400" cy="274320"/>
          </a:xfrm>
          <a:prstGeom prst="rect">
            <a:avLst/>
          </a:prstGeom>
          <a:noFill/>
          <a:ln/>
        </p:spPr>
        <p:txBody>
          <a:bodyPr wrap="square" lIns="0" tIns="0" rIns="0" bIns="0" rtlCol="0" anchor="ctr"/>
          <a:lstStyle/>
          <a:p>
            <a:pPr indent="0" marL="0">
              <a:buNone/>
            </a:pPr>
            <a:r>
              <a:rPr lang="en-US" sz="1300" b="1" dirty="0">
                <a:solidFill>
                  <a:srgbClr val="9C7A00"/>
                </a:solidFill>
                <a:latin typeface="Arial" pitchFamily="34" charset="0"/>
                <a:ea typeface="Arial" pitchFamily="34" charset="-122"/>
                <a:cs typeface="Arial" pitchFamily="34" charset="-120"/>
              </a:rPr>
              <a:t>The trade-off that catches people out</a:t>
            </a:r>
            <a:endParaRPr lang="en-US" sz="1300" dirty="0"/>
          </a:p>
        </p:txBody>
      </p:sp>
      <p:sp>
        <p:nvSpPr>
          <p:cNvPr id="22" name="Text 20"/>
          <p:cNvSpPr txBox="1"/>
          <p:nvPr/>
        </p:nvSpPr>
        <p:spPr>
          <a:xfrm>
            <a:off x="926287" y="4562856"/>
            <a:ext cx="10341864" cy="548640"/>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Arial" pitchFamily="34" charset="0"/>
                <a:ea typeface="Arial" pitchFamily="34" charset="-122"/>
                <a:cs typeface="Arial" pitchFamily="34" charset="-120"/>
              </a:rPr>
              <a:t>Passes and insert length compete for the same fixed run time. A long insert gets fewer passes, and below the pass threshold it is simply excluded from the HiFi output. Asking for 40 kb inserts does not give you 40 kb HiFi reads — it gives you fewer reads.</a:t>
            </a:r>
            <a:endParaRPr lang="en-US" sz="1250" dirty="0"/>
          </a:p>
        </p:txBody>
      </p:sp>
      <p:sp>
        <p:nvSpPr>
          <p:cNvPr id="23" name="Text 21"/>
          <p:cNvSpPr txBox="1"/>
          <p:nvPr/>
        </p:nvSpPr>
        <p:spPr>
          <a:xfrm>
            <a:off x="615391" y="5358384"/>
            <a:ext cx="10963656" cy="237744"/>
          </a:xfrm>
          <a:prstGeom prst="rect">
            <a:avLst/>
          </a:prstGeom>
          <a:noFill/>
          <a:ln/>
        </p:spPr>
        <p:txBody>
          <a:bodyPr wrap="square" lIns="0" tIns="0" rIns="0" bIns="0" rtlCol="0" anchor="ctr"/>
          <a:lstStyle/>
          <a:p>
            <a:pPr indent="0" marL="0">
              <a:buNone/>
            </a:pPr>
            <a:r>
              <a:rPr lang="en-US" sz="950" i="1" dirty="0">
                <a:solidFill>
                  <a:srgbClr val="9AA5B1"/>
                </a:solidFill>
                <a:latin typeface="Arial" pitchFamily="34" charset="0"/>
                <a:ea typeface="Arial" pitchFamily="34" charset="-122"/>
                <a:cs typeface="Arial" pitchFamily="34" charset="-120"/>
              </a:rPr>
              <a:t>Figures from PacBio Revio documentation and sequencing-core specifications, 2026. Yields depend on chemistry version and sample quality.</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15391" y="329184"/>
            <a:ext cx="10963656" cy="603504"/>
          </a:xfrm>
          <a:prstGeom prst="rect">
            <a:avLst/>
          </a:prstGeom>
          <a:noFill/>
          <a:ln/>
        </p:spPr>
        <p:txBody>
          <a:bodyPr wrap="square" lIns="0" tIns="0" rIns="0" bIns="0" rtlCol="0" anchor="ctr"/>
          <a:lstStyle/>
          <a:p>
            <a:pPr indent="0" marL="0">
              <a:buNone/>
            </a:pPr>
            <a:r>
              <a:rPr lang="en-US" sz="2800" b="1" dirty="0">
                <a:solidFill>
                  <a:srgbClr val="3172AE"/>
                </a:solidFill>
                <a:latin typeface="Arial" pitchFamily="34" charset="0"/>
                <a:ea typeface="Arial" pitchFamily="34" charset="-122"/>
                <a:cs typeface="Arial" pitchFamily="34" charset="-120"/>
              </a:rPr>
              <a:t>Oxford Nanopore: accuracy is partly a software choice</a:t>
            </a:r>
            <a:endParaRPr lang="en-US" sz="2800" dirty="0"/>
          </a:p>
        </p:txBody>
      </p:sp>
      <p:sp>
        <p:nvSpPr>
          <p:cNvPr id="3" name="Text 1"/>
          <p:cNvSpPr txBox="1"/>
          <p:nvPr/>
        </p:nvSpPr>
        <p:spPr>
          <a:xfrm>
            <a:off x="615391" y="941832"/>
            <a:ext cx="10963656" cy="274320"/>
          </a:xfrm>
          <a:prstGeom prst="rect">
            <a:avLst/>
          </a:prstGeom>
          <a:noFill/>
          <a:ln/>
        </p:spPr>
        <p:txBody>
          <a:bodyPr wrap="square" lIns="0" tIns="0" rIns="0" bIns="0" rtlCol="0" anchor="ctr"/>
          <a:lstStyle/>
          <a:p>
            <a:pPr indent="0" marL="0">
              <a:buNone/>
            </a:pPr>
            <a:r>
              <a:rPr lang="en-US" sz="1200" spc="110" kern="0" dirty="0">
                <a:solidFill>
                  <a:srgbClr val="9AA5B1"/>
                </a:solidFill>
                <a:latin typeface="Arial" pitchFamily="34" charset="0"/>
                <a:ea typeface="Arial" pitchFamily="34" charset="-122"/>
                <a:cs typeface="Arial" pitchFamily="34" charset="-120"/>
              </a:rPr>
              <a:t>PLATFORMS</a:t>
            </a:r>
            <a:endParaRPr lang="en-US" sz="1200" dirty="0"/>
          </a:p>
        </p:txBody>
      </p:sp>
      <p:sp>
        <p:nvSpPr>
          <p:cNvPr id="4" name="Shape 2"/>
          <p:cNvSpPr/>
          <p:nvPr/>
        </p:nvSpPr>
        <p:spPr>
          <a:xfrm>
            <a:off x="615391" y="1481328"/>
            <a:ext cx="5760720" cy="566928"/>
          </a:xfrm>
          <a:prstGeom prst="roundRect">
            <a:avLst>
              <a:gd name="adj" fmla="val 9677"/>
            </a:avLst>
          </a:prstGeom>
          <a:solidFill>
            <a:srgbClr val="FAFBFC"/>
          </a:solidFill>
          <a:ln w="12700">
            <a:solidFill>
              <a:srgbClr val="FAFBFC"/>
            </a:solidFill>
            <a:prstDash val="solid"/>
          </a:ln>
        </p:spPr>
      </p:sp>
      <p:sp>
        <p:nvSpPr>
          <p:cNvPr id="5" name="Shape 3"/>
          <p:cNvSpPr/>
          <p:nvPr/>
        </p:nvSpPr>
        <p:spPr>
          <a:xfrm>
            <a:off x="853135" y="1691640"/>
            <a:ext cx="146304" cy="146304"/>
          </a:xfrm>
          <a:prstGeom prst="diamond">
            <a:avLst/>
          </a:prstGeom>
          <a:solidFill>
            <a:srgbClr val="9AA5B1"/>
          </a:solidFill>
          <a:ln w="12700">
            <a:solidFill>
              <a:srgbClr val="9AA5B1"/>
            </a:solidFill>
            <a:prstDash val="solid"/>
          </a:ln>
        </p:spPr>
      </p:sp>
      <p:sp>
        <p:nvSpPr>
          <p:cNvPr id="6" name="Text 4"/>
          <p:cNvSpPr txBox="1"/>
          <p:nvPr/>
        </p:nvSpPr>
        <p:spPr>
          <a:xfrm>
            <a:off x="1182319" y="1536192"/>
            <a:ext cx="2103120" cy="457200"/>
          </a:xfrm>
          <a:prstGeom prst="rect">
            <a:avLst/>
          </a:prstGeom>
          <a:noFill/>
          <a:ln/>
        </p:spPr>
        <p:txBody>
          <a:bodyPr wrap="square" lIns="0" tIns="0" rIns="0" bIns="0" rtlCol="0" anchor="ctr"/>
          <a:lstStyle/>
          <a:p>
            <a:pPr indent="0" marL="0">
              <a:buNone/>
            </a:pPr>
            <a:r>
              <a:rPr lang="en-US" sz="1300" b="1" dirty="0">
                <a:solidFill>
                  <a:srgbClr val="1F2933"/>
                </a:solidFill>
                <a:latin typeface="Arial" pitchFamily="34" charset="0"/>
                <a:ea typeface="Arial" pitchFamily="34" charset="-122"/>
                <a:cs typeface="Arial" pitchFamily="34" charset="-120"/>
              </a:rPr>
              <a:t>DNA through a pore</a:t>
            </a:r>
            <a:endParaRPr lang="en-US" sz="1300" dirty="0"/>
          </a:p>
        </p:txBody>
      </p:sp>
      <p:sp>
        <p:nvSpPr>
          <p:cNvPr id="7" name="Text 5"/>
          <p:cNvSpPr txBox="1"/>
          <p:nvPr/>
        </p:nvSpPr>
        <p:spPr>
          <a:xfrm>
            <a:off x="3312871" y="1536192"/>
            <a:ext cx="2971800" cy="457200"/>
          </a:xfrm>
          <a:prstGeom prst="rect">
            <a:avLst/>
          </a:prstGeom>
          <a:noFill/>
          <a:ln/>
        </p:spPr>
        <p:txBody>
          <a:bodyPr wrap="square" lIns="0" tIns="0" rIns="0" bIns="0" rtlCol="0" anchor="ctr"/>
          <a:lstStyle/>
          <a:p>
            <a:pPr indent="0" marL="0">
              <a:lnSpc>
                <a:spcPts val="1400"/>
              </a:lnSpc>
              <a:buNone/>
            </a:pPr>
            <a:r>
              <a:rPr lang="en-US" sz="1100" dirty="0">
                <a:solidFill>
                  <a:srgbClr val="6B7280"/>
                </a:solidFill>
                <a:latin typeface="Arial" pitchFamily="34" charset="0"/>
                <a:ea typeface="Arial" pitchFamily="34" charset="-122"/>
                <a:cs typeface="Arial" pitchFamily="34" charset="-120"/>
              </a:rPr>
              <a:t>Current shifts as bases pass. No synthesis, no amplification.</a:t>
            </a:r>
            <a:endParaRPr lang="en-US" sz="1100" dirty="0"/>
          </a:p>
        </p:txBody>
      </p:sp>
      <p:sp>
        <p:nvSpPr>
          <p:cNvPr id="8" name="Shape 6"/>
          <p:cNvSpPr/>
          <p:nvPr/>
        </p:nvSpPr>
        <p:spPr>
          <a:xfrm>
            <a:off x="615391" y="2139696"/>
            <a:ext cx="5760720" cy="566928"/>
          </a:xfrm>
          <a:prstGeom prst="roundRect">
            <a:avLst>
              <a:gd name="adj" fmla="val 9677"/>
            </a:avLst>
          </a:prstGeom>
          <a:solidFill>
            <a:srgbClr val="FAFBFC"/>
          </a:solidFill>
          <a:ln w="12700">
            <a:solidFill>
              <a:srgbClr val="FAFBFC"/>
            </a:solidFill>
            <a:prstDash val="solid"/>
          </a:ln>
        </p:spPr>
      </p:sp>
      <p:sp>
        <p:nvSpPr>
          <p:cNvPr id="9" name="Shape 7"/>
          <p:cNvSpPr/>
          <p:nvPr/>
        </p:nvSpPr>
        <p:spPr>
          <a:xfrm>
            <a:off x="853135" y="2350008"/>
            <a:ext cx="146304" cy="146304"/>
          </a:xfrm>
          <a:prstGeom prst="diamond">
            <a:avLst/>
          </a:prstGeom>
          <a:solidFill>
            <a:srgbClr val="9AA5B1"/>
          </a:solidFill>
          <a:ln w="12700">
            <a:solidFill>
              <a:srgbClr val="9AA5B1"/>
            </a:solidFill>
            <a:prstDash val="solid"/>
          </a:ln>
        </p:spPr>
      </p:sp>
      <p:sp>
        <p:nvSpPr>
          <p:cNvPr id="10" name="Text 8"/>
          <p:cNvSpPr txBox="1"/>
          <p:nvPr/>
        </p:nvSpPr>
        <p:spPr>
          <a:xfrm>
            <a:off x="1182319" y="2194560"/>
            <a:ext cx="2103120" cy="457200"/>
          </a:xfrm>
          <a:prstGeom prst="rect">
            <a:avLst/>
          </a:prstGeom>
          <a:noFill/>
          <a:ln/>
        </p:spPr>
        <p:txBody>
          <a:bodyPr wrap="square" lIns="0" tIns="0" rIns="0" bIns="0" rtlCol="0" anchor="ctr"/>
          <a:lstStyle/>
          <a:p>
            <a:pPr indent="0" marL="0">
              <a:buNone/>
            </a:pPr>
            <a:r>
              <a:rPr lang="en-US" sz="1300" b="1" dirty="0">
                <a:solidFill>
                  <a:srgbClr val="1F2933"/>
                </a:solidFill>
                <a:latin typeface="Arial" pitchFamily="34" charset="0"/>
                <a:ea typeface="Arial" pitchFamily="34" charset="-122"/>
                <a:cs typeface="Arial" pitchFamily="34" charset="-120"/>
              </a:rPr>
              <a:t>Raw signal</a:t>
            </a:r>
            <a:endParaRPr lang="en-US" sz="1300" dirty="0"/>
          </a:p>
        </p:txBody>
      </p:sp>
      <p:sp>
        <p:nvSpPr>
          <p:cNvPr id="11" name="Text 9"/>
          <p:cNvSpPr txBox="1"/>
          <p:nvPr/>
        </p:nvSpPr>
        <p:spPr>
          <a:xfrm>
            <a:off x="3312871" y="2194560"/>
            <a:ext cx="2971800" cy="457200"/>
          </a:xfrm>
          <a:prstGeom prst="rect">
            <a:avLst/>
          </a:prstGeom>
          <a:noFill/>
          <a:ln/>
        </p:spPr>
        <p:txBody>
          <a:bodyPr wrap="square" lIns="0" tIns="0" rIns="0" bIns="0" rtlCol="0" anchor="ctr"/>
          <a:lstStyle/>
          <a:p>
            <a:pPr indent="0" marL="0">
              <a:lnSpc>
                <a:spcPts val="1400"/>
              </a:lnSpc>
              <a:buNone/>
            </a:pPr>
            <a:r>
              <a:rPr lang="en-US" sz="1100" dirty="0">
                <a:solidFill>
                  <a:srgbClr val="6B7280"/>
                </a:solidFill>
                <a:latin typeface="Arial" pitchFamily="34" charset="0"/>
                <a:ea typeface="Arial" pitchFamily="34" charset="-122"/>
                <a:cs typeface="Arial" pitchFamily="34" charset="-120"/>
              </a:rPr>
              <a:t>Stored as POD5. This is the actual measurement — keep it if you can.</a:t>
            </a:r>
            <a:endParaRPr lang="en-US" sz="1100" dirty="0"/>
          </a:p>
        </p:txBody>
      </p:sp>
      <p:sp>
        <p:nvSpPr>
          <p:cNvPr id="12" name="Shape 10"/>
          <p:cNvSpPr/>
          <p:nvPr/>
        </p:nvSpPr>
        <p:spPr>
          <a:xfrm>
            <a:off x="615391" y="2798064"/>
            <a:ext cx="5760720" cy="566928"/>
          </a:xfrm>
          <a:prstGeom prst="roundRect">
            <a:avLst>
              <a:gd name="adj" fmla="val 9677"/>
            </a:avLst>
          </a:prstGeom>
          <a:solidFill>
            <a:srgbClr val="EEF4FA"/>
          </a:solidFill>
          <a:ln w="15875">
            <a:solidFill>
              <a:srgbClr val="498BCA"/>
            </a:solidFill>
            <a:prstDash val="solid"/>
          </a:ln>
        </p:spPr>
      </p:sp>
      <p:sp>
        <p:nvSpPr>
          <p:cNvPr id="13" name="Shape 11"/>
          <p:cNvSpPr/>
          <p:nvPr/>
        </p:nvSpPr>
        <p:spPr>
          <a:xfrm>
            <a:off x="853135" y="3008376"/>
            <a:ext cx="146304" cy="146304"/>
          </a:xfrm>
          <a:prstGeom prst="diamond">
            <a:avLst/>
          </a:prstGeom>
          <a:solidFill>
            <a:srgbClr val="3172AE"/>
          </a:solidFill>
          <a:ln w="12700">
            <a:solidFill>
              <a:srgbClr val="3172AE"/>
            </a:solidFill>
            <a:prstDash val="solid"/>
          </a:ln>
        </p:spPr>
      </p:sp>
      <p:sp>
        <p:nvSpPr>
          <p:cNvPr id="14" name="Text 12"/>
          <p:cNvSpPr txBox="1"/>
          <p:nvPr/>
        </p:nvSpPr>
        <p:spPr>
          <a:xfrm>
            <a:off x="1182319" y="2852928"/>
            <a:ext cx="2103120" cy="457200"/>
          </a:xfrm>
          <a:prstGeom prst="rect">
            <a:avLst/>
          </a:prstGeom>
          <a:noFill/>
          <a:ln/>
        </p:spPr>
        <p:txBody>
          <a:bodyPr wrap="square" lIns="0" tIns="0" rIns="0" bIns="0" rtlCol="0" anchor="ctr"/>
          <a:lstStyle/>
          <a:p>
            <a:pPr indent="0" marL="0">
              <a:buNone/>
            </a:pPr>
            <a:r>
              <a:rPr lang="en-US" sz="1300" b="1" dirty="0">
                <a:solidFill>
                  <a:srgbClr val="1F2933"/>
                </a:solidFill>
                <a:latin typeface="Arial" pitchFamily="34" charset="0"/>
                <a:ea typeface="Arial" pitchFamily="34" charset="-122"/>
                <a:cs typeface="Arial" pitchFamily="34" charset="-120"/>
              </a:rPr>
              <a:t>Basecaller</a:t>
            </a:r>
            <a:endParaRPr lang="en-US" sz="1300" dirty="0"/>
          </a:p>
        </p:txBody>
      </p:sp>
      <p:sp>
        <p:nvSpPr>
          <p:cNvPr id="15" name="Text 13"/>
          <p:cNvSpPr txBox="1"/>
          <p:nvPr/>
        </p:nvSpPr>
        <p:spPr>
          <a:xfrm>
            <a:off x="3312871" y="2852928"/>
            <a:ext cx="2971800" cy="457200"/>
          </a:xfrm>
          <a:prstGeom prst="rect">
            <a:avLst/>
          </a:prstGeom>
          <a:noFill/>
          <a:ln/>
        </p:spPr>
        <p:txBody>
          <a:bodyPr wrap="square" lIns="0" tIns="0" rIns="0" bIns="0" rtlCol="0" anchor="ctr"/>
          <a:lstStyle/>
          <a:p>
            <a:pPr indent="0" marL="0">
              <a:lnSpc>
                <a:spcPts val="1400"/>
              </a:lnSpc>
              <a:buNone/>
            </a:pPr>
            <a:r>
              <a:rPr lang="en-US" sz="1100" dirty="0">
                <a:solidFill>
                  <a:srgbClr val="6B7280"/>
                </a:solidFill>
                <a:latin typeface="Arial" pitchFamily="34" charset="0"/>
                <a:ea typeface="Arial" pitchFamily="34" charset="-122"/>
                <a:cs typeface="Arial" pitchFamily="34" charset="-120"/>
              </a:rPr>
              <a:t>Dorado converts signal to sequence. Model choice: fast, hac, or sup.</a:t>
            </a:r>
            <a:endParaRPr lang="en-US" sz="1100" dirty="0"/>
          </a:p>
        </p:txBody>
      </p:sp>
      <p:sp>
        <p:nvSpPr>
          <p:cNvPr id="16" name="Shape 14"/>
          <p:cNvSpPr/>
          <p:nvPr/>
        </p:nvSpPr>
        <p:spPr>
          <a:xfrm>
            <a:off x="615391" y="3456432"/>
            <a:ext cx="5760720" cy="566928"/>
          </a:xfrm>
          <a:prstGeom prst="roundRect">
            <a:avLst>
              <a:gd name="adj" fmla="val 9677"/>
            </a:avLst>
          </a:prstGeom>
          <a:solidFill>
            <a:srgbClr val="FAFBFC"/>
          </a:solidFill>
          <a:ln w="12700">
            <a:solidFill>
              <a:srgbClr val="FAFBFC"/>
            </a:solidFill>
            <a:prstDash val="solid"/>
          </a:ln>
        </p:spPr>
      </p:sp>
      <p:sp>
        <p:nvSpPr>
          <p:cNvPr id="17" name="Shape 15"/>
          <p:cNvSpPr/>
          <p:nvPr/>
        </p:nvSpPr>
        <p:spPr>
          <a:xfrm>
            <a:off x="853135" y="3666744"/>
            <a:ext cx="146304" cy="146304"/>
          </a:xfrm>
          <a:prstGeom prst="diamond">
            <a:avLst/>
          </a:prstGeom>
          <a:solidFill>
            <a:srgbClr val="9AA5B1"/>
          </a:solidFill>
          <a:ln w="12700">
            <a:solidFill>
              <a:srgbClr val="9AA5B1"/>
            </a:solidFill>
            <a:prstDash val="solid"/>
          </a:ln>
        </p:spPr>
      </p:sp>
      <p:sp>
        <p:nvSpPr>
          <p:cNvPr id="18" name="Text 16"/>
          <p:cNvSpPr txBox="1"/>
          <p:nvPr/>
        </p:nvSpPr>
        <p:spPr>
          <a:xfrm>
            <a:off x="1182319" y="3511296"/>
            <a:ext cx="2103120" cy="457200"/>
          </a:xfrm>
          <a:prstGeom prst="rect">
            <a:avLst/>
          </a:prstGeom>
          <a:noFill/>
          <a:ln/>
        </p:spPr>
        <p:txBody>
          <a:bodyPr wrap="square" lIns="0" tIns="0" rIns="0" bIns="0" rtlCol="0" anchor="ctr"/>
          <a:lstStyle/>
          <a:p>
            <a:pPr indent="0" marL="0">
              <a:buNone/>
            </a:pPr>
            <a:r>
              <a:rPr lang="en-US" sz="1300" b="1" dirty="0">
                <a:solidFill>
                  <a:srgbClr val="1F2933"/>
                </a:solidFill>
                <a:latin typeface="Arial" pitchFamily="34" charset="0"/>
                <a:ea typeface="Arial" pitchFamily="34" charset="-122"/>
                <a:cs typeface="Arial" pitchFamily="34" charset="-120"/>
              </a:rPr>
              <a:t>FASTQ / BAM</a:t>
            </a:r>
            <a:endParaRPr lang="en-US" sz="1300" dirty="0"/>
          </a:p>
        </p:txBody>
      </p:sp>
      <p:sp>
        <p:nvSpPr>
          <p:cNvPr id="19" name="Text 17"/>
          <p:cNvSpPr txBox="1"/>
          <p:nvPr/>
        </p:nvSpPr>
        <p:spPr>
          <a:xfrm>
            <a:off x="3312871" y="3511296"/>
            <a:ext cx="2971800" cy="457200"/>
          </a:xfrm>
          <a:prstGeom prst="rect">
            <a:avLst/>
          </a:prstGeom>
          <a:noFill/>
          <a:ln/>
        </p:spPr>
        <p:txBody>
          <a:bodyPr wrap="square" lIns="0" tIns="0" rIns="0" bIns="0" rtlCol="0" anchor="ctr"/>
          <a:lstStyle/>
          <a:p>
            <a:pPr indent="0" marL="0">
              <a:lnSpc>
                <a:spcPts val="1400"/>
              </a:lnSpc>
              <a:buNone/>
            </a:pPr>
            <a:r>
              <a:rPr lang="en-US" sz="1100" dirty="0">
                <a:solidFill>
                  <a:srgbClr val="6B7280"/>
                </a:solidFill>
                <a:latin typeface="Arial" pitchFamily="34" charset="0"/>
                <a:ea typeface="Arial" pitchFamily="34" charset="-122"/>
                <a:cs typeface="Arial" pitchFamily="34" charset="-120"/>
              </a:rPr>
              <a:t>Same molecule, different model version, measurably different accuracy.</a:t>
            </a:r>
            <a:endParaRPr lang="en-US" sz="1100" dirty="0"/>
          </a:p>
        </p:txBody>
      </p:sp>
      <p:sp>
        <p:nvSpPr>
          <p:cNvPr id="20" name="Shape 18"/>
          <p:cNvSpPr/>
          <p:nvPr/>
        </p:nvSpPr>
        <p:spPr>
          <a:xfrm>
            <a:off x="6629400" y="1481328"/>
            <a:ext cx="4937760" cy="2542032"/>
          </a:xfrm>
          <a:prstGeom prst="roundRect">
            <a:avLst>
              <a:gd name="adj" fmla="val 2158"/>
            </a:avLst>
          </a:prstGeom>
          <a:solidFill>
            <a:srgbClr val="F5F6F0"/>
          </a:solidFill>
          <a:ln w="12700">
            <a:solidFill>
              <a:srgbClr val="F5F6F0"/>
            </a:solidFill>
            <a:prstDash val="solid"/>
          </a:ln>
        </p:spPr>
      </p:sp>
      <p:sp>
        <p:nvSpPr>
          <p:cNvPr id="21" name="Text 19"/>
          <p:cNvSpPr txBox="1"/>
          <p:nvPr/>
        </p:nvSpPr>
        <p:spPr>
          <a:xfrm>
            <a:off x="6931152" y="1664208"/>
            <a:ext cx="4297680" cy="274320"/>
          </a:xfrm>
          <a:prstGeom prst="rect">
            <a:avLst/>
          </a:prstGeom>
          <a:noFill/>
          <a:ln/>
        </p:spPr>
        <p:txBody>
          <a:bodyPr wrap="square" lIns="0" tIns="0" rIns="0" bIns="0" rtlCol="0" anchor="ctr"/>
          <a:lstStyle/>
          <a:p>
            <a:pPr indent="0" marL="0">
              <a:buNone/>
            </a:pPr>
            <a:r>
              <a:rPr lang="en-US" sz="1450" b="1" dirty="0">
                <a:solidFill>
                  <a:srgbClr val="205081"/>
                </a:solidFill>
                <a:latin typeface="Arial" pitchFamily="34" charset="0"/>
                <a:ea typeface="Arial" pitchFamily="34" charset="-122"/>
                <a:cs typeface="Arial" pitchFamily="34" charset="-120"/>
              </a:rPr>
              <a:t>Where it currently sits</a:t>
            </a:r>
            <a:endParaRPr lang="en-US" sz="1450" dirty="0"/>
          </a:p>
        </p:txBody>
      </p:sp>
      <p:sp>
        <p:nvSpPr>
          <p:cNvPr id="22" name="Text 20"/>
          <p:cNvSpPr txBox="1"/>
          <p:nvPr/>
        </p:nvSpPr>
        <p:spPr>
          <a:xfrm>
            <a:off x="6931152" y="2011680"/>
            <a:ext cx="4343400" cy="1920240"/>
          </a:xfrm>
          <a:prstGeom prst="rect">
            <a:avLst/>
          </a:prstGeom>
          <a:noFill/>
          <a:ln/>
        </p:spPr>
        <p:txBody>
          <a:bodyPr wrap="square" lIns="0" tIns="0" rIns="0" bIns="0" rtlCol="0" anchor="t"/>
          <a:lstStyle/>
          <a:p>
            <a:pPr marL="177800" indent="-177800">
              <a:spcAft>
                <a:spcPts val="900"/>
              </a:spcAft>
              <a:buSzPct val="100000"/>
              <a:buChar char="●"/>
            </a:pPr>
            <a:r>
              <a:rPr lang="en-US" sz="1150" dirty="0">
                <a:solidFill>
                  <a:srgbClr val="1F2933"/>
                </a:solidFill>
                <a:latin typeface="Arial" pitchFamily="34" charset="0"/>
                <a:ea typeface="Arial" pitchFamily="34" charset="-122"/>
                <a:cs typeface="Arial" pitchFamily="34" charset="-120"/>
              </a:rPr>
              <a:t>R10.4.1 flow cells with Kit 14: simplex reads around 99% and above with super-accuracy models.</a:t>
            </a:r>
            <a:endParaRPr lang="en-US" sz="1150" dirty="0"/>
          </a:p>
          <a:p>
            <a:pPr marL="177800" indent="-177800">
              <a:spcAft>
                <a:spcPts val="900"/>
              </a:spcAft>
              <a:buSzPct val="100000"/>
              <a:buChar char="●"/>
            </a:pPr>
            <a:r>
              <a:rPr lang="en-US" sz="1150" dirty="0">
                <a:solidFill>
                  <a:srgbClr val="1F2933"/>
                </a:solidFill>
                <a:latin typeface="Arial" pitchFamily="34" charset="0"/>
                <a:ea typeface="Arial" pitchFamily="34" charset="-122"/>
                <a:cs typeface="Arial" pitchFamily="34" charset="-120"/>
              </a:rPr>
              <a:t>Duplex reads reach roughly Q30, but are a minority of any run.</a:t>
            </a:r>
            <a:endParaRPr lang="en-US" sz="1150" dirty="0"/>
          </a:p>
          <a:p>
            <a:pPr marL="177800" indent="-177800">
              <a:spcAft>
                <a:spcPts val="900"/>
              </a:spcAft>
              <a:buSzPct val="100000"/>
              <a:buChar char="●"/>
            </a:pPr>
            <a:r>
              <a:rPr lang="en-US" sz="1150" dirty="0">
                <a:solidFill>
                  <a:srgbClr val="1F2933"/>
                </a:solidFill>
                <a:latin typeface="Arial" pitchFamily="34" charset="0"/>
                <a:ea typeface="Arial" pitchFamily="34" charset="-122"/>
                <a:cs typeface="Arial" pitchFamily="34" charset="-120"/>
              </a:rPr>
              <a:t>Over 100 Gb per PromethION flow cell is routine.</a:t>
            </a:r>
            <a:endParaRPr lang="en-US" sz="1150" dirty="0"/>
          </a:p>
          <a:p>
            <a:pPr marL="177800" indent="-177800">
              <a:spcAft>
                <a:spcPts val="900"/>
              </a:spcAft>
              <a:buSzPct val="100000"/>
              <a:buChar char="●"/>
            </a:pPr>
            <a:r>
              <a:rPr lang="en-US" sz="1150" dirty="0">
                <a:solidFill>
                  <a:srgbClr val="1F2933"/>
                </a:solidFill>
                <a:latin typeface="Arial" pitchFamily="34" charset="0"/>
                <a:ea typeface="Arial" pitchFamily="34" charset="-122"/>
                <a:cs typeface="Arial" pitchFamily="34" charset="-120"/>
              </a:rPr>
              <a:t>Read length is set by your extraction: ultra-long protocols reach hundreds of kb.</a:t>
            </a:r>
            <a:endParaRPr lang="en-US" sz="1150" dirty="0"/>
          </a:p>
          <a:p>
            <a:pPr marL="177800" indent="-177800">
              <a:spcAft>
                <a:spcPts val="900"/>
              </a:spcAft>
              <a:buSzPct val="100000"/>
              <a:buChar char="●"/>
            </a:pPr>
            <a:r>
              <a:rPr lang="en-US" sz="1150" dirty="0">
                <a:solidFill>
                  <a:srgbClr val="1F2933"/>
                </a:solidFill>
                <a:latin typeface="Arial" pitchFamily="34" charset="0"/>
                <a:ea typeface="Arial" pitchFamily="34" charset="-122"/>
                <a:cs typeface="Arial" pitchFamily="34" charset="-120"/>
              </a:rPr>
              <a:t>Native DNA and RNA, so base modifications come free — no bisulfite.</a:t>
            </a:r>
            <a:endParaRPr lang="en-US" sz="1150" dirty="0"/>
          </a:p>
        </p:txBody>
      </p:sp>
      <p:sp>
        <p:nvSpPr>
          <p:cNvPr id="23" name="Shape 21"/>
          <p:cNvSpPr/>
          <p:nvPr/>
        </p:nvSpPr>
        <p:spPr>
          <a:xfrm>
            <a:off x="615391" y="4279392"/>
            <a:ext cx="10963656" cy="914400"/>
          </a:xfrm>
          <a:prstGeom prst="roundRect">
            <a:avLst>
              <a:gd name="adj" fmla="val 6000"/>
            </a:avLst>
          </a:prstGeom>
          <a:solidFill>
            <a:srgbClr val="EEF4FA"/>
          </a:solidFill>
          <a:ln w="12700">
            <a:solidFill>
              <a:srgbClr val="EEF4FA"/>
            </a:solidFill>
            <a:prstDash val="solid"/>
          </a:ln>
        </p:spPr>
      </p:sp>
      <p:sp>
        <p:nvSpPr>
          <p:cNvPr id="24" name="Text 22"/>
          <p:cNvSpPr txBox="1"/>
          <p:nvPr/>
        </p:nvSpPr>
        <p:spPr>
          <a:xfrm>
            <a:off x="926287" y="4462272"/>
            <a:ext cx="10341864" cy="566928"/>
          </a:xfrm>
          <a:prstGeom prst="rect">
            <a:avLst/>
          </a:prstGeom>
          <a:noFill/>
          <a:ln/>
        </p:spPr>
        <p:txBody>
          <a:bodyPr wrap="square" lIns="0" tIns="0" rIns="0" bIns="0" rtlCol="0" anchor="ctr"/>
          <a:lstStyle/>
          <a:p>
            <a:pPr indent="0" marL="0">
              <a:lnSpc>
                <a:spcPts val="1800"/>
              </a:lnSpc>
              <a:buNone/>
            </a:pPr>
            <a:r>
              <a:rPr lang="en-US" sz="1300" b="1" dirty="0">
                <a:solidFill>
                  <a:srgbClr val="3172AE"/>
                </a:solidFill>
                <a:latin typeface="Arial" pitchFamily="34" charset="0"/>
                <a:ea typeface="Arial" pitchFamily="34" charset="-122"/>
                <a:cs typeface="Arial" pitchFamily="34" charset="-120"/>
              </a:rPr>
              <a:t>Record your basecaller and model version in your methods. It is not a detail — re-basecalling old signal with a newer model is a routine way to improve a dataset without touching the bench.</a:t>
            </a:r>
            <a:endParaRPr lang="en-US" sz="1300" dirty="0"/>
          </a:p>
        </p:txBody>
      </p:sp>
      <p:sp>
        <p:nvSpPr>
          <p:cNvPr id="25" name="Text 23"/>
          <p:cNvSpPr txBox="1"/>
          <p:nvPr/>
        </p:nvSpPr>
        <p:spPr>
          <a:xfrm>
            <a:off x="615391" y="5340096"/>
            <a:ext cx="10963656" cy="237744"/>
          </a:xfrm>
          <a:prstGeom prst="rect">
            <a:avLst/>
          </a:prstGeom>
          <a:noFill/>
          <a:ln/>
        </p:spPr>
        <p:txBody>
          <a:bodyPr wrap="square" lIns="0" tIns="0" rIns="0" bIns="0" rtlCol="0" anchor="ctr"/>
          <a:lstStyle/>
          <a:p>
            <a:pPr indent="0" marL="0">
              <a:buNone/>
            </a:pPr>
            <a:r>
              <a:rPr lang="en-US" sz="950" i="1" dirty="0">
                <a:solidFill>
                  <a:srgbClr val="9AA5B1"/>
                </a:solidFill>
                <a:latin typeface="Arial" pitchFamily="34" charset="0"/>
                <a:ea typeface="Arial" pitchFamily="34" charset="-122"/>
                <a:cs typeface="Arial" pitchFamily="34" charset="-120"/>
              </a:rPr>
              <a:t>Accuracy and yield figures from Oxford Nanopore platform documentation and published benchmarks, 2026.</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15391" y="329184"/>
            <a:ext cx="10963656" cy="603504"/>
          </a:xfrm>
          <a:prstGeom prst="rect">
            <a:avLst/>
          </a:prstGeom>
          <a:noFill/>
          <a:ln/>
        </p:spPr>
        <p:txBody>
          <a:bodyPr wrap="square" lIns="0" tIns="0" rIns="0" bIns="0" rtlCol="0" anchor="ctr"/>
          <a:lstStyle/>
          <a:p>
            <a:pPr indent="0" marL="0">
              <a:buNone/>
            </a:pPr>
            <a:r>
              <a:rPr lang="en-US" sz="2800" b="1" dirty="0">
                <a:solidFill>
                  <a:srgbClr val="3172AE"/>
                </a:solidFill>
                <a:latin typeface="Arial" pitchFamily="34" charset="0"/>
                <a:ea typeface="Arial" pitchFamily="34" charset="-122"/>
                <a:cs typeface="Arial" pitchFamily="34" charset="-120"/>
              </a:rPr>
              <a:t>Error mode matters more than error rate</a:t>
            </a:r>
            <a:endParaRPr lang="en-US" sz="2800" dirty="0"/>
          </a:p>
        </p:txBody>
      </p:sp>
      <p:sp>
        <p:nvSpPr>
          <p:cNvPr id="3" name="Text 1"/>
          <p:cNvSpPr txBox="1"/>
          <p:nvPr/>
        </p:nvSpPr>
        <p:spPr>
          <a:xfrm>
            <a:off x="615391" y="941832"/>
            <a:ext cx="10963656" cy="274320"/>
          </a:xfrm>
          <a:prstGeom prst="rect">
            <a:avLst/>
          </a:prstGeom>
          <a:noFill/>
          <a:ln/>
        </p:spPr>
        <p:txBody>
          <a:bodyPr wrap="square" lIns="0" tIns="0" rIns="0" bIns="0" rtlCol="0" anchor="ctr"/>
          <a:lstStyle/>
          <a:p>
            <a:pPr indent="0" marL="0">
              <a:buNone/>
            </a:pPr>
            <a:r>
              <a:rPr lang="en-US" sz="1200" spc="110" kern="0" dirty="0">
                <a:solidFill>
                  <a:srgbClr val="9AA5B1"/>
                </a:solidFill>
                <a:latin typeface="Arial" pitchFamily="34" charset="0"/>
                <a:ea typeface="Arial" pitchFamily="34" charset="-122"/>
                <a:cs typeface="Arial" pitchFamily="34" charset="-120"/>
              </a:rPr>
              <a:t>PLATFORMS</a:t>
            </a:r>
            <a:endParaRPr lang="en-US" sz="1200" dirty="0"/>
          </a:p>
        </p:txBody>
      </p:sp>
      <p:sp>
        <p:nvSpPr>
          <p:cNvPr id="4" name="Shape 2"/>
          <p:cNvSpPr/>
          <p:nvPr/>
        </p:nvSpPr>
        <p:spPr>
          <a:xfrm>
            <a:off x="615391" y="1481328"/>
            <a:ext cx="5349240" cy="2240280"/>
          </a:xfrm>
          <a:prstGeom prst="roundRect">
            <a:avLst>
              <a:gd name="adj" fmla="val 2449"/>
            </a:avLst>
          </a:prstGeom>
          <a:solidFill>
            <a:srgbClr val="EEF4FA"/>
          </a:solidFill>
          <a:ln w="12700">
            <a:solidFill>
              <a:srgbClr val="EEF4FA"/>
            </a:solidFill>
            <a:prstDash val="solid"/>
          </a:ln>
        </p:spPr>
      </p:sp>
      <p:sp>
        <p:nvSpPr>
          <p:cNvPr id="5" name="Text 3"/>
          <p:cNvSpPr txBox="1"/>
          <p:nvPr/>
        </p:nvSpPr>
        <p:spPr>
          <a:xfrm>
            <a:off x="926287" y="1664208"/>
            <a:ext cx="3657600" cy="274320"/>
          </a:xfrm>
          <a:prstGeom prst="rect">
            <a:avLst/>
          </a:prstGeom>
          <a:noFill/>
          <a:ln/>
        </p:spPr>
        <p:txBody>
          <a:bodyPr wrap="square" lIns="0" tIns="0" rIns="0" bIns="0" rtlCol="0" anchor="ctr"/>
          <a:lstStyle/>
          <a:p>
            <a:pPr indent="0" marL="0">
              <a:buNone/>
            </a:pPr>
            <a:r>
              <a:rPr lang="en-US" sz="1500" b="1" dirty="0">
                <a:solidFill>
                  <a:srgbClr val="3172AE"/>
                </a:solidFill>
                <a:latin typeface="Arial" pitchFamily="34" charset="0"/>
                <a:ea typeface="Arial" pitchFamily="34" charset="-122"/>
                <a:cs typeface="Arial" pitchFamily="34" charset="-120"/>
              </a:rPr>
              <a:t>A substitution</a:t>
            </a:r>
            <a:endParaRPr lang="en-US" sz="1500" dirty="0"/>
          </a:p>
        </p:txBody>
      </p:sp>
      <p:sp>
        <p:nvSpPr>
          <p:cNvPr id="6" name="Text 4"/>
          <p:cNvSpPr txBox="1"/>
          <p:nvPr/>
        </p:nvSpPr>
        <p:spPr>
          <a:xfrm>
            <a:off x="926287" y="2029968"/>
            <a:ext cx="4754880" cy="566928"/>
          </a:xfrm>
          <a:prstGeom prst="rect">
            <a:avLst/>
          </a:prstGeom>
          <a:noFill/>
          <a:ln/>
        </p:spPr>
        <p:txBody>
          <a:bodyPr wrap="square" lIns="0" tIns="0" rIns="0" bIns="0" rtlCol="0" anchor="ctr"/>
          <a:lstStyle/>
          <a:p>
            <a:pPr indent="0" marL="0">
              <a:lnSpc>
                <a:spcPts val="1900"/>
              </a:lnSpc>
              <a:buNone/>
            </a:pPr>
            <a:r>
              <a:rPr lang="en-US" sz="1300" dirty="0">
                <a:solidFill>
                  <a:srgbClr val="1F2933"/>
                </a:solidFill>
                <a:latin typeface="Courier New" pitchFamily="34" charset="0"/>
                <a:ea typeface="Courier New" pitchFamily="34" charset="-122"/>
                <a:cs typeface="Courier New" pitchFamily="34" charset="-120"/>
              </a:rPr>
              <a:t>Truth    ...GATTACAGGCT...</a:t>
            </a:r>
            <a:endParaRPr lang="en-US" sz="1300" dirty="0"/>
          </a:p>
          <a:p>
            <a:pPr indent="0" marL="0">
              <a:lnSpc>
                <a:spcPts val="1900"/>
              </a:lnSpc>
              <a:buNone/>
            </a:pPr>
            <a:r>
              <a:rPr lang="en-US" sz="1300" dirty="0">
                <a:solidFill>
                  <a:srgbClr val="1F2933"/>
                </a:solidFill>
                <a:latin typeface="Courier New" pitchFamily="34" charset="0"/>
                <a:ea typeface="Courier New" pitchFamily="34" charset="-122"/>
                <a:cs typeface="Courier New" pitchFamily="34" charset="-120"/>
              </a:rPr>
              <a:t>Read     ...GATTACTGGCT...</a:t>
            </a:r>
            <a:endParaRPr lang="en-US" sz="1300" dirty="0"/>
          </a:p>
        </p:txBody>
      </p:sp>
      <p:sp>
        <p:nvSpPr>
          <p:cNvPr id="7" name="Text 5"/>
          <p:cNvSpPr txBox="1"/>
          <p:nvPr/>
        </p:nvSpPr>
        <p:spPr>
          <a:xfrm>
            <a:off x="926287" y="2715768"/>
            <a:ext cx="4754880" cy="777240"/>
          </a:xfrm>
          <a:prstGeom prst="rect">
            <a:avLst/>
          </a:prstGeom>
          <a:noFill/>
          <a:ln/>
        </p:spPr>
        <p:txBody>
          <a:bodyPr wrap="square" lIns="0" tIns="0" rIns="0" bIns="0" rtlCol="0" anchor="ctr"/>
          <a:lstStyle/>
          <a:p>
            <a:pPr indent="0" marL="0">
              <a:lnSpc>
                <a:spcPts val="1600"/>
              </a:lnSpc>
              <a:buNone/>
            </a:pPr>
            <a:r>
              <a:rPr lang="en-US" sz="1200" dirty="0">
                <a:solidFill>
                  <a:srgbClr val="6B7280"/>
                </a:solidFill>
                <a:latin typeface="Arial" pitchFamily="34" charset="0"/>
                <a:ea typeface="Arial" pitchFamily="34" charset="-122"/>
                <a:cs typeface="Arial" pitchFamily="34" charset="-120"/>
              </a:rPr>
              <a:t>Looks like a variant. You have decades of tooling for exactly this: depth, allele balance, strand bias, base quality. A false positive is detectable and filterable.</a:t>
            </a:r>
            <a:endParaRPr lang="en-US" sz="1200" dirty="0"/>
          </a:p>
        </p:txBody>
      </p:sp>
      <p:sp>
        <p:nvSpPr>
          <p:cNvPr id="8" name="Shape 6"/>
          <p:cNvSpPr/>
          <p:nvPr/>
        </p:nvSpPr>
        <p:spPr>
          <a:xfrm>
            <a:off x="6227064" y="1481328"/>
            <a:ext cx="5349240" cy="2240280"/>
          </a:xfrm>
          <a:prstGeom prst="roundRect">
            <a:avLst>
              <a:gd name="adj" fmla="val 2449"/>
            </a:avLst>
          </a:prstGeom>
          <a:solidFill>
            <a:srgbClr val="FFF8E6"/>
          </a:solidFill>
          <a:ln w="19050">
            <a:solidFill>
              <a:srgbClr val="FFC82C"/>
            </a:solidFill>
            <a:prstDash val="solid"/>
          </a:ln>
        </p:spPr>
      </p:sp>
      <p:sp>
        <p:nvSpPr>
          <p:cNvPr id="9" name="Text 7"/>
          <p:cNvSpPr txBox="1"/>
          <p:nvPr/>
        </p:nvSpPr>
        <p:spPr>
          <a:xfrm>
            <a:off x="6537960" y="1664208"/>
            <a:ext cx="4114800" cy="274320"/>
          </a:xfrm>
          <a:prstGeom prst="rect">
            <a:avLst/>
          </a:prstGeom>
          <a:noFill/>
          <a:ln/>
        </p:spPr>
        <p:txBody>
          <a:bodyPr wrap="square" lIns="0" tIns="0" rIns="0" bIns="0" rtlCol="0" anchor="ctr"/>
          <a:lstStyle/>
          <a:p>
            <a:pPr indent="0" marL="0">
              <a:buNone/>
            </a:pPr>
            <a:r>
              <a:rPr lang="en-US" sz="1500" b="1" dirty="0">
                <a:solidFill>
                  <a:srgbClr val="9C7A00"/>
                </a:solidFill>
                <a:latin typeface="Arial" pitchFamily="34" charset="0"/>
                <a:ea typeface="Arial" pitchFamily="34" charset="-122"/>
                <a:cs typeface="Arial" pitchFamily="34" charset="-120"/>
              </a:rPr>
              <a:t>An indel in a homopolymer</a:t>
            </a:r>
            <a:endParaRPr lang="en-US" sz="1500" dirty="0"/>
          </a:p>
        </p:txBody>
      </p:sp>
      <p:sp>
        <p:nvSpPr>
          <p:cNvPr id="10" name="Text 8"/>
          <p:cNvSpPr txBox="1"/>
          <p:nvPr/>
        </p:nvSpPr>
        <p:spPr>
          <a:xfrm>
            <a:off x="6537960" y="2029968"/>
            <a:ext cx="4846320" cy="566928"/>
          </a:xfrm>
          <a:prstGeom prst="rect">
            <a:avLst/>
          </a:prstGeom>
          <a:noFill/>
          <a:ln/>
        </p:spPr>
        <p:txBody>
          <a:bodyPr wrap="square" lIns="0" tIns="0" rIns="0" bIns="0" rtlCol="0" anchor="ctr"/>
          <a:lstStyle/>
          <a:p>
            <a:pPr indent="0" marL="0">
              <a:lnSpc>
                <a:spcPts val="1900"/>
              </a:lnSpc>
              <a:buNone/>
            </a:pPr>
            <a:r>
              <a:rPr lang="en-US" sz="1300" dirty="0">
                <a:solidFill>
                  <a:srgbClr val="1F2933"/>
                </a:solidFill>
                <a:latin typeface="Courier New" pitchFamily="34" charset="0"/>
                <a:ea typeface="Courier New" pitchFamily="34" charset="-122"/>
                <a:cs typeface="Courier New" pitchFamily="34" charset="-120"/>
              </a:rPr>
              <a:t>Truth    ...CGAAAAAAATG...   (7 A)</a:t>
            </a:r>
            <a:endParaRPr lang="en-US" sz="1300" dirty="0"/>
          </a:p>
          <a:p>
            <a:pPr indent="0" marL="0">
              <a:lnSpc>
                <a:spcPts val="1900"/>
              </a:lnSpc>
              <a:buNone/>
            </a:pPr>
            <a:r>
              <a:rPr lang="en-US" sz="1300" dirty="0">
                <a:solidFill>
                  <a:srgbClr val="1F2933"/>
                </a:solidFill>
                <a:latin typeface="Courier New" pitchFamily="34" charset="0"/>
                <a:ea typeface="Courier New" pitchFamily="34" charset="-122"/>
                <a:cs typeface="Courier New" pitchFamily="34" charset="-120"/>
              </a:rPr>
              <a:t>Read     ...CGAAAAAATG...    (6 A)</a:t>
            </a:r>
            <a:endParaRPr lang="en-US" sz="1300" dirty="0"/>
          </a:p>
        </p:txBody>
      </p:sp>
      <p:sp>
        <p:nvSpPr>
          <p:cNvPr id="11" name="Text 9"/>
          <p:cNvSpPr txBox="1"/>
          <p:nvPr/>
        </p:nvSpPr>
        <p:spPr>
          <a:xfrm>
            <a:off x="6537960" y="2715768"/>
            <a:ext cx="4846320" cy="777240"/>
          </a:xfrm>
          <a:prstGeom prst="rect">
            <a:avLst/>
          </a:prstGeom>
          <a:noFill/>
          <a:ln/>
        </p:spPr>
        <p:txBody>
          <a:bodyPr wrap="square" lIns="0" tIns="0" rIns="0" bIns="0" rtlCol="0" anchor="ctr"/>
          <a:lstStyle/>
          <a:p>
            <a:pPr indent="0" marL="0">
              <a:lnSpc>
                <a:spcPts val="1600"/>
              </a:lnSpc>
              <a:buNone/>
            </a:pPr>
            <a:r>
              <a:rPr lang="en-US" sz="1200" dirty="0">
                <a:solidFill>
                  <a:srgbClr val="6B7280"/>
                </a:solidFill>
                <a:latin typeface="Arial" pitchFamily="34" charset="0"/>
                <a:ea typeface="Arial" pitchFamily="34" charset="-122"/>
                <a:cs typeface="Arial" pitchFamily="34" charset="-120"/>
              </a:rPr>
              <a:t>In a coding region that is a frameshift. Everything downstream of it is wrong protein, and gene prediction will happily annotate a truncated ORF with no warning at all.</a:t>
            </a:r>
            <a:endParaRPr lang="en-US" sz="1200" dirty="0"/>
          </a:p>
        </p:txBody>
      </p:sp>
      <p:sp>
        <p:nvSpPr>
          <p:cNvPr id="12" name="Shape 10"/>
          <p:cNvSpPr/>
          <p:nvPr/>
        </p:nvSpPr>
        <p:spPr>
          <a:xfrm>
            <a:off x="615391" y="4069080"/>
            <a:ext cx="10963656" cy="1170432"/>
          </a:xfrm>
          <a:prstGeom prst="roundRect">
            <a:avLst>
              <a:gd name="adj" fmla="val 4688"/>
            </a:avLst>
          </a:prstGeom>
          <a:solidFill>
            <a:srgbClr val="F5F6F0"/>
          </a:solidFill>
          <a:ln w="12700">
            <a:solidFill>
              <a:srgbClr val="F5F6F0"/>
            </a:solidFill>
            <a:prstDash val="solid"/>
          </a:ln>
        </p:spPr>
      </p:sp>
      <p:sp>
        <p:nvSpPr>
          <p:cNvPr id="13" name="Text 11"/>
          <p:cNvSpPr txBox="1"/>
          <p:nvPr/>
        </p:nvSpPr>
        <p:spPr>
          <a:xfrm>
            <a:off x="999439" y="4233672"/>
            <a:ext cx="10195560" cy="310896"/>
          </a:xfrm>
          <a:prstGeom prst="rect">
            <a:avLst/>
          </a:prstGeom>
          <a:noFill/>
          <a:ln/>
        </p:spPr>
        <p:txBody>
          <a:bodyPr wrap="square" lIns="0" tIns="0" rIns="0" bIns="0" rtlCol="0" anchor="ctr"/>
          <a:lstStyle/>
          <a:p>
            <a:pPr indent="0" marL="0">
              <a:buNone/>
            </a:pPr>
            <a:r>
              <a:rPr lang="en-US" sz="1550" b="1" dirty="0">
                <a:solidFill>
                  <a:srgbClr val="1F2933"/>
                </a:solidFill>
                <a:latin typeface="Arial" pitchFamily="34" charset="0"/>
                <a:ea typeface="Arial" pitchFamily="34" charset="-122"/>
                <a:cs typeface="Arial" pitchFamily="34" charset="-120"/>
              </a:rPr>
              <a:t>Two platforms can report the same Q30 and give you completely different problems.</a:t>
            </a:r>
            <a:endParaRPr lang="en-US" sz="1550" dirty="0"/>
          </a:p>
        </p:txBody>
      </p:sp>
      <p:sp>
        <p:nvSpPr>
          <p:cNvPr id="14" name="Text 12"/>
          <p:cNvSpPr txBox="1"/>
          <p:nvPr/>
        </p:nvSpPr>
        <p:spPr>
          <a:xfrm>
            <a:off x="999439" y="4590288"/>
            <a:ext cx="10195560" cy="548640"/>
          </a:xfrm>
          <a:prstGeom prst="rect">
            <a:avLst/>
          </a:prstGeom>
          <a:noFill/>
          <a:ln/>
        </p:spPr>
        <p:txBody>
          <a:bodyPr wrap="square" lIns="0" tIns="0" rIns="0" bIns="0" rtlCol="0" anchor="ctr"/>
          <a:lstStyle/>
          <a:p>
            <a:pPr indent="0" marL="0">
              <a:lnSpc>
                <a:spcPts val="1700"/>
              </a:lnSpc>
              <a:buNone/>
            </a:pPr>
            <a:r>
              <a:rPr lang="en-US" sz="1250" dirty="0">
                <a:solidFill>
                  <a:srgbClr val="6B7280"/>
                </a:solidFill>
                <a:latin typeface="Arial" pitchFamily="34" charset="0"/>
                <a:ea typeface="Arial" pitchFamily="34" charset="-122"/>
                <a:cs typeface="Arial" pitchFamily="34" charset="-120"/>
              </a:rPr>
              <a:t>This is why long-read bacterial assemblies were polished with Illumina data for years, and why the honest question about a platform is never “how accurate is it” but “what does it get wrong, and does my analysis care?”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615391" y="329184"/>
            <a:ext cx="10963656" cy="603504"/>
          </a:xfrm>
          <a:prstGeom prst="rect">
            <a:avLst/>
          </a:prstGeom>
          <a:noFill/>
          <a:ln/>
        </p:spPr>
        <p:txBody>
          <a:bodyPr wrap="square" lIns="0" tIns="0" rIns="0" bIns="0" rtlCol="0" anchor="ctr"/>
          <a:lstStyle/>
          <a:p>
            <a:pPr indent="0" marL="0">
              <a:buNone/>
            </a:pPr>
            <a:r>
              <a:rPr lang="en-US" sz="2800" b="1" dirty="0">
                <a:solidFill>
                  <a:srgbClr val="3172AE"/>
                </a:solidFill>
                <a:latin typeface="Arial" pitchFamily="34" charset="0"/>
                <a:ea typeface="Arial" pitchFamily="34" charset="-122"/>
                <a:cs typeface="Arial" pitchFamily="34" charset="-120"/>
              </a:rPr>
              <a:t>A real case: mouse, human, and a surprising result</a:t>
            </a:r>
            <a:endParaRPr lang="en-US" sz="2800" dirty="0"/>
          </a:p>
        </p:txBody>
      </p:sp>
      <p:sp>
        <p:nvSpPr>
          <p:cNvPr id="3" name="Text 1"/>
          <p:cNvSpPr txBox="1"/>
          <p:nvPr/>
        </p:nvSpPr>
        <p:spPr>
          <a:xfrm>
            <a:off x="615391" y="941832"/>
            <a:ext cx="10963656" cy="274320"/>
          </a:xfrm>
          <a:prstGeom prst="rect">
            <a:avLst/>
          </a:prstGeom>
          <a:noFill/>
          <a:ln/>
        </p:spPr>
        <p:txBody>
          <a:bodyPr wrap="square" lIns="0" tIns="0" rIns="0" bIns="0" rtlCol="0" anchor="ctr"/>
          <a:lstStyle/>
          <a:p>
            <a:pPr indent="0" marL="0">
              <a:buNone/>
            </a:pPr>
            <a:r>
              <a:rPr lang="en-US" sz="1200" spc="110" kern="0" dirty="0">
                <a:solidFill>
                  <a:srgbClr val="9AA5B1"/>
                </a:solidFill>
                <a:latin typeface="Arial" pitchFamily="34" charset="0"/>
                <a:ea typeface="Arial" pitchFamily="34" charset="-122"/>
                <a:cs typeface="Arial" pitchFamily="34" charset="-120"/>
              </a:rPr>
              <a:t>EXPERIMENTAL DESIGN  ·  1/2</a:t>
            </a:r>
            <a:endParaRPr lang="en-US" sz="1200" dirty="0"/>
          </a:p>
        </p:txBody>
      </p:sp>
      <p:sp>
        <p:nvSpPr>
          <p:cNvPr id="4" name="Shape 2"/>
          <p:cNvSpPr/>
          <p:nvPr/>
        </p:nvSpPr>
        <p:spPr>
          <a:xfrm>
            <a:off x="615391" y="1481328"/>
            <a:ext cx="6858000" cy="2423160"/>
          </a:xfrm>
          <a:prstGeom prst="roundRect">
            <a:avLst>
              <a:gd name="adj" fmla="val 2264"/>
            </a:avLst>
          </a:prstGeom>
          <a:solidFill>
            <a:srgbClr val="F5F6F0"/>
          </a:solidFill>
          <a:ln w="12700">
            <a:solidFill>
              <a:srgbClr val="F5F6F0"/>
            </a:solidFill>
            <a:prstDash val="solid"/>
          </a:ln>
        </p:spPr>
      </p:sp>
      <p:sp>
        <p:nvSpPr>
          <p:cNvPr id="5" name="Text 3"/>
          <p:cNvSpPr txBox="1"/>
          <p:nvPr/>
        </p:nvSpPr>
        <p:spPr>
          <a:xfrm>
            <a:off x="944575" y="1682496"/>
            <a:ext cx="5486400" cy="274320"/>
          </a:xfrm>
          <a:prstGeom prst="rect">
            <a:avLst/>
          </a:prstGeom>
          <a:noFill/>
          <a:ln/>
        </p:spPr>
        <p:txBody>
          <a:bodyPr wrap="square" lIns="0" tIns="0" rIns="0" bIns="0" rtlCol="0" anchor="ctr"/>
          <a:lstStyle/>
          <a:p>
            <a:pPr indent="0" marL="0">
              <a:buNone/>
            </a:pPr>
            <a:r>
              <a:rPr lang="en-US" sz="1450" b="1" dirty="0">
                <a:solidFill>
                  <a:srgbClr val="205081"/>
                </a:solidFill>
                <a:latin typeface="Arial" pitchFamily="34" charset="0"/>
                <a:ea typeface="Arial" pitchFamily="34" charset="-122"/>
                <a:cs typeface="Arial" pitchFamily="34" charset="-120"/>
              </a:rPr>
              <a:t>The finding, 2014</a:t>
            </a:r>
            <a:endParaRPr lang="en-US" sz="1450" dirty="0"/>
          </a:p>
        </p:txBody>
      </p:sp>
      <p:sp>
        <p:nvSpPr>
          <p:cNvPr id="6" name="Text 4"/>
          <p:cNvSpPr txBox="1"/>
          <p:nvPr/>
        </p:nvSpPr>
        <p:spPr>
          <a:xfrm>
            <a:off x="944575" y="2048256"/>
            <a:ext cx="6217920" cy="548640"/>
          </a:xfrm>
          <a:prstGeom prst="rect">
            <a:avLst/>
          </a:prstGeom>
          <a:noFill/>
          <a:ln/>
        </p:spPr>
        <p:txBody>
          <a:bodyPr wrap="square" lIns="0" tIns="0" rIns="0" bIns="0" rtlCol="0" anchor="ctr"/>
          <a:lstStyle/>
          <a:p>
            <a:pPr indent="0" marL="0">
              <a:lnSpc>
                <a:spcPts val="1800"/>
              </a:lnSpc>
              <a:buNone/>
            </a:pPr>
            <a:r>
              <a:rPr lang="en-US" sz="1300" dirty="0">
                <a:solidFill>
                  <a:srgbClr val="1F2933"/>
                </a:solidFill>
                <a:latin typeface="Arial" pitchFamily="34" charset="0"/>
                <a:ea typeface="Arial" pitchFamily="34" charset="-122"/>
                <a:cs typeface="Arial" pitchFamily="34" charset="-120"/>
              </a:rPr>
              <a:t>The Mouse ENCODE consortium compared gene expression across matched tissues in human and mouse — liver, heart, brain, and others.</a:t>
            </a:r>
            <a:endParaRPr lang="en-US" sz="1300" dirty="0"/>
          </a:p>
        </p:txBody>
      </p:sp>
      <p:sp>
        <p:nvSpPr>
          <p:cNvPr id="7" name="Text 5"/>
          <p:cNvSpPr txBox="1"/>
          <p:nvPr/>
        </p:nvSpPr>
        <p:spPr>
          <a:xfrm>
            <a:off x="944575" y="2670048"/>
            <a:ext cx="6217920" cy="548640"/>
          </a:xfrm>
          <a:prstGeom prst="rect">
            <a:avLst/>
          </a:prstGeom>
          <a:noFill/>
          <a:ln/>
        </p:spPr>
        <p:txBody>
          <a:bodyPr wrap="square" lIns="0" tIns="0" rIns="0" bIns="0" rtlCol="0" anchor="ctr"/>
          <a:lstStyle/>
          <a:p>
            <a:pPr indent="0" marL="0">
              <a:lnSpc>
                <a:spcPts val="1900"/>
              </a:lnSpc>
              <a:buNone/>
            </a:pPr>
            <a:r>
              <a:rPr lang="en-US" sz="1400" b="1" dirty="0">
                <a:solidFill>
                  <a:srgbClr val="1F2933"/>
                </a:solidFill>
                <a:latin typeface="Arial" pitchFamily="34" charset="0"/>
                <a:ea typeface="Arial" pitchFamily="34" charset="-122"/>
                <a:cs typeface="Arial" pitchFamily="34" charset="-120"/>
              </a:rPr>
              <a:t>They reported that samples clustered by species, not by tissue. Human liver grouped with human brain, rather than with mouse liver.</a:t>
            </a:r>
            <a:endParaRPr lang="en-US" sz="1400" dirty="0"/>
          </a:p>
        </p:txBody>
      </p:sp>
      <p:sp>
        <p:nvSpPr>
          <p:cNvPr id="8" name="Text 6"/>
          <p:cNvSpPr txBox="1"/>
          <p:nvPr/>
        </p:nvSpPr>
        <p:spPr>
          <a:xfrm>
            <a:off x="944575" y="3291840"/>
            <a:ext cx="6217920" cy="457200"/>
          </a:xfrm>
          <a:prstGeom prst="rect">
            <a:avLst/>
          </a:prstGeom>
          <a:noFill/>
          <a:ln/>
        </p:spPr>
        <p:txBody>
          <a:bodyPr wrap="square" lIns="0" tIns="0" rIns="0" bIns="0" rtlCol="0" anchor="ctr"/>
          <a:lstStyle/>
          <a:p>
            <a:pPr indent="0" marL="0">
              <a:buNone/>
            </a:pPr>
            <a:r>
              <a:rPr lang="en-US" sz="1250" i="1" dirty="0">
                <a:solidFill>
                  <a:srgbClr val="6B7280"/>
                </a:solidFill>
                <a:latin typeface="Arial" pitchFamily="34" charset="0"/>
                <a:ea typeface="Arial" pitchFamily="34" charset="-122"/>
                <a:cs typeface="Arial" pitchFamily="34" charset="-120"/>
              </a:rPr>
              <a:t>Read literally: a human and a mouse liver are less alike than a human liver and a human brain.</a:t>
            </a:r>
            <a:endParaRPr lang="en-US" sz="1250" dirty="0"/>
          </a:p>
        </p:txBody>
      </p:sp>
      <p:sp>
        <p:nvSpPr>
          <p:cNvPr id="9" name="Shape 7"/>
          <p:cNvSpPr/>
          <p:nvPr/>
        </p:nvSpPr>
        <p:spPr>
          <a:xfrm>
            <a:off x="7726680" y="1481328"/>
            <a:ext cx="3840480" cy="2423160"/>
          </a:xfrm>
          <a:prstGeom prst="roundRect">
            <a:avLst>
              <a:gd name="adj" fmla="val 2264"/>
            </a:avLst>
          </a:prstGeom>
          <a:solidFill>
            <a:srgbClr val="EEF4FA"/>
          </a:solidFill>
          <a:ln w="12700">
            <a:solidFill>
              <a:srgbClr val="EEF4FA"/>
            </a:solidFill>
            <a:prstDash val="solid"/>
          </a:ln>
        </p:spPr>
      </p:sp>
      <p:sp>
        <p:nvSpPr>
          <p:cNvPr id="10" name="Text 8"/>
          <p:cNvSpPr txBox="1"/>
          <p:nvPr/>
        </p:nvSpPr>
        <p:spPr>
          <a:xfrm>
            <a:off x="8028432" y="1682496"/>
            <a:ext cx="3291840" cy="274320"/>
          </a:xfrm>
          <a:prstGeom prst="rect">
            <a:avLst/>
          </a:prstGeom>
          <a:noFill/>
          <a:ln/>
        </p:spPr>
        <p:txBody>
          <a:bodyPr wrap="square" lIns="0" tIns="0" rIns="0" bIns="0" rtlCol="0" anchor="ctr"/>
          <a:lstStyle/>
          <a:p>
            <a:pPr indent="0" marL="0">
              <a:buNone/>
            </a:pPr>
            <a:r>
              <a:rPr lang="en-US" sz="1450" b="1" dirty="0">
                <a:solidFill>
                  <a:srgbClr val="3172AE"/>
                </a:solidFill>
                <a:latin typeface="Arial" pitchFamily="34" charset="0"/>
                <a:ea typeface="Arial" pitchFamily="34" charset="-122"/>
                <a:cs typeface="Arial" pitchFamily="34" charset="-120"/>
              </a:rPr>
              <a:t>Before you turn the page</a:t>
            </a:r>
            <a:endParaRPr lang="en-US" sz="1450" dirty="0"/>
          </a:p>
        </p:txBody>
      </p:sp>
      <p:sp>
        <p:nvSpPr>
          <p:cNvPr id="11" name="Text 9"/>
          <p:cNvSpPr txBox="1"/>
          <p:nvPr/>
        </p:nvSpPr>
        <p:spPr>
          <a:xfrm>
            <a:off x="8028432" y="2084832"/>
            <a:ext cx="3291840" cy="329184"/>
          </a:xfrm>
          <a:prstGeom prst="rect">
            <a:avLst/>
          </a:prstGeom>
          <a:noFill/>
          <a:ln/>
        </p:spPr>
        <p:txBody>
          <a:bodyPr wrap="square" lIns="0" tIns="0" rIns="0" bIns="0" rtlCol="0" anchor="ctr"/>
          <a:lstStyle/>
          <a:p>
            <a:pPr indent="0" marL="0">
              <a:buNone/>
            </a:pPr>
            <a:r>
              <a:rPr lang="en-US" sz="1900" b="1" dirty="0">
                <a:solidFill>
                  <a:srgbClr val="1F2933"/>
                </a:solidFill>
                <a:latin typeface="Arial" pitchFamily="34" charset="0"/>
                <a:ea typeface="Arial" pitchFamily="34" charset="-122"/>
                <a:cs typeface="Arial" pitchFamily="34" charset="-120"/>
              </a:rPr>
              <a:t>Is that biology?</a:t>
            </a:r>
            <a:endParaRPr lang="en-US" sz="1900" dirty="0"/>
          </a:p>
        </p:txBody>
      </p:sp>
      <p:sp>
        <p:nvSpPr>
          <p:cNvPr id="12" name="Text 10"/>
          <p:cNvSpPr txBox="1"/>
          <p:nvPr/>
        </p:nvSpPr>
        <p:spPr>
          <a:xfrm>
            <a:off x="8028432" y="2523744"/>
            <a:ext cx="3291840" cy="1280160"/>
          </a:xfrm>
          <a:prstGeom prst="rect">
            <a:avLst/>
          </a:prstGeom>
          <a:noFill/>
          <a:ln/>
        </p:spPr>
        <p:txBody>
          <a:bodyPr wrap="square" lIns="0" tIns="0" rIns="0" bIns="0" rtlCol="0" anchor="t"/>
          <a:lstStyle/>
          <a:p>
            <a:pPr marL="177800" indent="-177800">
              <a:spcAft>
                <a:spcPts val="1000"/>
              </a:spcAft>
              <a:buSzPct val="100000"/>
              <a:buChar char="●"/>
            </a:pPr>
            <a:r>
              <a:rPr lang="en-US" sz="1150" dirty="0">
                <a:solidFill>
                  <a:srgbClr val="1F2933"/>
                </a:solidFill>
                <a:latin typeface="Arial" pitchFamily="34" charset="0"/>
                <a:ea typeface="Arial" pitchFamily="34" charset="-122"/>
                <a:cs typeface="Arial" pitchFamily="34" charset="-120"/>
              </a:rPr>
              <a:t>It contradicts a century of comparative anatomy and development.</a:t>
            </a:r>
            <a:endParaRPr lang="en-US" sz="1150" dirty="0"/>
          </a:p>
          <a:p>
            <a:pPr marL="177800" indent="-177800">
              <a:spcAft>
                <a:spcPts val="1000"/>
              </a:spcAft>
              <a:buSzPct val="100000"/>
              <a:buChar char="●"/>
            </a:pPr>
            <a:r>
              <a:rPr lang="en-US" sz="1150" dirty="0">
                <a:solidFill>
                  <a:srgbClr val="1F2933"/>
                </a:solidFill>
                <a:latin typeface="Arial" pitchFamily="34" charset="0"/>
                <a:ea typeface="Arial" pitchFamily="34" charset="-122"/>
                <a:cs typeface="Arial" pitchFamily="34" charset="-120"/>
              </a:rPr>
              <a:t>Conserved developmental pathways say the opposite.</a:t>
            </a:r>
            <a:endParaRPr lang="en-US" sz="1150" dirty="0"/>
          </a:p>
          <a:p>
            <a:pPr marL="177800" indent="-177800">
              <a:spcAft>
                <a:spcPts val="1000"/>
              </a:spcAft>
              <a:buSzPct val="100000"/>
              <a:buChar char="●"/>
            </a:pPr>
            <a:r>
              <a:rPr lang="en-US" sz="1150" dirty="0">
                <a:solidFill>
                  <a:srgbClr val="1F2933"/>
                </a:solidFill>
                <a:latin typeface="Arial" pitchFamily="34" charset="0"/>
                <a:ea typeface="Arial" pitchFamily="34" charset="-122"/>
                <a:cs typeface="Arial" pitchFamily="34" charset="-120"/>
              </a:rPr>
              <a:t>It was published, peer-reviewed, and widely covered.</a:t>
            </a:r>
            <a:endParaRPr lang="en-US" sz="1150" dirty="0"/>
          </a:p>
        </p:txBody>
      </p:sp>
      <p:sp>
        <p:nvSpPr>
          <p:cNvPr id="13" name="Text 11"/>
          <p:cNvSpPr txBox="1"/>
          <p:nvPr/>
        </p:nvSpPr>
        <p:spPr>
          <a:xfrm>
            <a:off x="615391" y="4892040"/>
            <a:ext cx="10963656" cy="320040"/>
          </a:xfrm>
          <a:prstGeom prst="rect">
            <a:avLst/>
          </a:prstGeom>
          <a:noFill/>
          <a:ln/>
        </p:spPr>
        <p:txBody>
          <a:bodyPr wrap="square" lIns="0" tIns="0" rIns="0" bIns="0" rtlCol="0" anchor="ctr"/>
          <a:lstStyle/>
          <a:p>
            <a:pPr indent="0" marL="0">
              <a:buNone/>
            </a:pPr>
            <a:r>
              <a:rPr lang="en-US" sz="1400" b="1" dirty="0">
                <a:solidFill>
                  <a:srgbClr val="205081"/>
                </a:solidFill>
                <a:latin typeface="Arial" pitchFamily="34" charset="0"/>
                <a:ea typeface="Arial" pitchFamily="34" charset="-122"/>
                <a:cs typeface="Arial" pitchFamily="34" charset="-120"/>
              </a:rPr>
              <a:t>Take thirty seconds. If you were reviewing this, what would you want to see?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615391" y="329184"/>
            <a:ext cx="10963656" cy="603504"/>
          </a:xfrm>
          <a:prstGeom prst="rect">
            <a:avLst/>
          </a:prstGeom>
          <a:noFill/>
          <a:ln/>
        </p:spPr>
        <p:txBody>
          <a:bodyPr wrap="square" lIns="0" tIns="0" rIns="0" bIns="0" rtlCol="0" anchor="ctr"/>
          <a:lstStyle/>
          <a:p>
            <a:pPr indent="0" marL="0">
              <a:buNone/>
            </a:pPr>
            <a:r>
              <a:rPr lang="en-US" sz="2800" b="1" dirty="0">
                <a:solidFill>
                  <a:srgbClr val="3172AE"/>
                </a:solidFill>
                <a:latin typeface="Arial" pitchFamily="34" charset="0"/>
                <a:ea typeface="Arial" pitchFamily="34" charset="-122"/>
                <a:cs typeface="Arial" pitchFamily="34" charset="-120"/>
              </a:rPr>
              <a:t>The design, not the biology</a:t>
            </a:r>
            <a:endParaRPr lang="en-US" sz="2800" dirty="0"/>
          </a:p>
        </p:txBody>
      </p:sp>
      <p:sp>
        <p:nvSpPr>
          <p:cNvPr id="3" name="Text 1"/>
          <p:cNvSpPr txBox="1"/>
          <p:nvPr/>
        </p:nvSpPr>
        <p:spPr>
          <a:xfrm>
            <a:off x="615391" y="941832"/>
            <a:ext cx="10963656" cy="274320"/>
          </a:xfrm>
          <a:prstGeom prst="rect">
            <a:avLst/>
          </a:prstGeom>
          <a:noFill/>
          <a:ln/>
        </p:spPr>
        <p:txBody>
          <a:bodyPr wrap="square" lIns="0" tIns="0" rIns="0" bIns="0" rtlCol="0" anchor="ctr"/>
          <a:lstStyle/>
          <a:p>
            <a:pPr indent="0" marL="0">
              <a:buNone/>
            </a:pPr>
            <a:r>
              <a:rPr lang="en-US" sz="1200" spc="110" kern="0" dirty="0">
                <a:solidFill>
                  <a:srgbClr val="9AA5B1"/>
                </a:solidFill>
                <a:latin typeface="Arial" pitchFamily="34" charset="0"/>
                <a:ea typeface="Arial" pitchFamily="34" charset="-122"/>
                <a:cs typeface="Arial" pitchFamily="34" charset="-120"/>
              </a:rPr>
              <a:t>EXPERIMENTAL DESIGN  ·  2/2</a:t>
            </a:r>
            <a:endParaRPr lang="en-US" sz="1200" dirty="0"/>
          </a:p>
        </p:txBody>
      </p:sp>
      <p:sp>
        <p:nvSpPr>
          <p:cNvPr id="4" name="Shape 2"/>
          <p:cNvSpPr/>
          <p:nvPr/>
        </p:nvSpPr>
        <p:spPr>
          <a:xfrm>
            <a:off x="615391" y="1481328"/>
            <a:ext cx="10963656" cy="960120"/>
          </a:xfrm>
          <a:prstGeom prst="roundRect">
            <a:avLst>
              <a:gd name="adj" fmla="val 5714"/>
            </a:avLst>
          </a:prstGeom>
          <a:solidFill>
            <a:srgbClr val="FFF8E6"/>
          </a:solidFill>
          <a:ln w="19050">
            <a:solidFill>
              <a:srgbClr val="FFC82C"/>
            </a:solidFill>
            <a:prstDash val="solid"/>
          </a:ln>
        </p:spPr>
      </p:sp>
      <p:sp>
        <p:nvSpPr>
          <p:cNvPr id="5" name="Text 3"/>
          <p:cNvSpPr txBox="1"/>
          <p:nvPr/>
        </p:nvSpPr>
        <p:spPr>
          <a:xfrm>
            <a:off x="981151" y="1664208"/>
            <a:ext cx="10232136" cy="310896"/>
          </a:xfrm>
          <a:prstGeom prst="rect">
            <a:avLst/>
          </a:prstGeom>
          <a:noFill/>
          <a:ln/>
        </p:spPr>
        <p:txBody>
          <a:bodyPr wrap="square" lIns="0" tIns="0" rIns="0" bIns="0" rtlCol="0" anchor="ctr"/>
          <a:lstStyle/>
          <a:p>
            <a:pPr indent="0" marL="0">
              <a:buNone/>
            </a:pPr>
            <a:r>
              <a:rPr lang="en-US" sz="1600" b="1" dirty="0">
                <a:solidFill>
                  <a:srgbClr val="1F2933"/>
                </a:solidFill>
                <a:latin typeface="Arial" pitchFamily="34" charset="0"/>
                <a:ea typeface="Arial" pitchFamily="34" charset="-122"/>
                <a:cs typeface="Arial" pitchFamily="34" charset="-120"/>
              </a:rPr>
              <a:t>Sequencing batch — which flow cell and lane a sample ran on — was almost perfectly confounded with species.</a:t>
            </a:r>
            <a:endParaRPr lang="en-US" sz="1600" dirty="0"/>
          </a:p>
        </p:txBody>
      </p:sp>
      <p:sp>
        <p:nvSpPr>
          <p:cNvPr id="6" name="Text 4"/>
          <p:cNvSpPr txBox="1"/>
          <p:nvPr/>
        </p:nvSpPr>
        <p:spPr>
          <a:xfrm>
            <a:off x="981151" y="2029968"/>
            <a:ext cx="10232136" cy="310896"/>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Gilad &amp; Mizrahi-Man, F1000Research 4:121 (2015). Human samples ran in one set of batches, mouse samples in another.</a:t>
            </a:r>
            <a:endParaRPr lang="en-US" sz="1200" dirty="0"/>
          </a:p>
        </p:txBody>
      </p:sp>
      <p:sp>
        <p:nvSpPr>
          <p:cNvPr id="7" name="Shape 5"/>
          <p:cNvSpPr/>
          <p:nvPr/>
        </p:nvSpPr>
        <p:spPr>
          <a:xfrm>
            <a:off x="615391" y="2596896"/>
            <a:ext cx="3493008" cy="2286000"/>
          </a:xfrm>
          <a:prstGeom prst="roundRect">
            <a:avLst>
              <a:gd name="adj" fmla="val 2400"/>
            </a:avLst>
          </a:prstGeom>
          <a:solidFill>
            <a:srgbClr val="FAFBFC"/>
          </a:solidFill>
          <a:ln w="12700">
            <a:solidFill>
              <a:srgbClr val="FAFBFC"/>
            </a:solidFill>
            <a:prstDash val="solid"/>
          </a:ln>
        </p:spPr>
      </p:sp>
      <p:sp>
        <p:nvSpPr>
          <p:cNvPr id="8" name="Shape 6"/>
          <p:cNvSpPr/>
          <p:nvPr/>
        </p:nvSpPr>
        <p:spPr>
          <a:xfrm>
            <a:off x="871423" y="2816352"/>
            <a:ext cx="146304" cy="146304"/>
          </a:xfrm>
          <a:prstGeom prst="diamond">
            <a:avLst/>
          </a:prstGeom>
          <a:solidFill>
            <a:srgbClr val="498BCA"/>
          </a:solidFill>
          <a:ln w="12700">
            <a:solidFill>
              <a:srgbClr val="498BCA"/>
            </a:solidFill>
            <a:prstDash val="solid"/>
          </a:ln>
        </p:spPr>
      </p:sp>
      <p:sp>
        <p:nvSpPr>
          <p:cNvPr id="9" name="Text 7"/>
          <p:cNvSpPr txBox="1"/>
          <p:nvPr/>
        </p:nvSpPr>
        <p:spPr>
          <a:xfrm>
            <a:off x="1182319" y="2743200"/>
            <a:ext cx="2743200" cy="274320"/>
          </a:xfrm>
          <a:prstGeom prst="rect">
            <a:avLst/>
          </a:prstGeom>
          <a:noFill/>
          <a:ln/>
        </p:spPr>
        <p:txBody>
          <a:bodyPr wrap="square" lIns="0" tIns="0" rIns="0" bIns="0" rtlCol="0" anchor="ctr"/>
          <a:lstStyle/>
          <a:p>
            <a:pPr indent="0" marL="0">
              <a:buNone/>
            </a:pPr>
            <a:r>
              <a:rPr lang="en-US" sz="1400" b="1" dirty="0">
                <a:solidFill>
                  <a:srgbClr val="1F2933"/>
                </a:solidFill>
                <a:latin typeface="Arial" pitchFamily="34" charset="0"/>
                <a:ea typeface="Arial" pitchFamily="34" charset="-122"/>
                <a:cs typeface="Arial" pitchFamily="34" charset="-120"/>
              </a:rPr>
              <a:t>What they did</a:t>
            </a:r>
            <a:endParaRPr lang="en-US" sz="1400" dirty="0"/>
          </a:p>
        </p:txBody>
      </p:sp>
      <p:sp>
        <p:nvSpPr>
          <p:cNvPr id="10" name="Text 8"/>
          <p:cNvSpPr txBox="1"/>
          <p:nvPr/>
        </p:nvSpPr>
        <p:spPr>
          <a:xfrm>
            <a:off x="871423" y="3127248"/>
            <a:ext cx="3017520" cy="1645920"/>
          </a:xfrm>
          <a:prstGeom prst="rect">
            <a:avLst/>
          </a:prstGeom>
          <a:noFill/>
          <a:ln/>
        </p:spPr>
        <p:txBody>
          <a:bodyPr wrap="square" lIns="0" tIns="0" rIns="0" bIns="0" rtlCol="0" anchor="t"/>
          <a:lstStyle/>
          <a:p>
            <a:pPr marL="177800" indent="-177800">
              <a:spcAft>
                <a:spcPts val="900"/>
              </a:spcAft>
              <a:buSzPct val="100000"/>
              <a:buChar char="●"/>
            </a:pPr>
            <a:r>
              <a:rPr lang="en-US" sz="1150" dirty="0">
                <a:solidFill>
                  <a:srgbClr val="1F2933"/>
                </a:solidFill>
                <a:latin typeface="Arial" pitchFamily="34" charset="0"/>
                <a:ea typeface="Arial" pitchFamily="34" charset="-122"/>
                <a:cs typeface="Arial" pitchFamily="34" charset="-120"/>
              </a:rPr>
              <a:t>Recovered batch identity from the read headers of the public FASTQ files.</a:t>
            </a:r>
            <a:endParaRPr lang="en-US" sz="1150" dirty="0"/>
          </a:p>
          <a:p>
            <a:pPr marL="177800" indent="-177800">
              <a:spcAft>
                <a:spcPts val="900"/>
              </a:spcAft>
              <a:buSzPct val="100000"/>
              <a:buChar char="●"/>
            </a:pPr>
            <a:r>
              <a:rPr lang="en-US" sz="1150" dirty="0">
                <a:solidFill>
                  <a:srgbClr val="1F2933"/>
                </a:solidFill>
                <a:latin typeface="Arial" pitchFamily="34" charset="0"/>
                <a:ea typeface="Arial" pitchFamily="34" charset="-122"/>
                <a:cs typeface="Arial" pitchFamily="34" charset="-120"/>
              </a:rPr>
              <a:t>Showed batch and species were nearly collinear.</a:t>
            </a:r>
            <a:endParaRPr lang="en-US" sz="1150" dirty="0"/>
          </a:p>
          <a:p>
            <a:pPr marL="177800" indent="-177800">
              <a:spcAft>
                <a:spcPts val="900"/>
              </a:spcAft>
              <a:buSzPct val="100000"/>
              <a:buChar char="●"/>
            </a:pPr>
            <a:r>
              <a:rPr lang="en-US" sz="1150" dirty="0">
                <a:solidFill>
                  <a:srgbClr val="1F2933"/>
                </a:solidFill>
                <a:latin typeface="Arial" pitchFamily="34" charset="0"/>
                <a:ea typeface="Arial" pitchFamily="34" charset="-122"/>
                <a:cs typeface="Arial" pitchFamily="34" charset="-120"/>
              </a:rPr>
              <a:t>Corrected for batch and re-clustered.</a:t>
            </a:r>
            <a:endParaRPr lang="en-US" sz="1150" dirty="0"/>
          </a:p>
        </p:txBody>
      </p:sp>
      <p:sp>
        <p:nvSpPr>
          <p:cNvPr id="11" name="Shape 9"/>
          <p:cNvSpPr/>
          <p:nvPr/>
        </p:nvSpPr>
        <p:spPr>
          <a:xfrm>
            <a:off x="4327855" y="2596896"/>
            <a:ext cx="3493008" cy="2286000"/>
          </a:xfrm>
          <a:prstGeom prst="roundRect">
            <a:avLst>
              <a:gd name="adj" fmla="val 2400"/>
            </a:avLst>
          </a:prstGeom>
          <a:solidFill>
            <a:srgbClr val="FAFBFC"/>
          </a:solidFill>
          <a:ln w="12700">
            <a:solidFill>
              <a:srgbClr val="FAFBFC"/>
            </a:solidFill>
            <a:prstDash val="solid"/>
          </a:ln>
        </p:spPr>
      </p:sp>
      <p:sp>
        <p:nvSpPr>
          <p:cNvPr id="12" name="Shape 10"/>
          <p:cNvSpPr/>
          <p:nvPr/>
        </p:nvSpPr>
        <p:spPr>
          <a:xfrm>
            <a:off x="4583887" y="2816352"/>
            <a:ext cx="146304" cy="146304"/>
          </a:xfrm>
          <a:prstGeom prst="diamond">
            <a:avLst/>
          </a:prstGeom>
          <a:solidFill>
            <a:srgbClr val="C0CD30"/>
          </a:solidFill>
          <a:ln w="12700">
            <a:solidFill>
              <a:srgbClr val="C0CD30"/>
            </a:solidFill>
            <a:prstDash val="solid"/>
          </a:ln>
        </p:spPr>
      </p:sp>
      <p:sp>
        <p:nvSpPr>
          <p:cNvPr id="13" name="Text 11"/>
          <p:cNvSpPr txBox="1"/>
          <p:nvPr/>
        </p:nvSpPr>
        <p:spPr>
          <a:xfrm>
            <a:off x="4894783" y="2743200"/>
            <a:ext cx="2743200" cy="274320"/>
          </a:xfrm>
          <a:prstGeom prst="rect">
            <a:avLst/>
          </a:prstGeom>
          <a:noFill/>
          <a:ln/>
        </p:spPr>
        <p:txBody>
          <a:bodyPr wrap="square" lIns="0" tIns="0" rIns="0" bIns="0" rtlCol="0" anchor="ctr"/>
          <a:lstStyle/>
          <a:p>
            <a:pPr indent="0" marL="0">
              <a:buNone/>
            </a:pPr>
            <a:r>
              <a:rPr lang="en-US" sz="1400" b="1" dirty="0">
                <a:solidFill>
                  <a:srgbClr val="1F2933"/>
                </a:solidFill>
                <a:latin typeface="Arial" pitchFamily="34" charset="0"/>
                <a:ea typeface="Arial" pitchFamily="34" charset="-122"/>
                <a:cs typeface="Arial" pitchFamily="34" charset="-120"/>
              </a:rPr>
              <a:t>What happened</a:t>
            </a:r>
            <a:endParaRPr lang="en-US" sz="1400" dirty="0"/>
          </a:p>
        </p:txBody>
      </p:sp>
      <p:sp>
        <p:nvSpPr>
          <p:cNvPr id="14" name="Text 12"/>
          <p:cNvSpPr txBox="1"/>
          <p:nvPr/>
        </p:nvSpPr>
        <p:spPr>
          <a:xfrm>
            <a:off x="4583887" y="3127248"/>
            <a:ext cx="3017520" cy="1645920"/>
          </a:xfrm>
          <a:prstGeom prst="rect">
            <a:avLst/>
          </a:prstGeom>
          <a:noFill/>
          <a:ln/>
        </p:spPr>
        <p:txBody>
          <a:bodyPr wrap="square" lIns="0" tIns="0" rIns="0" bIns="0" rtlCol="0" anchor="t"/>
          <a:lstStyle/>
          <a:p>
            <a:pPr marL="177800" indent="-177800">
              <a:spcAft>
                <a:spcPts val="900"/>
              </a:spcAft>
              <a:buSzPct val="100000"/>
              <a:buChar char="●"/>
            </a:pPr>
            <a:r>
              <a:rPr lang="en-US" sz="1150" dirty="0">
                <a:solidFill>
                  <a:srgbClr val="1F2933"/>
                </a:solidFill>
                <a:latin typeface="Arial" pitchFamily="34" charset="0"/>
                <a:ea typeface="Arial" pitchFamily="34" charset="-122"/>
                <a:cs typeface="Arial" pitchFamily="34" charset="-120"/>
              </a:rPr>
              <a:t>Samples clustered by tissue, as a century of biology says they should.</a:t>
            </a:r>
            <a:endParaRPr lang="en-US" sz="1150" dirty="0"/>
          </a:p>
          <a:p>
            <a:pPr marL="177800" indent="-177800">
              <a:spcAft>
                <a:spcPts val="900"/>
              </a:spcAft>
              <a:buSzPct val="100000"/>
              <a:buChar char="●"/>
            </a:pPr>
            <a:r>
              <a:rPr lang="en-US" sz="1150" dirty="0">
                <a:solidFill>
                  <a:srgbClr val="1F2933"/>
                </a:solidFill>
                <a:latin typeface="Arial" pitchFamily="34" charset="0"/>
                <a:ea typeface="Arial" pitchFamily="34" charset="-122"/>
                <a:cs typeface="Arial" pitchFamily="34" charset="-120"/>
              </a:rPr>
              <a:t>The species-clustering result did not survive.</a:t>
            </a:r>
            <a:endParaRPr lang="en-US" sz="1150" dirty="0"/>
          </a:p>
          <a:p>
            <a:pPr marL="177800" indent="-177800">
              <a:spcAft>
                <a:spcPts val="900"/>
              </a:spcAft>
              <a:buSzPct val="100000"/>
              <a:buChar char="●"/>
            </a:pPr>
            <a:r>
              <a:rPr lang="en-US" sz="1150" dirty="0">
                <a:solidFill>
                  <a:srgbClr val="1F2933"/>
                </a:solidFill>
                <a:latin typeface="Arial" pitchFamily="34" charset="0"/>
                <a:ea typeface="Arial" pitchFamily="34" charset="-122"/>
                <a:cs typeface="Arial" pitchFamily="34" charset="-120"/>
              </a:rPr>
              <a:t>The original data were fine. The assignment of samples to runs was not.</a:t>
            </a:r>
            <a:endParaRPr lang="en-US" sz="1150" dirty="0"/>
          </a:p>
        </p:txBody>
      </p:sp>
      <p:sp>
        <p:nvSpPr>
          <p:cNvPr id="15" name="Shape 13"/>
          <p:cNvSpPr/>
          <p:nvPr/>
        </p:nvSpPr>
        <p:spPr>
          <a:xfrm>
            <a:off x="8040319" y="2596896"/>
            <a:ext cx="3493008" cy="2286000"/>
          </a:xfrm>
          <a:prstGeom prst="roundRect">
            <a:avLst>
              <a:gd name="adj" fmla="val 2400"/>
            </a:avLst>
          </a:prstGeom>
          <a:solidFill>
            <a:srgbClr val="FAFBFC"/>
          </a:solidFill>
          <a:ln w="12700">
            <a:solidFill>
              <a:srgbClr val="FAFBFC"/>
            </a:solidFill>
            <a:prstDash val="solid"/>
          </a:ln>
        </p:spPr>
      </p:sp>
      <p:sp>
        <p:nvSpPr>
          <p:cNvPr id="16" name="Shape 14"/>
          <p:cNvSpPr/>
          <p:nvPr/>
        </p:nvSpPr>
        <p:spPr>
          <a:xfrm>
            <a:off x="8296351" y="2816352"/>
            <a:ext cx="146304" cy="146304"/>
          </a:xfrm>
          <a:prstGeom prst="diamond">
            <a:avLst/>
          </a:prstGeom>
          <a:solidFill>
            <a:srgbClr val="FFC82C"/>
          </a:solidFill>
          <a:ln w="12700">
            <a:solidFill>
              <a:srgbClr val="FFC82C"/>
            </a:solidFill>
            <a:prstDash val="solid"/>
          </a:ln>
        </p:spPr>
      </p:sp>
      <p:sp>
        <p:nvSpPr>
          <p:cNvPr id="17" name="Text 15"/>
          <p:cNvSpPr txBox="1"/>
          <p:nvPr/>
        </p:nvSpPr>
        <p:spPr>
          <a:xfrm>
            <a:off x="8607247" y="2743200"/>
            <a:ext cx="2743200" cy="274320"/>
          </a:xfrm>
          <a:prstGeom prst="rect">
            <a:avLst/>
          </a:prstGeom>
          <a:noFill/>
          <a:ln/>
        </p:spPr>
        <p:txBody>
          <a:bodyPr wrap="square" lIns="0" tIns="0" rIns="0" bIns="0" rtlCol="0" anchor="ctr"/>
          <a:lstStyle/>
          <a:p>
            <a:pPr indent="0" marL="0">
              <a:buNone/>
            </a:pPr>
            <a:r>
              <a:rPr lang="en-US" sz="1400" b="1" dirty="0">
                <a:solidFill>
                  <a:srgbClr val="1F2933"/>
                </a:solidFill>
                <a:latin typeface="Arial" pitchFamily="34" charset="0"/>
                <a:ea typeface="Arial" pitchFamily="34" charset="-122"/>
                <a:cs typeface="Arial" pitchFamily="34" charset="-120"/>
              </a:rPr>
              <a:t>What it costs you</a:t>
            </a:r>
            <a:endParaRPr lang="en-US" sz="1400" dirty="0"/>
          </a:p>
        </p:txBody>
      </p:sp>
      <p:sp>
        <p:nvSpPr>
          <p:cNvPr id="18" name="Text 16"/>
          <p:cNvSpPr txBox="1"/>
          <p:nvPr/>
        </p:nvSpPr>
        <p:spPr>
          <a:xfrm>
            <a:off x="8296351" y="3127248"/>
            <a:ext cx="3017520" cy="1645920"/>
          </a:xfrm>
          <a:prstGeom prst="rect">
            <a:avLst/>
          </a:prstGeom>
          <a:noFill/>
          <a:ln/>
        </p:spPr>
        <p:txBody>
          <a:bodyPr wrap="square" lIns="0" tIns="0" rIns="0" bIns="0" rtlCol="0" anchor="t"/>
          <a:lstStyle/>
          <a:p>
            <a:pPr marL="177800" indent="-177800">
              <a:spcAft>
                <a:spcPts val="900"/>
              </a:spcAft>
              <a:buSzPct val="100000"/>
              <a:buChar char="●"/>
            </a:pPr>
            <a:r>
              <a:rPr lang="en-US" sz="1150" dirty="0">
                <a:solidFill>
                  <a:srgbClr val="1F2933"/>
                </a:solidFill>
                <a:latin typeface="Arial" pitchFamily="34" charset="0"/>
                <a:ea typeface="Arial" pitchFamily="34" charset="-122"/>
                <a:cs typeface="Arial" pitchFamily="34" charset="-120"/>
              </a:rPr>
              <a:t>A high-profile result, publicly overturned.</a:t>
            </a:r>
            <a:endParaRPr lang="en-US" sz="1150" dirty="0"/>
          </a:p>
          <a:p>
            <a:pPr marL="177800" indent="-177800">
              <a:spcAft>
                <a:spcPts val="900"/>
              </a:spcAft>
              <a:buSzPct val="100000"/>
              <a:buChar char="●"/>
            </a:pPr>
            <a:r>
              <a:rPr lang="en-US" sz="1150" dirty="0">
                <a:solidFill>
                  <a:srgbClr val="1F2933"/>
                </a:solidFill>
                <a:latin typeface="Arial" pitchFamily="34" charset="0"/>
                <a:ea typeface="Arial" pitchFamily="34" charset="-122"/>
                <a:cs typeface="Arial" pitchFamily="34" charset="-120"/>
              </a:rPr>
              <a:t>Years of downstream work built on it.</a:t>
            </a:r>
            <a:endParaRPr lang="en-US" sz="1150" dirty="0"/>
          </a:p>
          <a:p>
            <a:pPr marL="177800" indent="-177800">
              <a:spcAft>
                <a:spcPts val="900"/>
              </a:spcAft>
              <a:buSzPct val="100000"/>
              <a:buChar char="●"/>
            </a:pPr>
            <a:r>
              <a:rPr lang="en-US" sz="1150" dirty="0">
                <a:solidFill>
                  <a:srgbClr val="1F2933"/>
                </a:solidFill>
                <a:latin typeface="Arial" pitchFamily="34" charset="0"/>
                <a:ea typeface="Arial" pitchFamily="34" charset="-122"/>
                <a:cs typeface="Arial" pitchFamily="34" charset="-120"/>
              </a:rPr>
              <a:t>None of it fixable without re-sequencing.</a:t>
            </a:r>
            <a:endParaRPr lang="en-US" sz="1150" dirty="0"/>
          </a:p>
        </p:txBody>
      </p:sp>
      <p:sp>
        <p:nvSpPr>
          <p:cNvPr id="19" name="Text 17"/>
          <p:cNvSpPr txBox="1"/>
          <p:nvPr/>
        </p:nvSpPr>
        <p:spPr>
          <a:xfrm>
            <a:off x="615391" y="5029200"/>
            <a:ext cx="10963656" cy="365760"/>
          </a:xfrm>
          <a:prstGeom prst="rect">
            <a:avLst/>
          </a:prstGeom>
          <a:noFill/>
          <a:ln/>
        </p:spPr>
        <p:txBody>
          <a:bodyPr wrap="square" lIns="0" tIns="0" rIns="0" bIns="0" rtlCol="0" anchor="ctr"/>
          <a:lstStyle/>
          <a:p>
            <a:pPr indent="0" marL="0">
              <a:buNone/>
            </a:pPr>
            <a:r>
              <a:rPr lang="en-US" sz="1350" b="1" dirty="0">
                <a:solidFill>
                  <a:srgbClr val="205081"/>
                </a:solidFill>
                <a:latin typeface="Arial" pitchFamily="34" charset="0"/>
                <a:ea typeface="Arial" pitchFamily="34" charset="-122"/>
                <a:cs typeface="Arial" pitchFamily="34" charset="-120"/>
              </a:rPr>
              <a:t>Hold on to one detail: the fix was only possible because the FASTQ headers still recorded flow cell and lane. We come back to that in fifteen minutes.</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615391" y="329184"/>
            <a:ext cx="10963656" cy="603504"/>
          </a:xfrm>
          <a:prstGeom prst="rect">
            <a:avLst/>
          </a:prstGeom>
          <a:noFill/>
          <a:ln/>
        </p:spPr>
        <p:txBody>
          <a:bodyPr wrap="square" lIns="0" tIns="0" rIns="0" bIns="0" rtlCol="0" anchor="ctr"/>
          <a:lstStyle/>
          <a:p>
            <a:pPr indent="0" marL="0">
              <a:buNone/>
            </a:pPr>
            <a:r>
              <a:rPr lang="en-US" sz="2800" b="1" dirty="0">
                <a:solidFill>
                  <a:srgbClr val="3172AE"/>
                </a:solidFill>
                <a:latin typeface="Arial" pitchFamily="34" charset="0"/>
                <a:ea typeface="Arial" pitchFamily="34" charset="-122"/>
                <a:cs typeface="Arial" pitchFamily="34" charset="-120"/>
              </a:rPr>
              <a:t>Confounding, and the one question that detects it</a:t>
            </a:r>
            <a:endParaRPr lang="en-US" sz="2800" dirty="0"/>
          </a:p>
        </p:txBody>
      </p:sp>
      <p:sp>
        <p:nvSpPr>
          <p:cNvPr id="3" name="Text 1"/>
          <p:cNvSpPr txBox="1"/>
          <p:nvPr/>
        </p:nvSpPr>
        <p:spPr>
          <a:xfrm>
            <a:off x="615391" y="941832"/>
            <a:ext cx="10963656" cy="274320"/>
          </a:xfrm>
          <a:prstGeom prst="rect">
            <a:avLst/>
          </a:prstGeom>
          <a:noFill/>
          <a:ln/>
        </p:spPr>
        <p:txBody>
          <a:bodyPr wrap="square" lIns="0" tIns="0" rIns="0" bIns="0" rtlCol="0" anchor="ctr"/>
          <a:lstStyle/>
          <a:p>
            <a:pPr indent="0" marL="0">
              <a:buNone/>
            </a:pPr>
            <a:r>
              <a:rPr lang="en-US" sz="1200" spc="110" kern="0" dirty="0">
                <a:solidFill>
                  <a:srgbClr val="9AA5B1"/>
                </a:solidFill>
                <a:latin typeface="Arial" pitchFamily="34" charset="0"/>
                <a:ea typeface="Arial" pitchFamily="34" charset="-122"/>
                <a:cs typeface="Arial" pitchFamily="34" charset="-120"/>
              </a:rPr>
              <a:t>EXPERIMENTAL DESIGN</a:t>
            </a:r>
            <a:endParaRPr lang="en-US" sz="1200" dirty="0"/>
          </a:p>
        </p:txBody>
      </p:sp>
      <p:sp>
        <p:nvSpPr>
          <p:cNvPr id="4" name="Shape 2"/>
          <p:cNvSpPr/>
          <p:nvPr/>
        </p:nvSpPr>
        <p:spPr>
          <a:xfrm>
            <a:off x="615391" y="1481328"/>
            <a:ext cx="5486400" cy="1051560"/>
          </a:xfrm>
          <a:prstGeom prst="roundRect">
            <a:avLst>
              <a:gd name="adj" fmla="val 5217"/>
            </a:avLst>
          </a:prstGeom>
          <a:solidFill>
            <a:srgbClr val="EEF4FA"/>
          </a:solidFill>
          <a:ln w="12700">
            <a:solidFill>
              <a:srgbClr val="EEF4FA"/>
            </a:solidFill>
            <a:prstDash val="solid"/>
          </a:ln>
        </p:spPr>
      </p:sp>
      <p:sp>
        <p:nvSpPr>
          <p:cNvPr id="5" name="Text 3"/>
          <p:cNvSpPr txBox="1"/>
          <p:nvPr/>
        </p:nvSpPr>
        <p:spPr>
          <a:xfrm>
            <a:off x="926287" y="1682496"/>
            <a:ext cx="4937760" cy="640080"/>
          </a:xfrm>
          <a:prstGeom prst="rect">
            <a:avLst/>
          </a:prstGeom>
          <a:noFill/>
          <a:ln/>
        </p:spPr>
        <p:txBody>
          <a:bodyPr wrap="square" lIns="0" tIns="0" rIns="0" bIns="0" rtlCol="0" anchor="ctr"/>
          <a:lstStyle/>
          <a:p>
            <a:pPr indent="0" marL="0">
              <a:lnSpc>
                <a:spcPts val="1900"/>
              </a:lnSpc>
              <a:buNone/>
            </a:pPr>
            <a:r>
              <a:rPr lang="en-US" sz="1400" dirty="0">
                <a:solidFill>
                  <a:srgbClr val="1F2933"/>
                </a:solidFill>
                <a:latin typeface="Arial" pitchFamily="34" charset="0"/>
                <a:ea typeface="Arial" pitchFamily="34" charset="-122"/>
                <a:cs typeface="Arial" pitchFamily="34" charset="-120"/>
              </a:rPr>
              <a:t>Two variables are confounded when you cannot tell their effects apart, because they vary together.</a:t>
            </a:r>
            <a:endParaRPr lang="en-US" sz="1400" dirty="0"/>
          </a:p>
        </p:txBody>
      </p:sp>
      <p:sp>
        <p:nvSpPr>
          <p:cNvPr id="6" name="Shape 4"/>
          <p:cNvSpPr/>
          <p:nvPr/>
        </p:nvSpPr>
        <p:spPr>
          <a:xfrm>
            <a:off x="615391" y="2688336"/>
            <a:ext cx="5486400" cy="1371600"/>
          </a:xfrm>
          <a:prstGeom prst="roundRect">
            <a:avLst>
              <a:gd name="adj" fmla="val 4000"/>
            </a:avLst>
          </a:prstGeom>
          <a:solidFill>
            <a:srgbClr val="FAFBFC"/>
          </a:solidFill>
          <a:ln w="19050">
            <a:solidFill>
              <a:srgbClr val="498BCA"/>
            </a:solidFill>
            <a:prstDash val="solid"/>
          </a:ln>
        </p:spPr>
      </p:sp>
      <p:sp>
        <p:nvSpPr>
          <p:cNvPr id="7" name="Text 5"/>
          <p:cNvSpPr txBox="1"/>
          <p:nvPr/>
        </p:nvSpPr>
        <p:spPr>
          <a:xfrm>
            <a:off x="926287" y="2852928"/>
            <a:ext cx="4937760" cy="274320"/>
          </a:xfrm>
          <a:prstGeom prst="rect">
            <a:avLst/>
          </a:prstGeom>
          <a:noFill/>
          <a:ln/>
        </p:spPr>
        <p:txBody>
          <a:bodyPr wrap="square" lIns="0" tIns="0" rIns="0" bIns="0" rtlCol="0" anchor="ctr"/>
          <a:lstStyle/>
          <a:p>
            <a:pPr indent="0" marL="0">
              <a:buNone/>
            </a:pPr>
            <a:r>
              <a:rPr lang="en-US" sz="1300" b="1" dirty="0">
                <a:solidFill>
                  <a:srgbClr val="3172AE"/>
                </a:solidFill>
                <a:latin typeface="Arial" pitchFamily="34" charset="0"/>
                <a:ea typeface="Arial" pitchFamily="34" charset="-122"/>
                <a:cs typeface="Arial" pitchFamily="34" charset="-120"/>
              </a:rPr>
              <a:t>Ask this, every time:</a:t>
            </a:r>
            <a:endParaRPr lang="en-US" sz="1300" dirty="0"/>
          </a:p>
        </p:txBody>
      </p:sp>
      <p:sp>
        <p:nvSpPr>
          <p:cNvPr id="8" name="Text 6"/>
          <p:cNvSpPr txBox="1"/>
          <p:nvPr/>
        </p:nvSpPr>
        <p:spPr>
          <a:xfrm>
            <a:off x="926287" y="3163824"/>
            <a:ext cx="4937760" cy="566928"/>
          </a:xfrm>
          <a:prstGeom prst="rect">
            <a:avLst/>
          </a:prstGeom>
          <a:noFill/>
          <a:ln/>
        </p:spPr>
        <p:txBody>
          <a:bodyPr wrap="square" lIns="0" tIns="0" rIns="0" bIns="0" rtlCol="0" anchor="ctr"/>
          <a:lstStyle/>
          <a:p>
            <a:pPr indent="0" marL="0">
              <a:lnSpc>
                <a:spcPts val="1900"/>
              </a:lnSpc>
              <a:buNone/>
            </a:pPr>
            <a:r>
              <a:rPr lang="en-US" sz="1450" b="1" dirty="0">
                <a:solidFill>
                  <a:srgbClr val="1F2933"/>
                </a:solidFill>
                <a:latin typeface="Arial" pitchFamily="34" charset="0"/>
                <a:ea typeface="Arial" pitchFamily="34" charset="-122"/>
                <a:cs typeface="Arial" pitchFamily="34" charset="-120"/>
              </a:rPr>
              <a:t>“For each level of the variable I care about, do I have samples from more than one batch?”</a:t>
            </a:r>
            <a:endParaRPr lang="en-US" sz="1450" dirty="0"/>
          </a:p>
        </p:txBody>
      </p:sp>
      <p:sp>
        <p:nvSpPr>
          <p:cNvPr id="9" name="Text 7"/>
          <p:cNvSpPr txBox="1"/>
          <p:nvPr/>
        </p:nvSpPr>
        <p:spPr>
          <a:xfrm>
            <a:off x="926287" y="3749040"/>
            <a:ext cx="4937760" cy="256032"/>
          </a:xfrm>
          <a:prstGeom prst="rect">
            <a:avLst/>
          </a:prstGeom>
          <a:noFill/>
          <a:ln/>
        </p:spPr>
        <p:txBody>
          <a:bodyPr wrap="square" lIns="0" tIns="0" rIns="0" bIns="0" rtlCol="0" anchor="ctr"/>
          <a:lstStyle/>
          <a:p>
            <a:pPr indent="0" marL="0">
              <a:buNone/>
            </a:pPr>
            <a:r>
              <a:rPr lang="en-US" sz="1200" dirty="0">
                <a:solidFill>
                  <a:srgbClr val="6B7280"/>
                </a:solidFill>
                <a:latin typeface="Arial" pitchFamily="34" charset="0"/>
                <a:ea typeface="Arial" pitchFamily="34" charset="-122"/>
                <a:cs typeface="Arial" pitchFamily="34" charset="-120"/>
              </a:rPr>
              <a:t>If the answer is no, you are confounded, and no software will save you.</a:t>
            </a:r>
            <a:endParaRPr lang="en-US" sz="1200" dirty="0"/>
          </a:p>
        </p:txBody>
      </p:sp>
      <p:sp>
        <p:nvSpPr>
          <p:cNvPr id="10" name="Text 8"/>
          <p:cNvSpPr txBox="1"/>
          <p:nvPr/>
        </p:nvSpPr>
        <p:spPr>
          <a:xfrm>
            <a:off x="6492240" y="1481328"/>
            <a:ext cx="2286000" cy="274320"/>
          </a:xfrm>
          <a:prstGeom prst="rect">
            <a:avLst/>
          </a:prstGeom>
          <a:noFill/>
          <a:ln/>
        </p:spPr>
        <p:txBody>
          <a:bodyPr wrap="square" lIns="0" tIns="0" rIns="0" bIns="0" rtlCol="0" anchor="ctr"/>
          <a:lstStyle/>
          <a:p>
            <a:pPr indent="0" marL="0">
              <a:buNone/>
            </a:pPr>
            <a:r>
              <a:rPr lang="en-US" sz="1300" b="1" dirty="0">
                <a:solidFill>
                  <a:srgbClr val="1F2933"/>
                </a:solidFill>
                <a:latin typeface="Arial" pitchFamily="34" charset="0"/>
                <a:ea typeface="Arial" pitchFamily="34" charset="-122"/>
                <a:cs typeface="Arial" pitchFamily="34" charset="-120"/>
              </a:rPr>
              <a:t>Confounded</a:t>
            </a:r>
            <a:endParaRPr lang="en-US" sz="1300" dirty="0"/>
          </a:p>
        </p:txBody>
      </p:sp>
      <p:sp>
        <p:nvSpPr>
          <p:cNvPr id="11" name="Text 9"/>
          <p:cNvSpPr txBox="1"/>
          <p:nvPr/>
        </p:nvSpPr>
        <p:spPr>
          <a:xfrm>
            <a:off x="7269480" y="1810512"/>
            <a:ext cx="822960" cy="219456"/>
          </a:xfrm>
          <a:prstGeom prst="rect">
            <a:avLst/>
          </a:prstGeom>
          <a:noFill/>
          <a:ln/>
        </p:spPr>
        <p:txBody>
          <a:bodyPr wrap="square" lIns="0" tIns="0" rIns="0" bIns="0" rtlCol="0" anchor="ctr"/>
          <a:lstStyle/>
          <a:p>
            <a:pPr algn="ctr" indent="0" marL="0">
              <a:buNone/>
            </a:pPr>
            <a:r>
              <a:rPr lang="en-US" sz="950" dirty="0">
                <a:solidFill>
                  <a:srgbClr val="6B7280"/>
                </a:solidFill>
                <a:latin typeface="Arial" pitchFamily="34" charset="0"/>
                <a:ea typeface="Arial" pitchFamily="34" charset="-122"/>
                <a:cs typeface="Arial" pitchFamily="34" charset="-120"/>
              </a:rPr>
              <a:t>Batch 1</a:t>
            </a:r>
            <a:endParaRPr lang="en-US" sz="950" dirty="0"/>
          </a:p>
        </p:txBody>
      </p:sp>
      <p:sp>
        <p:nvSpPr>
          <p:cNvPr id="12" name="Text 10"/>
          <p:cNvSpPr txBox="1"/>
          <p:nvPr/>
        </p:nvSpPr>
        <p:spPr>
          <a:xfrm>
            <a:off x="8138160" y="1810512"/>
            <a:ext cx="822960" cy="219456"/>
          </a:xfrm>
          <a:prstGeom prst="rect">
            <a:avLst/>
          </a:prstGeom>
          <a:noFill/>
          <a:ln/>
        </p:spPr>
        <p:txBody>
          <a:bodyPr wrap="square" lIns="0" tIns="0" rIns="0" bIns="0" rtlCol="0" anchor="ctr"/>
          <a:lstStyle/>
          <a:p>
            <a:pPr algn="ctr" indent="0" marL="0">
              <a:buNone/>
            </a:pPr>
            <a:r>
              <a:rPr lang="en-US" sz="950" dirty="0">
                <a:solidFill>
                  <a:srgbClr val="6B7280"/>
                </a:solidFill>
                <a:latin typeface="Arial" pitchFamily="34" charset="0"/>
                <a:ea typeface="Arial" pitchFamily="34" charset="-122"/>
                <a:cs typeface="Arial" pitchFamily="34" charset="-120"/>
              </a:rPr>
              <a:t>Batch 2</a:t>
            </a:r>
            <a:endParaRPr lang="en-US" sz="950" dirty="0"/>
          </a:p>
        </p:txBody>
      </p:sp>
      <p:sp>
        <p:nvSpPr>
          <p:cNvPr id="13" name="Text 11"/>
          <p:cNvSpPr txBox="1"/>
          <p:nvPr/>
        </p:nvSpPr>
        <p:spPr>
          <a:xfrm>
            <a:off x="6492240" y="2103120"/>
            <a:ext cx="731520" cy="36576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Control</a:t>
            </a:r>
            <a:endParaRPr lang="en-US" sz="1000" dirty="0"/>
          </a:p>
        </p:txBody>
      </p:sp>
      <p:sp>
        <p:nvSpPr>
          <p:cNvPr id="14" name="Shape 12"/>
          <p:cNvSpPr/>
          <p:nvPr/>
        </p:nvSpPr>
        <p:spPr>
          <a:xfrm>
            <a:off x="7269480" y="2084832"/>
            <a:ext cx="822960" cy="420624"/>
          </a:xfrm>
          <a:prstGeom prst="roundRect">
            <a:avLst>
              <a:gd name="adj" fmla="val 10870"/>
            </a:avLst>
          </a:prstGeom>
          <a:solidFill>
            <a:srgbClr val="D98B32"/>
          </a:solidFill>
          <a:ln w="12700">
            <a:solidFill>
              <a:srgbClr val="D98B32"/>
            </a:solidFill>
            <a:prstDash val="solid"/>
          </a:ln>
        </p:spPr>
      </p:sp>
      <p:sp>
        <p:nvSpPr>
          <p:cNvPr id="15" name="Text 13"/>
          <p:cNvSpPr txBox="1"/>
          <p:nvPr/>
        </p:nvSpPr>
        <p:spPr>
          <a:xfrm>
            <a:off x="7269480" y="2139696"/>
            <a:ext cx="82296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n = 3</a:t>
            </a:r>
            <a:endParaRPr lang="en-US" sz="1000" dirty="0"/>
          </a:p>
        </p:txBody>
      </p:sp>
      <p:sp>
        <p:nvSpPr>
          <p:cNvPr id="16" name="Shape 14"/>
          <p:cNvSpPr/>
          <p:nvPr/>
        </p:nvSpPr>
        <p:spPr>
          <a:xfrm>
            <a:off x="8138160" y="2084832"/>
            <a:ext cx="822960" cy="420624"/>
          </a:xfrm>
          <a:prstGeom prst="roundRect">
            <a:avLst>
              <a:gd name="adj" fmla="val 10870"/>
            </a:avLst>
          </a:prstGeom>
          <a:solidFill>
            <a:srgbClr val="E8EDF2"/>
          </a:solidFill>
          <a:ln w="12700">
            <a:solidFill>
              <a:srgbClr val="E8EDF2"/>
            </a:solidFill>
            <a:prstDash val="solid"/>
          </a:ln>
        </p:spPr>
      </p:sp>
      <p:sp>
        <p:nvSpPr>
          <p:cNvPr id="17" name="Text 15"/>
          <p:cNvSpPr txBox="1"/>
          <p:nvPr/>
        </p:nvSpPr>
        <p:spPr>
          <a:xfrm>
            <a:off x="8138160" y="2139696"/>
            <a:ext cx="822960" cy="292608"/>
          </a:xfrm>
          <a:prstGeom prst="rect">
            <a:avLst/>
          </a:prstGeom>
          <a:noFill/>
          <a:ln/>
        </p:spPr>
        <p:txBody>
          <a:bodyPr wrap="square" lIns="0" tIns="0" rIns="0" bIns="0" rtlCol="0" anchor="ctr"/>
          <a:lstStyle/>
          <a:p>
            <a:pPr algn="ctr" indent="0" marL="0">
              <a:buNone/>
            </a:pPr>
            <a:r>
              <a:rPr lang="en-US" sz="1000" b="1" dirty="0">
                <a:solidFill>
                  <a:srgbClr val="9AA5B1"/>
                </a:solidFill>
                <a:latin typeface="Arial" pitchFamily="34" charset="0"/>
                <a:ea typeface="Arial" pitchFamily="34" charset="-122"/>
                <a:cs typeface="Arial" pitchFamily="34" charset="-120"/>
              </a:rPr>
              <a:t>—</a:t>
            </a:r>
            <a:endParaRPr lang="en-US" sz="1000" dirty="0"/>
          </a:p>
        </p:txBody>
      </p:sp>
      <p:sp>
        <p:nvSpPr>
          <p:cNvPr id="18" name="Text 16"/>
          <p:cNvSpPr txBox="1"/>
          <p:nvPr/>
        </p:nvSpPr>
        <p:spPr>
          <a:xfrm>
            <a:off x="6492240" y="2670048"/>
            <a:ext cx="731520" cy="36576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Treated</a:t>
            </a:r>
            <a:endParaRPr lang="en-US" sz="1000" dirty="0"/>
          </a:p>
        </p:txBody>
      </p:sp>
      <p:sp>
        <p:nvSpPr>
          <p:cNvPr id="19" name="Shape 17"/>
          <p:cNvSpPr/>
          <p:nvPr/>
        </p:nvSpPr>
        <p:spPr>
          <a:xfrm>
            <a:off x="7269480" y="2651760"/>
            <a:ext cx="822960" cy="420624"/>
          </a:xfrm>
          <a:prstGeom prst="roundRect">
            <a:avLst>
              <a:gd name="adj" fmla="val 10870"/>
            </a:avLst>
          </a:prstGeom>
          <a:solidFill>
            <a:srgbClr val="E8EDF2"/>
          </a:solidFill>
          <a:ln w="12700">
            <a:solidFill>
              <a:srgbClr val="E8EDF2"/>
            </a:solidFill>
            <a:prstDash val="solid"/>
          </a:ln>
        </p:spPr>
      </p:sp>
      <p:sp>
        <p:nvSpPr>
          <p:cNvPr id="20" name="Text 18"/>
          <p:cNvSpPr txBox="1"/>
          <p:nvPr/>
        </p:nvSpPr>
        <p:spPr>
          <a:xfrm>
            <a:off x="7269480" y="2706624"/>
            <a:ext cx="822960" cy="292608"/>
          </a:xfrm>
          <a:prstGeom prst="rect">
            <a:avLst/>
          </a:prstGeom>
          <a:noFill/>
          <a:ln/>
        </p:spPr>
        <p:txBody>
          <a:bodyPr wrap="square" lIns="0" tIns="0" rIns="0" bIns="0" rtlCol="0" anchor="ctr"/>
          <a:lstStyle/>
          <a:p>
            <a:pPr algn="ctr" indent="0" marL="0">
              <a:buNone/>
            </a:pPr>
            <a:r>
              <a:rPr lang="en-US" sz="1000" b="1" dirty="0">
                <a:solidFill>
                  <a:srgbClr val="9AA5B1"/>
                </a:solidFill>
                <a:latin typeface="Arial" pitchFamily="34" charset="0"/>
                <a:ea typeface="Arial" pitchFamily="34" charset="-122"/>
                <a:cs typeface="Arial" pitchFamily="34" charset="-120"/>
              </a:rPr>
              <a:t>—</a:t>
            </a:r>
            <a:endParaRPr lang="en-US" sz="1000" dirty="0"/>
          </a:p>
        </p:txBody>
      </p:sp>
      <p:sp>
        <p:nvSpPr>
          <p:cNvPr id="21" name="Shape 19"/>
          <p:cNvSpPr/>
          <p:nvPr/>
        </p:nvSpPr>
        <p:spPr>
          <a:xfrm>
            <a:off x="8138160" y="2651760"/>
            <a:ext cx="822960" cy="420624"/>
          </a:xfrm>
          <a:prstGeom prst="roundRect">
            <a:avLst>
              <a:gd name="adj" fmla="val 10870"/>
            </a:avLst>
          </a:prstGeom>
          <a:solidFill>
            <a:srgbClr val="D98B32"/>
          </a:solidFill>
          <a:ln w="12700">
            <a:solidFill>
              <a:srgbClr val="D98B32"/>
            </a:solidFill>
            <a:prstDash val="solid"/>
          </a:ln>
        </p:spPr>
      </p:sp>
      <p:sp>
        <p:nvSpPr>
          <p:cNvPr id="22" name="Text 20"/>
          <p:cNvSpPr txBox="1"/>
          <p:nvPr/>
        </p:nvSpPr>
        <p:spPr>
          <a:xfrm>
            <a:off x="8138160" y="2706624"/>
            <a:ext cx="82296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n = 3</a:t>
            </a:r>
            <a:endParaRPr lang="en-US" sz="1000" dirty="0"/>
          </a:p>
        </p:txBody>
      </p:sp>
      <p:sp>
        <p:nvSpPr>
          <p:cNvPr id="23" name="Text 21"/>
          <p:cNvSpPr txBox="1"/>
          <p:nvPr/>
        </p:nvSpPr>
        <p:spPr>
          <a:xfrm>
            <a:off x="6492240" y="3273552"/>
            <a:ext cx="2514600" cy="274320"/>
          </a:xfrm>
          <a:prstGeom prst="rect">
            <a:avLst/>
          </a:prstGeom>
          <a:noFill/>
          <a:ln/>
        </p:spPr>
        <p:txBody>
          <a:bodyPr wrap="square" lIns="0" tIns="0" rIns="0" bIns="0" rtlCol="0" anchor="ctr"/>
          <a:lstStyle/>
          <a:p>
            <a:pPr indent="0" marL="0">
              <a:buNone/>
            </a:pPr>
            <a:r>
              <a:rPr lang="en-US" sz="1100" b="1" dirty="0">
                <a:solidFill>
                  <a:srgbClr val="B8860B"/>
                </a:solidFill>
                <a:latin typeface="Arial" pitchFamily="34" charset="0"/>
                <a:ea typeface="Arial" pitchFamily="34" charset="-122"/>
                <a:cs typeface="Arial" pitchFamily="34" charset="-120"/>
              </a:rPr>
              <a:t>Unfixable</a:t>
            </a:r>
            <a:endParaRPr lang="en-US" sz="1100" dirty="0"/>
          </a:p>
        </p:txBody>
      </p:sp>
      <p:sp>
        <p:nvSpPr>
          <p:cNvPr id="24" name="Text 22"/>
          <p:cNvSpPr txBox="1"/>
          <p:nvPr/>
        </p:nvSpPr>
        <p:spPr>
          <a:xfrm>
            <a:off x="9235440" y="1481328"/>
            <a:ext cx="2286000" cy="274320"/>
          </a:xfrm>
          <a:prstGeom prst="rect">
            <a:avLst/>
          </a:prstGeom>
          <a:noFill/>
          <a:ln/>
        </p:spPr>
        <p:txBody>
          <a:bodyPr wrap="square" lIns="0" tIns="0" rIns="0" bIns="0" rtlCol="0" anchor="ctr"/>
          <a:lstStyle/>
          <a:p>
            <a:pPr indent="0" marL="0">
              <a:buNone/>
            </a:pPr>
            <a:r>
              <a:rPr lang="en-US" sz="1300" b="1" dirty="0">
                <a:solidFill>
                  <a:srgbClr val="1F2933"/>
                </a:solidFill>
                <a:latin typeface="Arial" pitchFamily="34" charset="0"/>
                <a:ea typeface="Arial" pitchFamily="34" charset="-122"/>
                <a:cs typeface="Arial" pitchFamily="34" charset="-120"/>
              </a:rPr>
              <a:t>Balanced</a:t>
            </a:r>
            <a:endParaRPr lang="en-US" sz="1300" dirty="0"/>
          </a:p>
        </p:txBody>
      </p:sp>
      <p:sp>
        <p:nvSpPr>
          <p:cNvPr id="25" name="Text 23"/>
          <p:cNvSpPr txBox="1"/>
          <p:nvPr/>
        </p:nvSpPr>
        <p:spPr>
          <a:xfrm>
            <a:off x="10012680" y="1810512"/>
            <a:ext cx="822960" cy="219456"/>
          </a:xfrm>
          <a:prstGeom prst="rect">
            <a:avLst/>
          </a:prstGeom>
          <a:noFill/>
          <a:ln/>
        </p:spPr>
        <p:txBody>
          <a:bodyPr wrap="square" lIns="0" tIns="0" rIns="0" bIns="0" rtlCol="0" anchor="ctr"/>
          <a:lstStyle/>
          <a:p>
            <a:pPr algn="ctr" indent="0" marL="0">
              <a:buNone/>
            </a:pPr>
            <a:r>
              <a:rPr lang="en-US" sz="950" dirty="0">
                <a:solidFill>
                  <a:srgbClr val="6B7280"/>
                </a:solidFill>
                <a:latin typeface="Arial" pitchFamily="34" charset="0"/>
                <a:ea typeface="Arial" pitchFamily="34" charset="-122"/>
                <a:cs typeface="Arial" pitchFamily="34" charset="-120"/>
              </a:rPr>
              <a:t>Batch 1</a:t>
            </a:r>
            <a:endParaRPr lang="en-US" sz="950" dirty="0"/>
          </a:p>
        </p:txBody>
      </p:sp>
      <p:sp>
        <p:nvSpPr>
          <p:cNvPr id="26" name="Text 24"/>
          <p:cNvSpPr txBox="1"/>
          <p:nvPr/>
        </p:nvSpPr>
        <p:spPr>
          <a:xfrm>
            <a:off x="10881360" y="1810512"/>
            <a:ext cx="822960" cy="219456"/>
          </a:xfrm>
          <a:prstGeom prst="rect">
            <a:avLst/>
          </a:prstGeom>
          <a:noFill/>
          <a:ln/>
        </p:spPr>
        <p:txBody>
          <a:bodyPr wrap="square" lIns="0" tIns="0" rIns="0" bIns="0" rtlCol="0" anchor="ctr"/>
          <a:lstStyle/>
          <a:p>
            <a:pPr algn="ctr" indent="0" marL="0">
              <a:buNone/>
            </a:pPr>
            <a:r>
              <a:rPr lang="en-US" sz="950" dirty="0">
                <a:solidFill>
                  <a:srgbClr val="6B7280"/>
                </a:solidFill>
                <a:latin typeface="Arial" pitchFamily="34" charset="0"/>
                <a:ea typeface="Arial" pitchFamily="34" charset="-122"/>
                <a:cs typeface="Arial" pitchFamily="34" charset="-120"/>
              </a:rPr>
              <a:t>Batch 2</a:t>
            </a:r>
            <a:endParaRPr lang="en-US" sz="950" dirty="0"/>
          </a:p>
        </p:txBody>
      </p:sp>
      <p:sp>
        <p:nvSpPr>
          <p:cNvPr id="27" name="Text 25"/>
          <p:cNvSpPr txBox="1"/>
          <p:nvPr/>
        </p:nvSpPr>
        <p:spPr>
          <a:xfrm>
            <a:off x="9235440" y="2103120"/>
            <a:ext cx="731520" cy="36576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Control</a:t>
            </a:r>
            <a:endParaRPr lang="en-US" sz="1000" dirty="0"/>
          </a:p>
        </p:txBody>
      </p:sp>
      <p:sp>
        <p:nvSpPr>
          <p:cNvPr id="28" name="Shape 26"/>
          <p:cNvSpPr/>
          <p:nvPr/>
        </p:nvSpPr>
        <p:spPr>
          <a:xfrm>
            <a:off x="10012680" y="2084832"/>
            <a:ext cx="822960" cy="420624"/>
          </a:xfrm>
          <a:prstGeom prst="roundRect">
            <a:avLst>
              <a:gd name="adj" fmla="val 10870"/>
            </a:avLst>
          </a:prstGeom>
          <a:solidFill>
            <a:srgbClr val="498BCA"/>
          </a:solidFill>
          <a:ln w="12700">
            <a:solidFill>
              <a:srgbClr val="498BCA"/>
            </a:solidFill>
            <a:prstDash val="solid"/>
          </a:ln>
        </p:spPr>
      </p:sp>
      <p:sp>
        <p:nvSpPr>
          <p:cNvPr id="29" name="Text 27"/>
          <p:cNvSpPr txBox="1"/>
          <p:nvPr/>
        </p:nvSpPr>
        <p:spPr>
          <a:xfrm>
            <a:off x="10012680" y="2139696"/>
            <a:ext cx="82296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n = 3</a:t>
            </a:r>
            <a:endParaRPr lang="en-US" sz="1000" dirty="0"/>
          </a:p>
        </p:txBody>
      </p:sp>
      <p:sp>
        <p:nvSpPr>
          <p:cNvPr id="30" name="Shape 28"/>
          <p:cNvSpPr/>
          <p:nvPr/>
        </p:nvSpPr>
        <p:spPr>
          <a:xfrm>
            <a:off x="10881360" y="2084832"/>
            <a:ext cx="822960" cy="420624"/>
          </a:xfrm>
          <a:prstGeom prst="roundRect">
            <a:avLst>
              <a:gd name="adj" fmla="val 10870"/>
            </a:avLst>
          </a:prstGeom>
          <a:solidFill>
            <a:srgbClr val="498BCA"/>
          </a:solidFill>
          <a:ln w="12700">
            <a:solidFill>
              <a:srgbClr val="498BCA"/>
            </a:solidFill>
            <a:prstDash val="solid"/>
          </a:ln>
        </p:spPr>
      </p:sp>
      <p:sp>
        <p:nvSpPr>
          <p:cNvPr id="31" name="Text 29"/>
          <p:cNvSpPr txBox="1"/>
          <p:nvPr/>
        </p:nvSpPr>
        <p:spPr>
          <a:xfrm>
            <a:off x="10881360" y="2139696"/>
            <a:ext cx="82296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n = 3</a:t>
            </a:r>
            <a:endParaRPr lang="en-US" sz="1000" dirty="0"/>
          </a:p>
        </p:txBody>
      </p:sp>
      <p:sp>
        <p:nvSpPr>
          <p:cNvPr id="32" name="Text 30"/>
          <p:cNvSpPr txBox="1"/>
          <p:nvPr/>
        </p:nvSpPr>
        <p:spPr>
          <a:xfrm>
            <a:off x="9235440" y="2670048"/>
            <a:ext cx="731520" cy="36576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Treated</a:t>
            </a:r>
            <a:endParaRPr lang="en-US" sz="1000" dirty="0"/>
          </a:p>
        </p:txBody>
      </p:sp>
      <p:sp>
        <p:nvSpPr>
          <p:cNvPr id="33" name="Shape 31"/>
          <p:cNvSpPr/>
          <p:nvPr/>
        </p:nvSpPr>
        <p:spPr>
          <a:xfrm>
            <a:off x="10012680" y="2651760"/>
            <a:ext cx="822960" cy="420624"/>
          </a:xfrm>
          <a:prstGeom prst="roundRect">
            <a:avLst>
              <a:gd name="adj" fmla="val 10870"/>
            </a:avLst>
          </a:prstGeom>
          <a:solidFill>
            <a:srgbClr val="498BCA"/>
          </a:solidFill>
          <a:ln w="12700">
            <a:solidFill>
              <a:srgbClr val="498BCA"/>
            </a:solidFill>
            <a:prstDash val="solid"/>
          </a:ln>
        </p:spPr>
      </p:sp>
      <p:sp>
        <p:nvSpPr>
          <p:cNvPr id="34" name="Text 32"/>
          <p:cNvSpPr txBox="1"/>
          <p:nvPr/>
        </p:nvSpPr>
        <p:spPr>
          <a:xfrm>
            <a:off x="10012680" y="2706624"/>
            <a:ext cx="82296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n = 3</a:t>
            </a:r>
            <a:endParaRPr lang="en-US" sz="1000" dirty="0"/>
          </a:p>
        </p:txBody>
      </p:sp>
      <p:sp>
        <p:nvSpPr>
          <p:cNvPr id="35" name="Shape 33"/>
          <p:cNvSpPr/>
          <p:nvPr/>
        </p:nvSpPr>
        <p:spPr>
          <a:xfrm>
            <a:off x="10881360" y="2651760"/>
            <a:ext cx="822960" cy="420624"/>
          </a:xfrm>
          <a:prstGeom prst="roundRect">
            <a:avLst>
              <a:gd name="adj" fmla="val 10870"/>
            </a:avLst>
          </a:prstGeom>
          <a:solidFill>
            <a:srgbClr val="498BCA"/>
          </a:solidFill>
          <a:ln w="12700">
            <a:solidFill>
              <a:srgbClr val="498BCA"/>
            </a:solidFill>
            <a:prstDash val="solid"/>
          </a:ln>
        </p:spPr>
      </p:sp>
      <p:sp>
        <p:nvSpPr>
          <p:cNvPr id="36" name="Text 34"/>
          <p:cNvSpPr txBox="1"/>
          <p:nvPr/>
        </p:nvSpPr>
        <p:spPr>
          <a:xfrm>
            <a:off x="10881360" y="2706624"/>
            <a:ext cx="82296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n = 3</a:t>
            </a:r>
            <a:endParaRPr lang="en-US" sz="1000" dirty="0"/>
          </a:p>
        </p:txBody>
      </p:sp>
      <p:sp>
        <p:nvSpPr>
          <p:cNvPr id="37" name="Text 35"/>
          <p:cNvSpPr txBox="1"/>
          <p:nvPr/>
        </p:nvSpPr>
        <p:spPr>
          <a:xfrm>
            <a:off x="9235440" y="3273552"/>
            <a:ext cx="2514600" cy="274320"/>
          </a:xfrm>
          <a:prstGeom prst="rect">
            <a:avLst/>
          </a:prstGeom>
          <a:noFill/>
          <a:ln/>
        </p:spPr>
        <p:txBody>
          <a:bodyPr wrap="square" lIns="0" tIns="0" rIns="0" bIns="0" rtlCol="0" anchor="ctr"/>
          <a:lstStyle/>
          <a:p>
            <a:pPr indent="0" marL="0">
              <a:buNone/>
            </a:pPr>
            <a:r>
              <a:rPr lang="en-US" sz="1100" b="1" dirty="0">
                <a:solidFill>
                  <a:srgbClr val="205081"/>
                </a:solidFill>
                <a:latin typeface="Arial" pitchFamily="34" charset="0"/>
                <a:ea typeface="Arial" pitchFamily="34" charset="-122"/>
                <a:cs typeface="Arial" pitchFamily="34" charset="-120"/>
              </a:rPr>
              <a:t>Correctable in the model</a:t>
            </a:r>
            <a:endParaRPr lang="en-US" sz="1100" dirty="0"/>
          </a:p>
        </p:txBody>
      </p:sp>
      <p:sp>
        <p:nvSpPr>
          <p:cNvPr id="38" name="Shape 36"/>
          <p:cNvSpPr/>
          <p:nvPr/>
        </p:nvSpPr>
        <p:spPr>
          <a:xfrm>
            <a:off x="615391" y="4434840"/>
            <a:ext cx="10963656" cy="868680"/>
          </a:xfrm>
          <a:prstGeom prst="roundRect">
            <a:avLst>
              <a:gd name="adj" fmla="val 6316"/>
            </a:avLst>
          </a:prstGeom>
          <a:solidFill>
            <a:srgbClr val="F5F6F0"/>
          </a:solidFill>
          <a:ln w="12700">
            <a:solidFill>
              <a:srgbClr val="F5F6F0"/>
            </a:solidFill>
            <a:prstDash val="solid"/>
          </a:ln>
        </p:spPr>
      </p:sp>
      <p:sp>
        <p:nvSpPr>
          <p:cNvPr id="39" name="Text 37"/>
          <p:cNvSpPr txBox="1"/>
          <p:nvPr/>
        </p:nvSpPr>
        <p:spPr>
          <a:xfrm>
            <a:off x="981151" y="4617720"/>
            <a:ext cx="10232136" cy="548640"/>
          </a:xfrm>
          <a:prstGeom prst="rect">
            <a:avLst/>
          </a:prstGeom>
          <a:noFill/>
          <a:ln/>
        </p:spPr>
        <p:txBody>
          <a:bodyPr wrap="square" lIns="0" tIns="0" rIns="0" bIns="0" rtlCol="0" anchor="ctr"/>
          <a:lstStyle/>
          <a:p>
            <a:pPr indent="0" marL="0">
              <a:lnSpc>
                <a:spcPts val="1800"/>
              </a:lnSpc>
              <a:buNone/>
            </a:pPr>
            <a:r>
              <a:rPr lang="en-US" sz="1300" dirty="0">
                <a:solidFill>
                  <a:srgbClr val="1F2933"/>
                </a:solidFill>
                <a:latin typeface="Arial" pitchFamily="34" charset="0"/>
                <a:ea typeface="Arial" pitchFamily="34" charset="-122"/>
                <a:cs typeface="Arial" pitchFamily="34" charset="-120"/>
              </a:rPr>
              <a:t>A balanced design does not remove the batch effect. It makes the batch effect estimable — which is all you need, because then it goes in the model as a covariate (Week 6).</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615391" y="329184"/>
            <a:ext cx="10963656" cy="603504"/>
          </a:xfrm>
          <a:prstGeom prst="rect">
            <a:avLst/>
          </a:prstGeom>
          <a:noFill/>
          <a:ln/>
        </p:spPr>
        <p:txBody>
          <a:bodyPr wrap="square" lIns="0" tIns="0" rIns="0" bIns="0" rtlCol="0" anchor="ctr"/>
          <a:lstStyle/>
          <a:p>
            <a:pPr indent="0" marL="0">
              <a:buNone/>
            </a:pPr>
            <a:r>
              <a:rPr lang="en-US" sz="2800" b="1" dirty="0">
                <a:solidFill>
                  <a:srgbClr val="3172AE"/>
                </a:solidFill>
                <a:latin typeface="Arial" pitchFamily="34" charset="0"/>
                <a:ea typeface="Arial" pitchFamily="34" charset="-122"/>
                <a:cs typeface="Arial" pitchFamily="34" charset="-120"/>
              </a:rPr>
              <a:t>Replication: two different words, two different questions</a:t>
            </a:r>
            <a:endParaRPr lang="en-US" sz="2800" dirty="0"/>
          </a:p>
        </p:txBody>
      </p:sp>
      <p:sp>
        <p:nvSpPr>
          <p:cNvPr id="3" name="Text 1"/>
          <p:cNvSpPr txBox="1"/>
          <p:nvPr/>
        </p:nvSpPr>
        <p:spPr>
          <a:xfrm>
            <a:off x="615391" y="941832"/>
            <a:ext cx="10963656" cy="274320"/>
          </a:xfrm>
          <a:prstGeom prst="rect">
            <a:avLst/>
          </a:prstGeom>
          <a:noFill/>
          <a:ln/>
        </p:spPr>
        <p:txBody>
          <a:bodyPr wrap="square" lIns="0" tIns="0" rIns="0" bIns="0" rtlCol="0" anchor="ctr"/>
          <a:lstStyle/>
          <a:p>
            <a:pPr indent="0" marL="0">
              <a:buNone/>
            </a:pPr>
            <a:r>
              <a:rPr lang="en-US" sz="1200" spc="110" kern="0" dirty="0">
                <a:solidFill>
                  <a:srgbClr val="9AA5B1"/>
                </a:solidFill>
                <a:latin typeface="Arial" pitchFamily="34" charset="0"/>
                <a:ea typeface="Arial" pitchFamily="34" charset="-122"/>
                <a:cs typeface="Arial" pitchFamily="34" charset="-120"/>
              </a:rPr>
              <a:t>EXPERIMENTAL DESIGN</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15391" y="1481328"/>
          <a:ext cx="10963656" cy="914400"/>
        </p:xfrm>
        <a:graphic>
          <a:graphicData uri="http://schemas.openxmlformats.org/drawingml/2006/table">
            <a:tbl>
              <a:tblPr/>
              <a:tblGrid>
                <a:gridCol w="2468880"/>
                <a:gridCol w="4251960"/>
                <a:gridCol w="4242816"/>
              </a:tblGrid>
              <a:tr h="310896">
                <a:tc>
                  <a:txBody>
                    <a:bodyPr/>
                    <a:lstStyle/>
                    <a:p>
                      <a:pPr indent="0" marL="0">
                        <a:buNone/>
                      </a:pPr>
                      <a:endParaRPr lang="en-US" sz="1150" dirty="0">
                        <a:latin typeface="Arial" charset="0"/>
                        <a:ea typeface="Arial" charset="0"/>
                        <a:cs typeface="Arial" charset="0"/>
                      </a:endParaRPr>
                    </a:p>
                  </a:txBody>
                  <a:tcPr marL="91440" marR="91440" marT="45720" marB="45720"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solidFill>
                      <a:srgbClr val="205081"/>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Biological replicate</a:t>
                      </a:r>
                      <a:endParaRPr lang="en-US" sz="1150" dirty="0">
                        <a:latin typeface="Arial" charset="0"/>
                        <a:ea typeface="Arial" charset="0"/>
                        <a:cs typeface="Arial" charset="0"/>
                      </a:endParaRPr>
                    </a:p>
                  </a:txBody>
                  <a:tcPr marL="91440" marR="91440" marT="45720" marB="45720"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solidFill>
                      <a:srgbClr val="205081"/>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Technical replicate</a:t>
                      </a:r>
                      <a:endParaRPr lang="en-US" sz="1150" dirty="0">
                        <a:latin typeface="Arial" charset="0"/>
                        <a:ea typeface="Arial" charset="0"/>
                        <a:cs typeface="Arial" charset="0"/>
                      </a:endParaRPr>
                    </a:p>
                  </a:txBody>
                  <a:tcPr marL="91440" marR="91440" marT="45720" marB="45720"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solidFill>
                      <a:srgbClr val="205081"/>
                    </a:solidFill>
                  </a:tcPr>
                </a:tc>
              </a:tr>
              <a:tr h="603504">
                <a:tc>
                  <a:txBody>
                    <a:bodyPr/>
                    <a:lstStyle/>
                    <a:p>
                      <a:pPr indent="0" marL="0">
                        <a:buNone/>
                      </a:pPr>
                      <a:r>
                        <a:rPr lang="en-US" sz="1150" b="1" dirty="0">
                          <a:solidFill>
                            <a:srgbClr val="1F2933"/>
                          </a:solidFill>
                          <a:latin typeface="Arial" pitchFamily="34" charset="0"/>
                          <a:ea typeface="Arial" pitchFamily="34" charset="-122"/>
                          <a:cs typeface="Arial" pitchFamily="34" charset="-120"/>
                        </a:rPr>
                        <a:t>What it is</a:t>
                      </a:r>
                      <a:endParaRPr lang="en-US" sz="1150" dirty="0">
                        <a:latin typeface="Arial" charset="0"/>
                        <a:ea typeface="Arial" charset="0"/>
                        <a:cs typeface="Arial" charset="0"/>
                      </a:endParaRPr>
                    </a:p>
                  </a:txBody>
                  <a:tcPr marL="91440" marR="91440" marT="45720" marB="45720"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solidFill>
                      <a:srgbClr val="EEF4FA"/>
                    </a:solidFill>
                  </a:tcPr>
                </a:tc>
                <a:tc>
                  <a:txBody>
                    <a:bodyPr/>
                    <a:lstStyle/>
                    <a:p>
                      <a:pPr indent="0" marL="0">
                        <a:buNone/>
                      </a:pPr>
                      <a:r>
                        <a:rPr lang="en-US" sz="1150" dirty="0">
                          <a:solidFill>
                            <a:srgbClr val="1F2933"/>
                          </a:solidFill>
                          <a:latin typeface="Arial" pitchFamily="34" charset="0"/>
                          <a:ea typeface="Arial" pitchFamily="34" charset="-122"/>
                          <a:cs typeface="Arial" pitchFamily="34" charset="-120"/>
                        </a:rPr>
                        <a:t>A different individual, culture, or dish, independently subjected to the condition</a:t>
                      </a:r>
                      <a:endParaRPr lang="en-US" sz="1150" dirty="0">
                        <a:latin typeface="Arial" charset="0"/>
                        <a:ea typeface="Arial" charset="0"/>
                        <a:cs typeface="Arial" charset="0"/>
                      </a:endParaRPr>
                    </a:p>
                  </a:txBody>
                  <a:tcPr marL="91440" marR="91440" marT="45720" marB="45720"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c>
                  <a:txBody>
                    <a:bodyPr/>
                    <a:lstStyle/>
                    <a:p>
                      <a:pPr indent="0" marL="0">
                        <a:buNone/>
                      </a:pPr>
                      <a:r>
                        <a:rPr lang="en-US" sz="1150" dirty="0">
                          <a:solidFill>
                            <a:srgbClr val="1F2933"/>
                          </a:solidFill>
                          <a:latin typeface="Arial" pitchFamily="34" charset="0"/>
                          <a:ea typeface="Arial" pitchFamily="34" charset="-122"/>
                          <a:cs typeface="Arial" pitchFamily="34" charset="-120"/>
                        </a:rPr>
                        <a:t>The same biological material, measured more than once</a:t>
                      </a:r>
                      <a:endParaRPr lang="en-US" sz="1150" dirty="0">
                        <a:latin typeface="Arial" charset="0"/>
                        <a:ea typeface="Arial" charset="0"/>
                        <a:cs typeface="Arial" charset="0"/>
                      </a:endParaRPr>
                    </a:p>
                  </a:txBody>
                  <a:tcPr marL="91440" marR="91440" marT="45720" marB="45720"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r>
              <a:tr h="457200">
                <a:tc>
                  <a:txBody>
                    <a:bodyPr/>
                    <a:lstStyle/>
                    <a:p>
                      <a:pPr indent="0" marL="0">
                        <a:buNone/>
                      </a:pPr>
                      <a:r>
                        <a:rPr lang="en-US" sz="1150" b="1" dirty="0">
                          <a:solidFill>
                            <a:srgbClr val="1F2933"/>
                          </a:solidFill>
                          <a:latin typeface="Arial" pitchFamily="34" charset="0"/>
                          <a:ea typeface="Arial" pitchFamily="34" charset="-122"/>
                          <a:cs typeface="Arial" pitchFamily="34" charset="-120"/>
                        </a:rPr>
                        <a:t>What varies</a:t>
                      </a:r>
                      <a:endParaRPr lang="en-US" sz="1150" dirty="0">
                        <a:latin typeface="Arial" charset="0"/>
                        <a:ea typeface="Arial" charset="0"/>
                        <a:cs typeface="Arial" charset="0"/>
                      </a:endParaRPr>
                    </a:p>
                  </a:txBody>
                  <a:tcPr marL="91440" marR="91440" marT="45720" marB="45720"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solidFill>
                      <a:srgbClr val="EEF4FA"/>
                    </a:solidFill>
                  </a:tcPr>
                </a:tc>
                <a:tc>
                  <a:txBody>
                    <a:bodyPr/>
                    <a:lstStyle/>
                    <a:p>
                      <a:pPr indent="0" marL="0">
                        <a:buNone/>
                      </a:pPr>
                      <a:r>
                        <a:rPr lang="en-US" sz="1150" dirty="0">
                          <a:solidFill>
                            <a:srgbClr val="1F2933"/>
                          </a:solidFill>
                          <a:latin typeface="Arial" pitchFamily="34" charset="0"/>
                          <a:ea typeface="Arial" pitchFamily="34" charset="-122"/>
                          <a:cs typeface="Arial" pitchFamily="34" charset="-120"/>
                        </a:rPr>
                        <a:t>Biology, plus everything downstream of it</a:t>
                      </a:r>
                      <a:endParaRPr lang="en-US" sz="1150" dirty="0">
                        <a:latin typeface="Arial" charset="0"/>
                        <a:ea typeface="Arial" charset="0"/>
                        <a:cs typeface="Arial" charset="0"/>
                      </a:endParaRPr>
                    </a:p>
                  </a:txBody>
                  <a:tcPr marL="91440" marR="91440" marT="45720" marB="45720"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c>
                  <a:txBody>
                    <a:bodyPr/>
                    <a:lstStyle/>
                    <a:p>
                      <a:pPr indent="0" marL="0">
                        <a:buNone/>
                      </a:pPr>
                      <a:r>
                        <a:rPr lang="en-US" sz="1150" dirty="0">
                          <a:solidFill>
                            <a:srgbClr val="1F2933"/>
                          </a:solidFill>
                          <a:latin typeface="Arial" pitchFamily="34" charset="0"/>
                          <a:ea typeface="Arial" pitchFamily="34" charset="-122"/>
                          <a:cs typeface="Arial" pitchFamily="34" charset="-120"/>
                        </a:rPr>
                        <a:t>Library prep, sequencing, and instrument noise only</a:t>
                      </a:r>
                      <a:endParaRPr lang="en-US" sz="1150" dirty="0">
                        <a:latin typeface="Arial" charset="0"/>
                        <a:ea typeface="Arial" charset="0"/>
                        <a:cs typeface="Arial" charset="0"/>
                      </a:endParaRPr>
                    </a:p>
                  </a:txBody>
                  <a:tcPr marL="91440" marR="91440" marT="45720" marB="45720"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r>
              <a:tr h="457200">
                <a:tc>
                  <a:txBody>
                    <a:bodyPr/>
                    <a:lstStyle/>
                    <a:p>
                      <a:pPr indent="0" marL="0">
                        <a:buNone/>
                      </a:pPr>
                      <a:r>
                        <a:rPr lang="en-US" sz="1150" b="1" dirty="0">
                          <a:solidFill>
                            <a:srgbClr val="1F2933"/>
                          </a:solidFill>
                          <a:latin typeface="Arial" pitchFamily="34" charset="0"/>
                          <a:ea typeface="Arial" pitchFamily="34" charset="-122"/>
                          <a:cs typeface="Arial" pitchFamily="34" charset="-120"/>
                        </a:rPr>
                        <a:t>The question it answers</a:t>
                      </a:r>
                      <a:endParaRPr lang="en-US" sz="1150" dirty="0">
                        <a:latin typeface="Arial" charset="0"/>
                        <a:ea typeface="Arial" charset="0"/>
                        <a:cs typeface="Arial" charset="0"/>
                      </a:endParaRPr>
                    </a:p>
                  </a:txBody>
                  <a:tcPr marL="91440" marR="91440" marT="45720" marB="45720"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solidFill>
                      <a:srgbClr val="EEF4FA"/>
                    </a:solidFill>
                  </a:tcPr>
                </a:tc>
                <a:tc>
                  <a:txBody>
                    <a:bodyPr/>
                    <a:lstStyle/>
                    <a:p>
                      <a:pPr indent="0" marL="0">
                        <a:buNone/>
                      </a:pPr>
                      <a:r>
                        <a:rPr lang="en-US" sz="1150" b="1" dirty="0">
                          <a:solidFill>
                            <a:srgbClr val="205081"/>
                          </a:solidFill>
                          <a:latin typeface="Arial" pitchFamily="34" charset="0"/>
                          <a:ea typeface="Arial" pitchFamily="34" charset="-122"/>
                          <a:cs typeface="Arial" pitchFamily="34" charset="-120"/>
                        </a:rPr>
                        <a:t>Does this effect hold across individuals?</a:t>
                      </a:r>
                      <a:endParaRPr lang="en-US" sz="1150" dirty="0">
                        <a:latin typeface="Arial" charset="0"/>
                        <a:ea typeface="Arial" charset="0"/>
                        <a:cs typeface="Arial" charset="0"/>
                      </a:endParaRPr>
                    </a:p>
                  </a:txBody>
                  <a:tcPr marL="91440" marR="91440" marT="45720" marB="45720"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c>
                  <a:txBody>
                    <a:bodyPr/>
                    <a:lstStyle/>
                    <a:p>
                      <a:pPr indent="0" marL="0">
                        <a:buNone/>
                      </a:pPr>
                      <a:r>
                        <a:rPr lang="en-US" sz="1150" b="1" dirty="0">
                          <a:solidFill>
                            <a:srgbClr val="205081"/>
                          </a:solidFill>
                          <a:latin typeface="Arial" pitchFamily="34" charset="0"/>
                          <a:ea typeface="Arial" pitchFamily="34" charset="-122"/>
                          <a:cs typeface="Arial" pitchFamily="34" charset="-120"/>
                        </a:rPr>
                        <a:t>How noisy is my measurement process?</a:t>
                      </a:r>
                      <a:endParaRPr lang="en-US" sz="1150" dirty="0">
                        <a:latin typeface="Arial" charset="0"/>
                        <a:ea typeface="Arial" charset="0"/>
                        <a:cs typeface="Arial" charset="0"/>
                      </a:endParaRPr>
                    </a:p>
                  </a:txBody>
                  <a:tcPr marL="91440" marR="91440" marT="45720" marB="45720"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r>
              <a:tr h="384048">
                <a:tc>
                  <a:txBody>
                    <a:bodyPr/>
                    <a:lstStyle/>
                    <a:p>
                      <a:pPr indent="0" marL="0">
                        <a:buNone/>
                      </a:pPr>
                      <a:r>
                        <a:rPr lang="en-US" sz="1150" b="1" dirty="0">
                          <a:solidFill>
                            <a:srgbClr val="1F2933"/>
                          </a:solidFill>
                          <a:latin typeface="Arial" pitchFamily="34" charset="0"/>
                          <a:ea typeface="Arial" pitchFamily="34" charset="-122"/>
                          <a:cs typeface="Arial" pitchFamily="34" charset="-120"/>
                        </a:rPr>
                        <a:t>Counts toward n?</a:t>
                      </a:r>
                      <a:endParaRPr lang="en-US" sz="1150" dirty="0">
                        <a:latin typeface="Arial" charset="0"/>
                        <a:ea typeface="Arial" charset="0"/>
                        <a:cs typeface="Arial" charset="0"/>
                      </a:endParaRPr>
                    </a:p>
                  </a:txBody>
                  <a:tcPr marL="91440" marR="91440" marT="45720" marB="45720"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solidFill>
                      <a:srgbClr val="EEF4FA"/>
                    </a:solidFill>
                  </a:tcPr>
                </a:tc>
                <a:tc>
                  <a:txBody>
                    <a:bodyPr/>
                    <a:lstStyle/>
                    <a:p>
                      <a:pPr indent="0" marL="0">
                        <a:buNone/>
                      </a:pPr>
                      <a:r>
                        <a:rPr lang="en-US" sz="1150" b="1" dirty="0">
                          <a:solidFill>
                            <a:srgbClr val="2E7D32"/>
                          </a:solidFill>
                          <a:latin typeface="Arial" pitchFamily="34" charset="0"/>
                          <a:ea typeface="Arial" pitchFamily="34" charset="-122"/>
                          <a:cs typeface="Arial" pitchFamily="34" charset="-120"/>
                        </a:rPr>
                        <a:t>Yes</a:t>
                      </a:r>
                      <a:endParaRPr lang="en-US" sz="1150" dirty="0">
                        <a:latin typeface="Arial" charset="0"/>
                        <a:ea typeface="Arial" charset="0"/>
                        <a:cs typeface="Arial" charset="0"/>
                      </a:endParaRPr>
                    </a:p>
                  </a:txBody>
                  <a:tcPr marL="91440" marR="91440" marT="45720" marB="45720"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c>
                  <a:txBody>
                    <a:bodyPr/>
                    <a:lstStyle/>
                    <a:p>
                      <a:pPr indent="0" marL="0">
                        <a:buNone/>
                      </a:pPr>
                      <a:r>
                        <a:rPr lang="en-US" sz="1150" b="1" dirty="0">
                          <a:solidFill>
                            <a:srgbClr val="B8860B"/>
                          </a:solidFill>
                          <a:latin typeface="Arial" pitchFamily="34" charset="0"/>
                          <a:ea typeface="Arial" pitchFamily="34" charset="-122"/>
                          <a:cs typeface="Arial" pitchFamily="34" charset="-120"/>
                        </a:rPr>
                        <a:t>No</a:t>
                      </a:r>
                      <a:endParaRPr lang="en-US" sz="1150" dirty="0">
                        <a:latin typeface="Arial" charset="0"/>
                        <a:ea typeface="Arial" charset="0"/>
                        <a:cs typeface="Arial" charset="0"/>
                      </a:endParaRPr>
                    </a:p>
                  </a:txBody>
                  <a:tcPr marL="91440" marR="91440" marT="45720" marB="45720"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r>
            </a:tbl>
          </a:graphicData>
        </a:graphic>
      </p:graphicFrame>
      <p:sp>
        <p:nvSpPr>
          <p:cNvPr id="5" name="Shape 2"/>
          <p:cNvSpPr/>
          <p:nvPr/>
        </p:nvSpPr>
        <p:spPr>
          <a:xfrm>
            <a:off x="615391" y="4206240"/>
            <a:ext cx="10963656" cy="1170432"/>
          </a:xfrm>
          <a:prstGeom prst="roundRect">
            <a:avLst>
              <a:gd name="adj" fmla="val 4688"/>
            </a:avLst>
          </a:prstGeom>
          <a:solidFill>
            <a:srgbClr val="FFF8E6"/>
          </a:solidFill>
          <a:ln w="19050">
            <a:solidFill>
              <a:srgbClr val="FFC82C"/>
            </a:solidFill>
            <a:prstDash val="solid"/>
          </a:ln>
        </p:spPr>
      </p:sp>
      <p:sp>
        <p:nvSpPr>
          <p:cNvPr id="6" name="Text 3"/>
          <p:cNvSpPr txBox="1"/>
          <p:nvPr/>
        </p:nvSpPr>
        <p:spPr>
          <a:xfrm>
            <a:off x="981151" y="4370832"/>
            <a:ext cx="5029200" cy="310896"/>
          </a:xfrm>
          <a:prstGeom prst="rect">
            <a:avLst/>
          </a:prstGeom>
          <a:noFill/>
          <a:ln/>
        </p:spPr>
        <p:txBody>
          <a:bodyPr wrap="square" lIns="0" tIns="0" rIns="0" bIns="0" rtlCol="0" anchor="ctr"/>
          <a:lstStyle/>
          <a:p>
            <a:pPr indent="0" marL="0">
              <a:buNone/>
            </a:pPr>
            <a:r>
              <a:rPr lang="en-US" sz="1600" b="1" dirty="0">
                <a:solidFill>
                  <a:srgbClr val="1F2933"/>
                </a:solidFill>
                <a:latin typeface="Arial" pitchFamily="34" charset="0"/>
                <a:ea typeface="Arial" pitchFamily="34" charset="-122"/>
                <a:cs typeface="Arial" pitchFamily="34" charset="-120"/>
              </a:rPr>
              <a:t>Three lanes of one mouse is n = 1.</a:t>
            </a:r>
            <a:endParaRPr lang="en-US" sz="1600" dirty="0"/>
          </a:p>
        </p:txBody>
      </p:sp>
      <p:sp>
        <p:nvSpPr>
          <p:cNvPr id="7" name="Text 4"/>
          <p:cNvSpPr txBox="1"/>
          <p:nvPr/>
        </p:nvSpPr>
        <p:spPr>
          <a:xfrm>
            <a:off x="981151" y="4700016"/>
            <a:ext cx="10232136" cy="603504"/>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Arial" pitchFamily="34" charset="0"/>
                <a:ea typeface="Arial" pitchFamily="34" charset="-122"/>
                <a:cs typeface="Arial" pitchFamily="34" charset="-120"/>
              </a:rPr>
              <a:t>So is one patient sampled three times on the same day, and one cell line split into three flasks an hour before treatment. Each of those is a perfectly good technical replicate and tells you nothing about whether your result generalises. Published papers make this mistake regularly — look for it in the dataset you pick for your homework.</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615391" y="329184"/>
            <a:ext cx="10963656" cy="603504"/>
          </a:xfrm>
          <a:prstGeom prst="rect">
            <a:avLst/>
          </a:prstGeom>
          <a:noFill/>
          <a:ln/>
        </p:spPr>
        <p:txBody>
          <a:bodyPr wrap="square" lIns="0" tIns="0" rIns="0" bIns="0" rtlCol="0" anchor="ctr"/>
          <a:lstStyle/>
          <a:p>
            <a:pPr indent="0" marL="0">
              <a:buNone/>
            </a:pPr>
            <a:r>
              <a:rPr lang="en-US" sz="2800" b="1" dirty="0">
                <a:solidFill>
                  <a:srgbClr val="3172AE"/>
                </a:solidFill>
                <a:latin typeface="Arial" pitchFamily="34" charset="0"/>
                <a:ea typeface="Arial" pitchFamily="34" charset="-122"/>
                <a:cs typeface="Arial" pitchFamily="34" charset="-120"/>
              </a:rPr>
              <a:t>What n = 3 actually buys you</a:t>
            </a:r>
            <a:endParaRPr lang="en-US" sz="2800" dirty="0"/>
          </a:p>
        </p:txBody>
      </p:sp>
      <p:sp>
        <p:nvSpPr>
          <p:cNvPr id="3" name="Text 1"/>
          <p:cNvSpPr txBox="1"/>
          <p:nvPr/>
        </p:nvSpPr>
        <p:spPr>
          <a:xfrm>
            <a:off x="615391" y="941832"/>
            <a:ext cx="10963656" cy="274320"/>
          </a:xfrm>
          <a:prstGeom prst="rect">
            <a:avLst/>
          </a:prstGeom>
          <a:noFill/>
          <a:ln/>
        </p:spPr>
        <p:txBody>
          <a:bodyPr wrap="square" lIns="0" tIns="0" rIns="0" bIns="0" rtlCol="0" anchor="ctr"/>
          <a:lstStyle/>
          <a:p>
            <a:pPr indent="0" marL="0">
              <a:buNone/>
            </a:pPr>
            <a:r>
              <a:rPr lang="en-US" sz="1200" spc="110" kern="0" dirty="0">
                <a:solidFill>
                  <a:srgbClr val="9AA5B1"/>
                </a:solidFill>
                <a:latin typeface="Arial" pitchFamily="34" charset="0"/>
                <a:ea typeface="Arial" pitchFamily="34" charset="-122"/>
                <a:cs typeface="Arial" pitchFamily="34" charset="-120"/>
              </a:rPr>
              <a:t>EXPERIMENTAL DESIGN</a:t>
            </a:r>
            <a:endParaRPr lang="en-US" sz="1200" dirty="0"/>
          </a:p>
        </p:txBody>
      </p:sp>
      <p:sp>
        <p:nvSpPr>
          <p:cNvPr id="4" name="Text 2"/>
          <p:cNvSpPr txBox="1"/>
          <p:nvPr/>
        </p:nvSpPr>
        <p:spPr>
          <a:xfrm>
            <a:off x="615391" y="1481328"/>
            <a:ext cx="10963656" cy="292608"/>
          </a:xfrm>
          <a:prstGeom prst="rect">
            <a:avLst/>
          </a:prstGeom>
          <a:noFill/>
          <a:ln/>
        </p:spPr>
        <p:txBody>
          <a:bodyPr wrap="square" lIns="0" tIns="0" rIns="0" bIns="0" rtlCol="0" anchor="ctr"/>
          <a:lstStyle/>
          <a:p>
            <a:pPr indent="0" marL="0">
              <a:buNone/>
            </a:pPr>
            <a:r>
              <a:rPr lang="en-US" sz="1400" dirty="0">
                <a:solidFill>
                  <a:srgbClr val="1F2933"/>
                </a:solidFill>
                <a:latin typeface="Arial" pitchFamily="34" charset="0"/>
                <a:ea typeface="Arial" pitchFamily="34" charset="-122"/>
                <a:cs typeface="Arial" pitchFamily="34" charset="-120"/>
              </a:rPr>
              <a:t>Two-sample t-test, α = 0.05, three samples per group:</a:t>
            </a:r>
            <a:endParaRPr lang="en-US" sz="1400" dirty="0"/>
          </a:p>
        </p:txBody>
      </p:sp>
      <p:sp>
        <p:nvSpPr>
          <p:cNvPr id="5" name="Shape 3"/>
          <p:cNvSpPr/>
          <p:nvPr/>
        </p:nvSpPr>
        <p:spPr>
          <a:xfrm>
            <a:off x="615391" y="1892808"/>
            <a:ext cx="2542032" cy="1874520"/>
          </a:xfrm>
          <a:prstGeom prst="roundRect">
            <a:avLst>
              <a:gd name="adj" fmla="val 2927"/>
            </a:avLst>
          </a:prstGeom>
          <a:solidFill>
            <a:srgbClr val="FAFBFC"/>
          </a:solidFill>
          <a:ln w="19050">
            <a:solidFill>
              <a:srgbClr val="D98B32"/>
            </a:solidFill>
            <a:prstDash val="solid"/>
          </a:ln>
        </p:spPr>
      </p:sp>
      <p:sp>
        <p:nvSpPr>
          <p:cNvPr id="6" name="Text 4"/>
          <p:cNvSpPr txBox="1"/>
          <p:nvPr/>
        </p:nvSpPr>
        <p:spPr>
          <a:xfrm>
            <a:off x="871423" y="2048256"/>
            <a:ext cx="2011680" cy="658368"/>
          </a:xfrm>
          <a:prstGeom prst="rect">
            <a:avLst/>
          </a:prstGeom>
          <a:noFill/>
          <a:ln/>
        </p:spPr>
        <p:txBody>
          <a:bodyPr wrap="square" lIns="0" tIns="0" rIns="0" bIns="0" rtlCol="0" anchor="ctr"/>
          <a:lstStyle/>
          <a:p>
            <a:pPr indent="0" marL="0">
              <a:buNone/>
            </a:pPr>
            <a:r>
              <a:rPr lang="en-US" sz="4400" b="1" dirty="0">
                <a:solidFill>
                  <a:srgbClr val="D98B32"/>
                </a:solidFill>
                <a:latin typeface="Arial" pitchFamily="34" charset="0"/>
                <a:ea typeface="Arial" pitchFamily="34" charset="-122"/>
                <a:cs typeface="Arial" pitchFamily="34" charset="-120"/>
              </a:rPr>
              <a:t>12%</a:t>
            </a:r>
            <a:endParaRPr lang="en-US" sz="4400" dirty="0"/>
          </a:p>
        </p:txBody>
      </p:sp>
      <p:sp>
        <p:nvSpPr>
          <p:cNvPr id="7" name="Text 5"/>
          <p:cNvSpPr txBox="1"/>
          <p:nvPr/>
        </p:nvSpPr>
        <p:spPr>
          <a:xfrm>
            <a:off x="871423" y="2706624"/>
            <a:ext cx="2011680" cy="256032"/>
          </a:xfrm>
          <a:prstGeom prst="rect">
            <a:avLst/>
          </a:prstGeom>
          <a:noFill/>
          <a:ln/>
        </p:spPr>
        <p:txBody>
          <a:bodyPr wrap="square" lIns="0" tIns="0" rIns="0" bIns="0" rtlCol="0" anchor="ctr"/>
          <a:lstStyle/>
          <a:p>
            <a:pPr indent="0" marL="0">
              <a:buNone/>
            </a:pPr>
            <a:r>
              <a:rPr lang="en-US" sz="1250" dirty="0">
                <a:solidFill>
                  <a:srgbClr val="6B7280"/>
                </a:solidFill>
                <a:latin typeface="Arial" pitchFamily="34" charset="0"/>
                <a:ea typeface="Arial" pitchFamily="34" charset="-122"/>
                <a:cs typeface="Arial" pitchFamily="34" charset="-120"/>
              </a:rPr>
              <a:t>power</a:t>
            </a:r>
            <a:endParaRPr lang="en-US" sz="1250" dirty="0"/>
          </a:p>
        </p:txBody>
      </p:sp>
      <p:sp>
        <p:nvSpPr>
          <p:cNvPr id="8" name="Text 6"/>
          <p:cNvSpPr txBox="1"/>
          <p:nvPr/>
        </p:nvSpPr>
        <p:spPr>
          <a:xfrm>
            <a:off x="871423" y="2962656"/>
            <a:ext cx="2103120" cy="457200"/>
          </a:xfrm>
          <a:prstGeom prst="rect">
            <a:avLst/>
          </a:prstGeom>
          <a:noFill/>
          <a:ln/>
        </p:spPr>
        <p:txBody>
          <a:bodyPr wrap="square" lIns="0" tIns="0" rIns="0" bIns="0" rtlCol="0" anchor="ctr"/>
          <a:lstStyle/>
          <a:p>
            <a:pPr indent="0" marL="0">
              <a:lnSpc>
                <a:spcPts val="1500"/>
              </a:lnSpc>
              <a:buNone/>
            </a:pPr>
            <a:r>
              <a:rPr lang="en-US" sz="1150" dirty="0">
                <a:solidFill>
                  <a:srgbClr val="1F2933"/>
                </a:solidFill>
                <a:latin typeface="Arial" pitchFamily="34" charset="0"/>
                <a:ea typeface="Arial" pitchFamily="34" charset="-122"/>
                <a:cs typeface="Arial" pitchFamily="34" charset="-120"/>
              </a:rPr>
              <a:t>for a large effect</a:t>
            </a:r>
            <a:endParaRPr lang="en-US" sz="1150" dirty="0"/>
          </a:p>
          <a:p>
            <a:pPr indent="0" marL="0">
              <a:lnSpc>
                <a:spcPts val="1500"/>
              </a:lnSpc>
              <a:buNone/>
            </a:pPr>
            <a:r>
              <a:rPr lang="en-US" sz="1150" dirty="0">
                <a:solidFill>
                  <a:srgbClr val="1F2933"/>
                </a:solidFill>
                <a:latin typeface="Arial" pitchFamily="34" charset="0"/>
                <a:ea typeface="Arial" pitchFamily="34" charset="-122"/>
                <a:cs typeface="Arial" pitchFamily="34" charset="-120"/>
              </a:rPr>
              <a:t>(Cohen's d = 0.8)</a:t>
            </a:r>
            <a:endParaRPr lang="en-US" sz="1150" dirty="0"/>
          </a:p>
        </p:txBody>
      </p:sp>
      <p:sp>
        <p:nvSpPr>
          <p:cNvPr id="9" name="Shape 7"/>
          <p:cNvSpPr/>
          <p:nvPr/>
        </p:nvSpPr>
        <p:spPr>
          <a:xfrm>
            <a:off x="3404311" y="1892808"/>
            <a:ext cx="2542032" cy="1874520"/>
          </a:xfrm>
          <a:prstGeom prst="roundRect">
            <a:avLst>
              <a:gd name="adj" fmla="val 2927"/>
            </a:avLst>
          </a:prstGeom>
          <a:solidFill>
            <a:srgbClr val="FAFBFC"/>
          </a:solidFill>
          <a:ln w="19050">
            <a:solidFill>
              <a:srgbClr val="C8901A"/>
            </a:solidFill>
            <a:prstDash val="solid"/>
          </a:ln>
        </p:spPr>
      </p:sp>
      <p:sp>
        <p:nvSpPr>
          <p:cNvPr id="10" name="Text 8"/>
          <p:cNvSpPr txBox="1"/>
          <p:nvPr/>
        </p:nvSpPr>
        <p:spPr>
          <a:xfrm>
            <a:off x="3660343" y="2048256"/>
            <a:ext cx="2011680" cy="658368"/>
          </a:xfrm>
          <a:prstGeom prst="rect">
            <a:avLst/>
          </a:prstGeom>
          <a:noFill/>
          <a:ln/>
        </p:spPr>
        <p:txBody>
          <a:bodyPr wrap="square" lIns="0" tIns="0" rIns="0" bIns="0" rtlCol="0" anchor="ctr"/>
          <a:lstStyle/>
          <a:p>
            <a:pPr indent="0" marL="0">
              <a:buNone/>
            </a:pPr>
            <a:r>
              <a:rPr lang="en-US" sz="4400" b="1" dirty="0">
                <a:solidFill>
                  <a:srgbClr val="C8901A"/>
                </a:solidFill>
                <a:latin typeface="Arial" pitchFamily="34" charset="0"/>
                <a:ea typeface="Arial" pitchFamily="34" charset="-122"/>
                <a:cs typeface="Arial" pitchFamily="34" charset="-120"/>
              </a:rPr>
              <a:t>21%</a:t>
            </a:r>
            <a:endParaRPr lang="en-US" sz="4400" dirty="0"/>
          </a:p>
        </p:txBody>
      </p:sp>
      <p:sp>
        <p:nvSpPr>
          <p:cNvPr id="11" name="Text 9"/>
          <p:cNvSpPr txBox="1"/>
          <p:nvPr/>
        </p:nvSpPr>
        <p:spPr>
          <a:xfrm>
            <a:off x="3660343" y="2706624"/>
            <a:ext cx="2011680" cy="256032"/>
          </a:xfrm>
          <a:prstGeom prst="rect">
            <a:avLst/>
          </a:prstGeom>
          <a:noFill/>
          <a:ln/>
        </p:spPr>
        <p:txBody>
          <a:bodyPr wrap="square" lIns="0" tIns="0" rIns="0" bIns="0" rtlCol="0" anchor="ctr"/>
          <a:lstStyle/>
          <a:p>
            <a:pPr indent="0" marL="0">
              <a:buNone/>
            </a:pPr>
            <a:r>
              <a:rPr lang="en-US" sz="1250" dirty="0">
                <a:solidFill>
                  <a:srgbClr val="6B7280"/>
                </a:solidFill>
                <a:latin typeface="Arial" pitchFamily="34" charset="0"/>
                <a:ea typeface="Arial" pitchFamily="34" charset="-122"/>
                <a:cs typeface="Arial" pitchFamily="34" charset="-120"/>
              </a:rPr>
              <a:t>power</a:t>
            </a:r>
            <a:endParaRPr lang="en-US" sz="1250" dirty="0"/>
          </a:p>
        </p:txBody>
      </p:sp>
      <p:sp>
        <p:nvSpPr>
          <p:cNvPr id="12" name="Text 10"/>
          <p:cNvSpPr txBox="1"/>
          <p:nvPr/>
        </p:nvSpPr>
        <p:spPr>
          <a:xfrm>
            <a:off x="3660343" y="2962656"/>
            <a:ext cx="2103120" cy="457200"/>
          </a:xfrm>
          <a:prstGeom prst="rect">
            <a:avLst/>
          </a:prstGeom>
          <a:noFill/>
          <a:ln/>
        </p:spPr>
        <p:txBody>
          <a:bodyPr wrap="square" lIns="0" tIns="0" rIns="0" bIns="0" rtlCol="0" anchor="ctr"/>
          <a:lstStyle/>
          <a:p>
            <a:pPr indent="0" marL="0">
              <a:lnSpc>
                <a:spcPts val="1500"/>
              </a:lnSpc>
              <a:buNone/>
            </a:pPr>
            <a:r>
              <a:rPr lang="en-US" sz="1150" dirty="0">
                <a:solidFill>
                  <a:srgbClr val="1F2933"/>
                </a:solidFill>
                <a:latin typeface="Arial" pitchFamily="34" charset="0"/>
                <a:ea typeface="Arial" pitchFamily="34" charset="-122"/>
                <a:cs typeface="Arial" pitchFamily="34" charset="-120"/>
              </a:rPr>
              <a:t>for a very large effect</a:t>
            </a:r>
            <a:endParaRPr lang="en-US" sz="1150" dirty="0"/>
          </a:p>
          <a:p>
            <a:pPr indent="0" marL="0">
              <a:lnSpc>
                <a:spcPts val="1500"/>
              </a:lnSpc>
              <a:buNone/>
            </a:pPr>
            <a:r>
              <a:rPr lang="en-US" sz="1150" dirty="0">
                <a:solidFill>
                  <a:srgbClr val="1F2933"/>
                </a:solidFill>
                <a:latin typeface="Arial" pitchFamily="34" charset="0"/>
                <a:ea typeface="Arial" pitchFamily="34" charset="-122"/>
                <a:cs typeface="Arial" pitchFamily="34" charset="-120"/>
              </a:rPr>
              <a:t>(d = 1.2)</a:t>
            </a:r>
            <a:endParaRPr lang="en-US" sz="1150" dirty="0"/>
          </a:p>
        </p:txBody>
      </p:sp>
      <p:sp>
        <p:nvSpPr>
          <p:cNvPr id="13" name="Shape 11"/>
          <p:cNvSpPr/>
          <p:nvPr/>
        </p:nvSpPr>
        <p:spPr>
          <a:xfrm>
            <a:off x="6193231" y="1892808"/>
            <a:ext cx="2542032" cy="1874520"/>
          </a:xfrm>
          <a:prstGeom prst="roundRect">
            <a:avLst>
              <a:gd name="adj" fmla="val 2927"/>
            </a:avLst>
          </a:prstGeom>
          <a:solidFill>
            <a:srgbClr val="FAFBFC"/>
          </a:solidFill>
          <a:ln w="19050">
            <a:solidFill>
              <a:srgbClr val="498BCA"/>
            </a:solidFill>
            <a:prstDash val="solid"/>
          </a:ln>
        </p:spPr>
      </p:sp>
      <p:sp>
        <p:nvSpPr>
          <p:cNvPr id="14" name="Text 12"/>
          <p:cNvSpPr txBox="1"/>
          <p:nvPr/>
        </p:nvSpPr>
        <p:spPr>
          <a:xfrm>
            <a:off x="6449263" y="2048256"/>
            <a:ext cx="2011680" cy="658368"/>
          </a:xfrm>
          <a:prstGeom prst="rect">
            <a:avLst/>
          </a:prstGeom>
          <a:noFill/>
          <a:ln/>
        </p:spPr>
        <p:txBody>
          <a:bodyPr wrap="square" lIns="0" tIns="0" rIns="0" bIns="0" rtlCol="0" anchor="ctr"/>
          <a:lstStyle/>
          <a:p>
            <a:pPr indent="0" marL="0">
              <a:buNone/>
            </a:pPr>
            <a:r>
              <a:rPr lang="en-US" sz="4400" b="1" dirty="0">
                <a:solidFill>
                  <a:srgbClr val="498BCA"/>
                </a:solidFill>
                <a:latin typeface="Arial" pitchFamily="34" charset="0"/>
                <a:ea typeface="Arial" pitchFamily="34" charset="-122"/>
                <a:cs typeface="Arial" pitchFamily="34" charset="-120"/>
              </a:rPr>
              <a:t>46%</a:t>
            </a:r>
            <a:endParaRPr lang="en-US" sz="4400" dirty="0"/>
          </a:p>
        </p:txBody>
      </p:sp>
      <p:sp>
        <p:nvSpPr>
          <p:cNvPr id="15" name="Text 13"/>
          <p:cNvSpPr txBox="1"/>
          <p:nvPr/>
        </p:nvSpPr>
        <p:spPr>
          <a:xfrm>
            <a:off x="6449263" y="2706624"/>
            <a:ext cx="2011680" cy="256032"/>
          </a:xfrm>
          <a:prstGeom prst="rect">
            <a:avLst/>
          </a:prstGeom>
          <a:noFill/>
          <a:ln/>
        </p:spPr>
        <p:txBody>
          <a:bodyPr wrap="square" lIns="0" tIns="0" rIns="0" bIns="0" rtlCol="0" anchor="ctr"/>
          <a:lstStyle/>
          <a:p>
            <a:pPr indent="0" marL="0">
              <a:buNone/>
            </a:pPr>
            <a:r>
              <a:rPr lang="en-US" sz="1250" dirty="0">
                <a:solidFill>
                  <a:srgbClr val="6B7280"/>
                </a:solidFill>
                <a:latin typeface="Arial" pitchFamily="34" charset="0"/>
                <a:ea typeface="Arial" pitchFamily="34" charset="-122"/>
                <a:cs typeface="Arial" pitchFamily="34" charset="-120"/>
              </a:rPr>
              <a:t>power</a:t>
            </a:r>
            <a:endParaRPr lang="en-US" sz="1250" dirty="0"/>
          </a:p>
        </p:txBody>
      </p:sp>
      <p:sp>
        <p:nvSpPr>
          <p:cNvPr id="16" name="Text 14"/>
          <p:cNvSpPr txBox="1"/>
          <p:nvPr/>
        </p:nvSpPr>
        <p:spPr>
          <a:xfrm>
            <a:off x="6449263" y="2962656"/>
            <a:ext cx="2103120" cy="457200"/>
          </a:xfrm>
          <a:prstGeom prst="rect">
            <a:avLst/>
          </a:prstGeom>
          <a:noFill/>
          <a:ln/>
        </p:spPr>
        <p:txBody>
          <a:bodyPr wrap="square" lIns="0" tIns="0" rIns="0" bIns="0" rtlCol="0" anchor="ctr"/>
          <a:lstStyle/>
          <a:p>
            <a:pPr indent="0" marL="0">
              <a:lnSpc>
                <a:spcPts val="1500"/>
              </a:lnSpc>
              <a:buNone/>
            </a:pPr>
            <a:r>
              <a:rPr lang="en-US" sz="1150" dirty="0">
                <a:solidFill>
                  <a:srgbClr val="1F2933"/>
                </a:solidFill>
                <a:latin typeface="Arial" pitchFamily="34" charset="0"/>
                <a:ea typeface="Arial" pitchFamily="34" charset="-122"/>
                <a:cs typeface="Arial" pitchFamily="34" charset="-120"/>
              </a:rPr>
              <a:t>for an enormous effect</a:t>
            </a:r>
            <a:endParaRPr lang="en-US" sz="1150" dirty="0"/>
          </a:p>
          <a:p>
            <a:pPr indent="0" marL="0">
              <a:lnSpc>
                <a:spcPts val="1500"/>
              </a:lnSpc>
              <a:buNone/>
            </a:pPr>
            <a:r>
              <a:rPr lang="en-US" sz="1150" dirty="0">
                <a:solidFill>
                  <a:srgbClr val="1F2933"/>
                </a:solidFill>
                <a:latin typeface="Arial" pitchFamily="34" charset="0"/>
                <a:ea typeface="Arial" pitchFamily="34" charset="-122"/>
                <a:cs typeface="Arial" pitchFamily="34" charset="-120"/>
              </a:rPr>
              <a:t>(d = 2.0)</a:t>
            </a:r>
            <a:endParaRPr lang="en-US" sz="1150" dirty="0"/>
          </a:p>
        </p:txBody>
      </p:sp>
      <p:sp>
        <p:nvSpPr>
          <p:cNvPr id="17" name="Shape 15"/>
          <p:cNvSpPr/>
          <p:nvPr/>
        </p:nvSpPr>
        <p:spPr>
          <a:xfrm>
            <a:off x="9052560" y="1892808"/>
            <a:ext cx="2523744" cy="1874520"/>
          </a:xfrm>
          <a:prstGeom prst="roundRect">
            <a:avLst>
              <a:gd name="adj" fmla="val 2927"/>
            </a:avLst>
          </a:prstGeom>
          <a:solidFill>
            <a:srgbClr val="EEF4FA"/>
          </a:solidFill>
          <a:ln w="12700">
            <a:solidFill>
              <a:srgbClr val="EEF4FA"/>
            </a:solidFill>
            <a:prstDash val="solid"/>
          </a:ln>
        </p:spPr>
      </p:sp>
      <p:sp>
        <p:nvSpPr>
          <p:cNvPr id="18" name="Text 16"/>
          <p:cNvSpPr txBox="1"/>
          <p:nvPr/>
        </p:nvSpPr>
        <p:spPr>
          <a:xfrm>
            <a:off x="9290304" y="2084832"/>
            <a:ext cx="2103120" cy="274320"/>
          </a:xfrm>
          <a:prstGeom prst="rect">
            <a:avLst/>
          </a:prstGeom>
          <a:noFill/>
          <a:ln/>
        </p:spPr>
        <p:txBody>
          <a:bodyPr wrap="square" lIns="0" tIns="0" rIns="0" bIns="0" rtlCol="0" anchor="ctr"/>
          <a:lstStyle/>
          <a:p>
            <a:pPr indent="0" marL="0">
              <a:buNone/>
            </a:pPr>
            <a:r>
              <a:rPr lang="en-US" sz="1300" b="1" dirty="0">
                <a:solidFill>
                  <a:srgbClr val="3172AE"/>
                </a:solidFill>
                <a:latin typeface="Arial" pitchFamily="34" charset="0"/>
                <a:ea typeface="Arial" pitchFamily="34" charset="-122"/>
                <a:cs typeface="Arial" pitchFamily="34" charset="-120"/>
              </a:rPr>
              <a:t>Read that again</a:t>
            </a:r>
            <a:endParaRPr lang="en-US" sz="1300" dirty="0"/>
          </a:p>
        </p:txBody>
      </p:sp>
      <p:sp>
        <p:nvSpPr>
          <p:cNvPr id="19" name="Text 17"/>
          <p:cNvSpPr txBox="1"/>
          <p:nvPr/>
        </p:nvSpPr>
        <p:spPr>
          <a:xfrm>
            <a:off x="9290304" y="2414016"/>
            <a:ext cx="2103120" cy="91440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Arial" pitchFamily="34" charset="0"/>
                <a:ea typeface="Arial" pitchFamily="34" charset="-122"/>
                <a:cs typeface="Arial" pitchFamily="34" charset="-120"/>
              </a:rPr>
              <a:t>At n = 3, a genuinely large effect is missed roughly seven times out of eight.</a:t>
            </a:r>
            <a:endParaRPr lang="en-US" sz="1200" dirty="0"/>
          </a:p>
        </p:txBody>
      </p:sp>
      <p:sp>
        <p:nvSpPr>
          <p:cNvPr id="20" name="Shape 18"/>
          <p:cNvSpPr/>
          <p:nvPr/>
        </p:nvSpPr>
        <p:spPr>
          <a:xfrm>
            <a:off x="615391" y="4343400"/>
            <a:ext cx="10963656" cy="1051560"/>
          </a:xfrm>
          <a:prstGeom prst="roundRect">
            <a:avLst>
              <a:gd name="adj" fmla="val 5217"/>
            </a:avLst>
          </a:prstGeom>
          <a:solidFill>
            <a:srgbClr val="F5F6F0"/>
          </a:solidFill>
          <a:ln w="12700">
            <a:solidFill>
              <a:srgbClr val="F5F6F0"/>
            </a:solidFill>
            <a:prstDash val="solid"/>
          </a:ln>
        </p:spPr>
      </p:sp>
      <p:sp>
        <p:nvSpPr>
          <p:cNvPr id="21" name="Text 19"/>
          <p:cNvSpPr txBox="1"/>
          <p:nvPr/>
        </p:nvSpPr>
        <p:spPr>
          <a:xfrm>
            <a:off x="981151" y="4498848"/>
            <a:ext cx="5943600" cy="292608"/>
          </a:xfrm>
          <a:prstGeom prst="rect">
            <a:avLst/>
          </a:prstGeom>
          <a:noFill/>
          <a:ln/>
        </p:spPr>
        <p:txBody>
          <a:bodyPr wrap="square" lIns="0" tIns="0" rIns="0" bIns="0" rtlCol="0" anchor="ctr"/>
          <a:lstStyle/>
          <a:p>
            <a:pPr indent="0" marL="0">
              <a:buNone/>
            </a:pPr>
            <a:r>
              <a:rPr lang="en-US" sz="1500" b="1" dirty="0">
                <a:solidFill>
                  <a:srgbClr val="1F2933"/>
                </a:solidFill>
                <a:latin typeface="Arial" pitchFamily="34" charset="0"/>
                <a:ea typeface="Arial" pitchFamily="34" charset="-122"/>
                <a:cs typeface="Arial" pitchFamily="34" charset="-120"/>
              </a:rPr>
              <a:t>n = 3 is a budget convention, not a statistical one.</a:t>
            </a:r>
            <a:endParaRPr lang="en-US" sz="1500" dirty="0"/>
          </a:p>
        </p:txBody>
      </p:sp>
      <p:sp>
        <p:nvSpPr>
          <p:cNvPr id="22" name="Text 20"/>
          <p:cNvSpPr txBox="1"/>
          <p:nvPr/>
        </p:nvSpPr>
        <p:spPr>
          <a:xfrm>
            <a:off x="981151" y="4818888"/>
            <a:ext cx="10232136" cy="502920"/>
          </a:xfrm>
          <a:prstGeom prst="rect">
            <a:avLst/>
          </a:prstGeom>
          <a:noFill/>
          <a:ln/>
        </p:spPr>
        <p:txBody>
          <a:bodyPr wrap="square" lIns="0" tIns="0" rIns="0" bIns="0" rtlCol="0" anchor="ctr"/>
          <a:lstStyle/>
          <a:p>
            <a:pPr indent="0" marL="0">
              <a:lnSpc>
                <a:spcPts val="1700"/>
              </a:lnSpc>
              <a:buNone/>
            </a:pPr>
            <a:r>
              <a:rPr lang="en-US" sz="1250" dirty="0">
                <a:solidFill>
                  <a:srgbClr val="6B7280"/>
                </a:solidFill>
                <a:latin typeface="Arial" pitchFamily="34" charset="0"/>
                <a:ea typeface="Arial" pitchFamily="34" charset="-122"/>
                <a:cs typeface="Arial" pitchFamily="34" charset="-120"/>
              </a:rPr>
              <a:t>DE tools like DESeq2 do better than this by sharing dispersion information across thousands of genes — that is genuinely clever and genuinely helps. It does not manufacture replication. A design that cannot detect an effect still cannot detect it.</a:t>
            </a:r>
            <a:endParaRPr lang="en-US" sz="1250" dirty="0"/>
          </a:p>
        </p:txBody>
      </p:sp>
      <p:sp>
        <p:nvSpPr>
          <p:cNvPr id="23" name="Text 21"/>
          <p:cNvSpPr txBox="1"/>
          <p:nvPr/>
        </p:nvSpPr>
        <p:spPr>
          <a:xfrm>
            <a:off x="615391" y="5468112"/>
            <a:ext cx="10963656" cy="237744"/>
          </a:xfrm>
          <a:prstGeom prst="rect">
            <a:avLst/>
          </a:prstGeom>
          <a:noFill/>
          <a:ln/>
        </p:spPr>
        <p:txBody>
          <a:bodyPr wrap="square" lIns="0" tIns="0" rIns="0" bIns="0" rtlCol="0" anchor="ctr"/>
          <a:lstStyle/>
          <a:p>
            <a:pPr indent="0" marL="0">
              <a:buNone/>
            </a:pPr>
            <a:r>
              <a:rPr lang="en-US" sz="950" i="1" dirty="0">
                <a:solidFill>
                  <a:srgbClr val="9AA5B1"/>
                </a:solidFill>
                <a:latin typeface="Arial" pitchFamily="34" charset="0"/>
                <a:ea typeface="Arial" pitchFamily="34" charset="-122"/>
                <a:cs typeface="Arial" pitchFamily="34" charset="-120"/>
              </a:rPr>
              <a:t>Computed for a two-sided two-sample t-test using the non-central t distribution.</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615391" y="329184"/>
            <a:ext cx="10963656" cy="603504"/>
          </a:xfrm>
          <a:prstGeom prst="rect">
            <a:avLst/>
          </a:prstGeom>
          <a:noFill/>
          <a:ln/>
        </p:spPr>
        <p:txBody>
          <a:bodyPr wrap="square" lIns="0" tIns="0" rIns="0" bIns="0" rtlCol="0" anchor="ctr"/>
          <a:lstStyle/>
          <a:p>
            <a:pPr indent="0" marL="0">
              <a:buNone/>
            </a:pPr>
            <a:r>
              <a:rPr lang="en-US" sz="2800" b="1" dirty="0">
                <a:solidFill>
                  <a:srgbClr val="3172AE"/>
                </a:solidFill>
                <a:latin typeface="Arial" pitchFamily="34" charset="0"/>
                <a:ea typeface="Arial" pitchFamily="34" charset="-122"/>
                <a:cs typeface="Arial" pitchFamily="34" charset="-120"/>
              </a:rPr>
              <a:t>Batch effects come in three tiers</a:t>
            </a:r>
            <a:endParaRPr lang="en-US" sz="2800" dirty="0"/>
          </a:p>
        </p:txBody>
      </p:sp>
      <p:sp>
        <p:nvSpPr>
          <p:cNvPr id="3" name="Text 1"/>
          <p:cNvSpPr txBox="1"/>
          <p:nvPr/>
        </p:nvSpPr>
        <p:spPr>
          <a:xfrm>
            <a:off x="615391" y="941832"/>
            <a:ext cx="10963656" cy="274320"/>
          </a:xfrm>
          <a:prstGeom prst="rect">
            <a:avLst/>
          </a:prstGeom>
          <a:noFill/>
          <a:ln/>
        </p:spPr>
        <p:txBody>
          <a:bodyPr wrap="square" lIns="0" tIns="0" rIns="0" bIns="0" rtlCol="0" anchor="ctr"/>
          <a:lstStyle/>
          <a:p>
            <a:pPr indent="0" marL="0">
              <a:buNone/>
            </a:pPr>
            <a:r>
              <a:rPr lang="en-US" sz="1200" spc="110" kern="0" dirty="0">
                <a:solidFill>
                  <a:srgbClr val="9AA5B1"/>
                </a:solidFill>
                <a:latin typeface="Arial" pitchFamily="34" charset="0"/>
                <a:ea typeface="Arial" pitchFamily="34" charset="-122"/>
                <a:cs typeface="Arial" pitchFamily="34" charset="-120"/>
              </a:rPr>
              <a:t>EXPERIMENTAL DESIGN</a:t>
            </a:r>
            <a:endParaRPr lang="en-US" sz="1200" dirty="0"/>
          </a:p>
        </p:txBody>
      </p:sp>
      <p:sp>
        <p:nvSpPr>
          <p:cNvPr id="4" name="Shape 2"/>
          <p:cNvSpPr/>
          <p:nvPr/>
        </p:nvSpPr>
        <p:spPr>
          <a:xfrm>
            <a:off x="615391" y="1481328"/>
            <a:ext cx="3493008" cy="3200400"/>
          </a:xfrm>
          <a:prstGeom prst="roundRect">
            <a:avLst>
              <a:gd name="adj" fmla="val 1714"/>
            </a:avLst>
          </a:prstGeom>
          <a:solidFill>
            <a:srgbClr val="E8F5E9"/>
          </a:solidFill>
          <a:ln w="15875">
            <a:solidFill>
              <a:srgbClr val="2E7D32"/>
            </a:solidFill>
            <a:prstDash val="solid"/>
          </a:ln>
        </p:spPr>
      </p:sp>
      <p:sp>
        <p:nvSpPr>
          <p:cNvPr id="5" name="Text 3"/>
          <p:cNvSpPr txBox="1"/>
          <p:nvPr/>
        </p:nvSpPr>
        <p:spPr>
          <a:xfrm>
            <a:off x="889711" y="1664208"/>
            <a:ext cx="2926080" cy="237744"/>
          </a:xfrm>
          <a:prstGeom prst="rect">
            <a:avLst/>
          </a:prstGeom>
          <a:noFill/>
          <a:ln/>
        </p:spPr>
        <p:txBody>
          <a:bodyPr wrap="square" lIns="0" tIns="0" rIns="0" bIns="0" rtlCol="0" anchor="ctr"/>
          <a:lstStyle/>
          <a:p>
            <a:pPr indent="0" marL="0">
              <a:buNone/>
            </a:pPr>
            <a:r>
              <a:rPr lang="en-US" sz="1050" b="1" spc="120" kern="0" dirty="0">
                <a:solidFill>
                  <a:srgbClr val="2E7D32"/>
                </a:solidFill>
                <a:latin typeface="Arial" pitchFamily="34" charset="0"/>
                <a:ea typeface="Arial" pitchFamily="34" charset="-122"/>
                <a:cs typeface="Arial" pitchFamily="34" charset="-120"/>
              </a:rPr>
              <a:t>Tier 1</a:t>
            </a:r>
            <a:endParaRPr lang="en-US" sz="1050" dirty="0"/>
          </a:p>
        </p:txBody>
      </p:sp>
      <p:sp>
        <p:nvSpPr>
          <p:cNvPr id="6" name="Text 4"/>
          <p:cNvSpPr txBox="1"/>
          <p:nvPr/>
        </p:nvSpPr>
        <p:spPr>
          <a:xfrm>
            <a:off x="889711" y="1938528"/>
            <a:ext cx="2971800" cy="566928"/>
          </a:xfrm>
          <a:prstGeom prst="rect">
            <a:avLst/>
          </a:prstGeom>
          <a:noFill/>
          <a:ln/>
        </p:spPr>
        <p:txBody>
          <a:bodyPr wrap="square" lIns="0" tIns="0" rIns="0" bIns="0" rtlCol="0" anchor="ctr"/>
          <a:lstStyle/>
          <a:p>
            <a:pPr indent="0" marL="0">
              <a:lnSpc>
                <a:spcPts val="2000"/>
              </a:lnSpc>
              <a:buNone/>
            </a:pPr>
            <a:r>
              <a:rPr lang="en-US" sz="1550" b="1" dirty="0">
                <a:solidFill>
                  <a:srgbClr val="1F2933"/>
                </a:solidFill>
                <a:latin typeface="Arial" pitchFamily="34" charset="0"/>
                <a:ea typeface="Arial" pitchFamily="34" charset="-122"/>
                <a:cs typeface="Arial" pitchFamily="34" charset="-120"/>
              </a:rPr>
              <a:t>Recorded and crossed</a:t>
            </a:r>
            <a:endParaRPr lang="en-US" sz="1550" dirty="0"/>
          </a:p>
        </p:txBody>
      </p:sp>
      <p:sp>
        <p:nvSpPr>
          <p:cNvPr id="7" name="Text 5"/>
          <p:cNvSpPr txBox="1"/>
          <p:nvPr/>
        </p:nvSpPr>
        <p:spPr>
          <a:xfrm>
            <a:off x="889711" y="2578608"/>
            <a:ext cx="2971800" cy="731520"/>
          </a:xfrm>
          <a:prstGeom prst="rect">
            <a:avLst/>
          </a:prstGeom>
          <a:noFill/>
          <a:ln/>
        </p:spPr>
        <p:txBody>
          <a:bodyPr wrap="square" lIns="0" tIns="0" rIns="0" bIns="0" rtlCol="0" anchor="ctr"/>
          <a:lstStyle/>
          <a:p>
            <a:pPr indent="0" marL="0">
              <a:lnSpc>
                <a:spcPts val="1600"/>
              </a:lnSpc>
              <a:buNone/>
            </a:pPr>
            <a:r>
              <a:rPr lang="en-US" sz="1150" dirty="0">
                <a:solidFill>
                  <a:srgbClr val="1F2933"/>
                </a:solidFill>
                <a:latin typeface="Arial" pitchFamily="34" charset="0"/>
                <a:ea typeface="Arial" pitchFamily="34" charset="-122"/>
                <a:cs typeface="Arial" pitchFamily="34" charset="-120"/>
              </a:rPr>
              <a:t>Batch was written down, and each condition appears in more than one batch.</a:t>
            </a:r>
            <a:endParaRPr lang="en-US" sz="1150" dirty="0"/>
          </a:p>
        </p:txBody>
      </p:sp>
      <p:sp>
        <p:nvSpPr>
          <p:cNvPr id="8" name="Shape 6"/>
          <p:cNvSpPr/>
          <p:nvPr/>
        </p:nvSpPr>
        <p:spPr>
          <a:xfrm>
            <a:off x="889711" y="3383280"/>
            <a:ext cx="2926080" cy="0"/>
          </a:xfrm>
          <a:prstGeom prst="line">
            <a:avLst/>
          </a:prstGeom>
          <a:noFill/>
          <a:ln w="9525">
            <a:solidFill>
              <a:srgbClr val="2E7D32"/>
            </a:solidFill>
            <a:prstDash val="solid"/>
          </a:ln>
        </p:spPr>
      </p:sp>
      <p:sp>
        <p:nvSpPr>
          <p:cNvPr id="9" name="Text 7"/>
          <p:cNvSpPr txBox="1"/>
          <p:nvPr/>
        </p:nvSpPr>
        <p:spPr>
          <a:xfrm>
            <a:off x="889711" y="3511296"/>
            <a:ext cx="2971800" cy="1005840"/>
          </a:xfrm>
          <a:prstGeom prst="rect">
            <a:avLst/>
          </a:prstGeom>
          <a:noFill/>
          <a:ln/>
        </p:spPr>
        <p:txBody>
          <a:bodyPr wrap="square" lIns="0" tIns="0" rIns="0" bIns="0" rtlCol="0" anchor="ctr"/>
          <a:lstStyle/>
          <a:p>
            <a:pPr indent="0" marL="0">
              <a:lnSpc>
                <a:spcPts val="1600"/>
              </a:lnSpc>
              <a:buNone/>
            </a:pPr>
            <a:r>
              <a:rPr lang="en-US" sz="1150" dirty="0">
                <a:solidFill>
                  <a:srgbClr val="6B7280"/>
                </a:solidFill>
                <a:latin typeface="Arial" pitchFamily="34" charset="0"/>
                <a:ea typeface="Arial" pitchFamily="34" charset="-122"/>
                <a:cs typeface="Arial" pitchFamily="34" charset="-120"/>
              </a:rPr>
              <a:t>Put it in the model as a covariate. This is the design formula in Week 6. Problem solved, honestly and visibly.</a:t>
            </a:r>
            <a:endParaRPr lang="en-US" sz="1150" dirty="0"/>
          </a:p>
        </p:txBody>
      </p:sp>
      <p:sp>
        <p:nvSpPr>
          <p:cNvPr id="10" name="Shape 8"/>
          <p:cNvSpPr/>
          <p:nvPr/>
        </p:nvSpPr>
        <p:spPr>
          <a:xfrm>
            <a:off x="4327855" y="1481328"/>
            <a:ext cx="3493008" cy="3200400"/>
          </a:xfrm>
          <a:prstGeom prst="roundRect">
            <a:avLst>
              <a:gd name="adj" fmla="val 1714"/>
            </a:avLst>
          </a:prstGeom>
          <a:solidFill>
            <a:srgbClr val="FFF8E6"/>
          </a:solidFill>
          <a:ln w="15875">
            <a:solidFill>
              <a:srgbClr val="B8860B"/>
            </a:solidFill>
            <a:prstDash val="solid"/>
          </a:ln>
        </p:spPr>
      </p:sp>
      <p:sp>
        <p:nvSpPr>
          <p:cNvPr id="11" name="Text 9"/>
          <p:cNvSpPr txBox="1"/>
          <p:nvPr/>
        </p:nvSpPr>
        <p:spPr>
          <a:xfrm>
            <a:off x="4602175" y="1664208"/>
            <a:ext cx="2926080" cy="237744"/>
          </a:xfrm>
          <a:prstGeom prst="rect">
            <a:avLst/>
          </a:prstGeom>
          <a:noFill/>
          <a:ln/>
        </p:spPr>
        <p:txBody>
          <a:bodyPr wrap="square" lIns="0" tIns="0" rIns="0" bIns="0" rtlCol="0" anchor="ctr"/>
          <a:lstStyle/>
          <a:p>
            <a:pPr indent="0" marL="0">
              <a:buNone/>
            </a:pPr>
            <a:r>
              <a:rPr lang="en-US" sz="1050" b="1" spc="120" kern="0" dirty="0">
                <a:solidFill>
                  <a:srgbClr val="B8860B"/>
                </a:solidFill>
                <a:latin typeface="Arial" pitchFamily="34" charset="0"/>
                <a:ea typeface="Arial" pitchFamily="34" charset="-122"/>
                <a:cs typeface="Arial" pitchFamily="34" charset="-120"/>
              </a:rPr>
              <a:t>Tier 2</a:t>
            </a:r>
            <a:endParaRPr lang="en-US" sz="1050" dirty="0"/>
          </a:p>
        </p:txBody>
      </p:sp>
      <p:sp>
        <p:nvSpPr>
          <p:cNvPr id="12" name="Text 10"/>
          <p:cNvSpPr txBox="1"/>
          <p:nvPr/>
        </p:nvSpPr>
        <p:spPr>
          <a:xfrm>
            <a:off x="4602175" y="1938528"/>
            <a:ext cx="2971800" cy="566928"/>
          </a:xfrm>
          <a:prstGeom prst="rect">
            <a:avLst/>
          </a:prstGeom>
          <a:noFill/>
          <a:ln/>
        </p:spPr>
        <p:txBody>
          <a:bodyPr wrap="square" lIns="0" tIns="0" rIns="0" bIns="0" rtlCol="0" anchor="ctr"/>
          <a:lstStyle/>
          <a:p>
            <a:pPr indent="0" marL="0">
              <a:lnSpc>
                <a:spcPts val="2000"/>
              </a:lnSpc>
              <a:buNone/>
            </a:pPr>
            <a:r>
              <a:rPr lang="en-US" sz="1550" b="1" dirty="0">
                <a:solidFill>
                  <a:srgbClr val="1F2933"/>
                </a:solidFill>
                <a:latin typeface="Arial" pitchFamily="34" charset="0"/>
                <a:ea typeface="Arial" pitchFamily="34" charset="-122"/>
                <a:cs typeface="Arial" pitchFamily="34" charset="-120"/>
              </a:rPr>
              <a:t>Recorded and confounded</a:t>
            </a:r>
            <a:endParaRPr lang="en-US" sz="1550" dirty="0"/>
          </a:p>
        </p:txBody>
      </p:sp>
      <p:sp>
        <p:nvSpPr>
          <p:cNvPr id="13" name="Text 11"/>
          <p:cNvSpPr txBox="1"/>
          <p:nvPr/>
        </p:nvSpPr>
        <p:spPr>
          <a:xfrm>
            <a:off x="4602175" y="2578608"/>
            <a:ext cx="2971800" cy="731520"/>
          </a:xfrm>
          <a:prstGeom prst="rect">
            <a:avLst/>
          </a:prstGeom>
          <a:noFill/>
          <a:ln/>
        </p:spPr>
        <p:txBody>
          <a:bodyPr wrap="square" lIns="0" tIns="0" rIns="0" bIns="0" rtlCol="0" anchor="ctr"/>
          <a:lstStyle/>
          <a:p>
            <a:pPr indent="0" marL="0">
              <a:lnSpc>
                <a:spcPts val="1600"/>
              </a:lnSpc>
              <a:buNone/>
            </a:pPr>
            <a:r>
              <a:rPr lang="en-US" sz="1150" dirty="0">
                <a:solidFill>
                  <a:srgbClr val="1F2933"/>
                </a:solidFill>
                <a:latin typeface="Arial" pitchFamily="34" charset="0"/>
                <a:ea typeface="Arial" pitchFamily="34" charset="-122"/>
                <a:cs typeface="Arial" pitchFamily="34" charset="-120"/>
              </a:rPr>
              <a:t>Batch was written down, and it lines up exactly with your variable of interest.</a:t>
            </a:r>
            <a:endParaRPr lang="en-US" sz="1150" dirty="0"/>
          </a:p>
        </p:txBody>
      </p:sp>
      <p:sp>
        <p:nvSpPr>
          <p:cNvPr id="14" name="Shape 12"/>
          <p:cNvSpPr/>
          <p:nvPr/>
        </p:nvSpPr>
        <p:spPr>
          <a:xfrm>
            <a:off x="4602175" y="3383280"/>
            <a:ext cx="2926080" cy="0"/>
          </a:xfrm>
          <a:prstGeom prst="line">
            <a:avLst/>
          </a:prstGeom>
          <a:noFill/>
          <a:ln w="9525">
            <a:solidFill>
              <a:srgbClr val="B8860B"/>
            </a:solidFill>
            <a:prstDash val="solid"/>
          </a:ln>
        </p:spPr>
      </p:sp>
      <p:sp>
        <p:nvSpPr>
          <p:cNvPr id="15" name="Text 13"/>
          <p:cNvSpPr txBox="1"/>
          <p:nvPr/>
        </p:nvSpPr>
        <p:spPr>
          <a:xfrm>
            <a:off x="4602175" y="3511296"/>
            <a:ext cx="2971800" cy="1005840"/>
          </a:xfrm>
          <a:prstGeom prst="rect">
            <a:avLst/>
          </a:prstGeom>
          <a:noFill/>
          <a:ln/>
        </p:spPr>
        <p:txBody>
          <a:bodyPr wrap="square" lIns="0" tIns="0" rIns="0" bIns="0" rtlCol="0" anchor="ctr"/>
          <a:lstStyle/>
          <a:p>
            <a:pPr indent="0" marL="0">
              <a:lnSpc>
                <a:spcPts val="1600"/>
              </a:lnSpc>
              <a:buNone/>
            </a:pPr>
            <a:r>
              <a:rPr lang="en-US" sz="1150" dirty="0">
                <a:solidFill>
                  <a:srgbClr val="6B7280"/>
                </a:solidFill>
                <a:latin typeface="Arial" pitchFamily="34" charset="0"/>
                <a:ea typeface="Arial" pitchFamily="34" charset="-122"/>
                <a:cs typeface="Arial" pitchFamily="34" charset="-120"/>
              </a:rPr>
              <a:t>Nothing to do analytically. You can detect it, name it, and report it as a limitation — that is the whole of your options.</a:t>
            </a:r>
            <a:endParaRPr lang="en-US" sz="1150" dirty="0"/>
          </a:p>
        </p:txBody>
      </p:sp>
      <p:sp>
        <p:nvSpPr>
          <p:cNvPr id="16" name="Shape 14"/>
          <p:cNvSpPr/>
          <p:nvPr/>
        </p:nvSpPr>
        <p:spPr>
          <a:xfrm>
            <a:off x="8040319" y="1481328"/>
            <a:ext cx="3493008" cy="3200400"/>
          </a:xfrm>
          <a:prstGeom prst="roundRect">
            <a:avLst>
              <a:gd name="adj" fmla="val 1714"/>
            </a:avLst>
          </a:prstGeom>
          <a:solidFill>
            <a:srgbClr val="FDEDEC"/>
          </a:solidFill>
          <a:ln w="15875">
            <a:solidFill>
              <a:srgbClr val="C0392B"/>
            </a:solidFill>
            <a:prstDash val="solid"/>
          </a:ln>
        </p:spPr>
      </p:sp>
      <p:sp>
        <p:nvSpPr>
          <p:cNvPr id="17" name="Text 15"/>
          <p:cNvSpPr txBox="1"/>
          <p:nvPr/>
        </p:nvSpPr>
        <p:spPr>
          <a:xfrm>
            <a:off x="8314639" y="1664208"/>
            <a:ext cx="2926080" cy="237744"/>
          </a:xfrm>
          <a:prstGeom prst="rect">
            <a:avLst/>
          </a:prstGeom>
          <a:noFill/>
          <a:ln/>
        </p:spPr>
        <p:txBody>
          <a:bodyPr wrap="square" lIns="0" tIns="0" rIns="0" bIns="0" rtlCol="0" anchor="ctr"/>
          <a:lstStyle/>
          <a:p>
            <a:pPr indent="0" marL="0">
              <a:buNone/>
            </a:pPr>
            <a:r>
              <a:rPr lang="en-US" sz="1050" b="1" spc="120" kern="0" dirty="0">
                <a:solidFill>
                  <a:srgbClr val="C0392B"/>
                </a:solidFill>
                <a:latin typeface="Arial" pitchFamily="34" charset="0"/>
                <a:ea typeface="Arial" pitchFamily="34" charset="-122"/>
                <a:cs typeface="Arial" pitchFamily="34" charset="-120"/>
              </a:rPr>
              <a:t>Tier 3</a:t>
            </a:r>
            <a:endParaRPr lang="en-US" sz="1050" dirty="0"/>
          </a:p>
        </p:txBody>
      </p:sp>
      <p:sp>
        <p:nvSpPr>
          <p:cNvPr id="18" name="Text 16"/>
          <p:cNvSpPr txBox="1"/>
          <p:nvPr/>
        </p:nvSpPr>
        <p:spPr>
          <a:xfrm>
            <a:off x="8314639" y="1938528"/>
            <a:ext cx="2971800" cy="566928"/>
          </a:xfrm>
          <a:prstGeom prst="rect">
            <a:avLst/>
          </a:prstGeom>
          <a:noFill/>
          <a:ln/>
        </p:spPr>
        <p:txBody>
          <a:bodyPr wrap="square" lIns="0" tIns="0" rIns="0" bIns="0" rtlCol="0" anchor="ctr"/>
          <a:lstStyle/>
          <a:p>
            <a:pPr indent="0" marL="0">
              <a:lnSpc>
                <a:spcPts val="2000"/>
              </a:lnSpc>
              <a:buNone/>
            </a:pPr>
            <a:r>
              <a:rPr lang="en-US" sz="1550" b="1" dirty="0">
                <a:solidFill>
                  <a:srgbClr val="1F2933"/>
                </a:solidFill>
                <a:latin typeface="Arial" pitchFamily="34" charset="0"/>
                <a:ea typeface="Arial" pitchFamily="34" charset="-122"/>
                <a:cs typeface="Arial" pitchFamily="34" charset="-120"/>
              </a:rPr>
              <a:t>Never recorded</a:t>
            </a:r>
            <a:endParaRPr lang="en-US" sz="1550" dirty="0"/>
          </a:p>
        </p:txBody>
      </p:sp>
      <p:sp>
        <p:nvSpPr>
          <p:cNvPr id="19" name="Text 17"/>
          <p:cNvSpPr txBox="1"/>
          <p:nvPr/>
        </p:nvSpPr>
        <p:spPr>
          <a:xfrm>
            <a:off x="8314639" y="2578608"/>
            <a:ext cx="2971800" cy="731520"/>
          </a:xfrm>
          <a:prstGeom prst="rect">
            <a:avLst/>
          </a:prstGeom>
          <a:noFill/>
          <a:ln/>
        </p:spPr>
        <p:txBody>
          <a:bodyPr wrap="square" lIns="0" tIns="0" rIns="0" bIns="0" rtlCol="0" anchor="ctr"/>
          <a:lstStyle/>
          <a:p>
            <a:pPr indent="0" marL="0">
              <a:lnSpc>
                <a:spcPts val="1600"/>
              </a:lnSpc>
              <a:buNone/>
            </a:pPr>
            <a:r>
              <a:rPr lang="en-US" sz="1150" dirty="0">
                <a:solidFill>
                  <a:srgbClr val="1F2933"/>
                </a:solidFill>
                <a:latin typeface="Arial" pitchFamily="34" charset="0"/>
                <a:ea typeface="Arial" pitchFamily="34" charset="-122"/>
                <a:cs typeface="Arial" pitchFamily="34" charset="-120"/>
              </a:rPr>
              <a:t>Extraction day, reagent lot, who did the prep, position on the plate, time in the freezer.</a:t>
            </a:r>
            <a:endParaRPr lang="en-US" sz="1150" dirty="0"/>
          </a:p>
        </p:txBody>
      </p:sp>
      <p:sp>
        <p:nvSpPr>
          <p:cNvPr id="20" name="Shape 18"/>
          <p:cNvSpPr/>
          <p:nvPr/>
        </p:nvSpPr>
        <p:spPr>
          <a:xfrm>
            <a:off x="8314639" y="3383280"/>
            <a:ext cx="2926080" cy="0"/>
          </a:xfrm>
          <a:prstGeom prst="line">
            <a:avLst/>
          </a:prstGeom>
          <a:noFill/>
          <a:ln w="9525">
            <a:solidFill>
              <a:srgbClr val="C0392B"/>
            </a:solidFill>
            <a:prstDash val="solid"/>
          </a:ln>
        </p:spPr>
      </p:sp>
      <p:sp>
        <p:nvSpPr>
          <p:cNvPr id="21" name="Text 19"/>
          <p:cNvSpPr txBox="1"/>
          <p:nvPr/>
        </p:nvSpPr>
        <p:spPr>
          <a:xfrm>
            <a:off x="8314639" y="3511296"/>
            <a:ext cx="2971800" cy="1005840"/>
          </a:xfrm>
          <a:prstGeom prst="rect">
            <a:avLst/>
          </a:prstGeom>
          <a:noFill/>
          <a:ln/>
        </p:spPr>
        <p:txBody>
          <a:bodyPr wrap="square" lIns="0" tIns="0" rIns="0" bIns="0" rtlCol="0" anchor="ctr"/>
          <a:lstStyle/>
          <a:p>
            <a:pPr indent="0" marL="0">
              <a:lnSpc>
                <a:spcPts val="1600"/>
              </a:lnSpc>
              <a:buNone/>
            </a:pPr>
            <a:r>
              <a:rPr lang="en-US" sz="1150" dirty="0">
                <a:solidFill>
                  <a:srgbClr val="6B7280"/>
                </a:solidFill>
                <a:latin typeface="Arial" pitchFamily="34" charset="0"/>
                <a:ea typeface="Arial" pitchFamily="34" charset="-122"/>
                <a:cs typeface="Arial" pitchFamily="34" charset="-120"/>
              </a:rPr>
              <a:t>You cannot check for it, correct it, or even know it happened. This is the most common tier and the least discussed.</a:t>
            </a:r>
            <a:endParaRPr lang="en-US" sz="1150" dirty="0"/>
          </a:p>
        </p:txBody>
      </p:sp>
      <p:sp>
        <p:nvSpPr>
          <p:cNvPr id="22" name="Shape 20"/>
          <p:cNvSpPr/>
          <p:nvPr/>
        </p:nvSpPr>
        <p:spPr>
          <a:xfrm>
            <a:off x="615391" y="4864608"/>
            <a:ext cx="10963656" cy="658368"/>
          </a:xfrm>
          <a:prstGeom prst="roundRect">
            <a:avLst>
              <a:gd name="adj" fmla="val 8333"/>
            </a:avLst>
          </a:prstGeom>
          <a:solidFill>
            <a:srgbClr val="EEF4FA"/>
          </a:solidFill>
          <a:ln w="12700">
            <a:solidFill>
              <a:srgbClr val="EEF4FA"/>
            </a:solidFill>
            <a:prstDash val="solid"/>
          </a:ln>
        </p:spPr>
      </p:sp>
      <p:sp>
        <p:nvSpPr>
          <p:cNvPr id="23" name="Text 21"/>
          <p:cNvSpPr txBox="1"/>
          <p:nvPr/>
        </p:nvSpPr>
        <p:spPr>
          <a:xfrm>
            <a:off x="981151" y="4992624"/>
            <a:ext cx="10232136" cy="411480"/>
          </a:xfrm>
          <a:prstGeom prst="rect">
            <a:avLst/>
          </a:prstGeom>
          <a:noFill/>
          <a:ln/>
        </p:spPr>
        <p:txBody>
          <a:bodyPr wrap="square" lIns="0" tIns="0" rIns="0" bIns="0" rtlCol="0" anchor="ctr"/>
          <a:lstStyle/>
          <a:p>
            <a:pPr indent="0" marL="0">
              <a:buNone/>
            </a:pPr>
            <a:r>
              <a:rPr lang="en-US" sz="1300" b="1" dirty="0">
                <a:solidFill>
                  <a:srgbClr val="3172AE"/>
                </a:solidFill>
                <a:latin typeface="Arial" pitchFamily="34" charset="0"/>
                <a:ea typeface="Arial" pitchFamily="34" charset="-122"/>
                <a:cs typeface="Arial" pitchFamily="34" charset="-120"/>
              </a:rPr>
              <a:t>The only defence against Tier 3 is a habit: record everything, at the time, in the sample sheet. It costs nothing and it is the difference between a limitation and a mystery.</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615391" y="329184"/>
            <a:ext cx="10963656" cy="603504"/>
          </a:xfrm>
          <a:prstGeom prst="rect">
            <a:avLst/>
          </a:prstGeom>
          <a:noFill/>
          <a:ln/>
        </p:spPr>
        <p:txBody>
          <a:bodyPr wrap="square" lIns="0" tIns="0" rIns="0" bIns="0" rtlCol="0" anchor="ctr"/>
          <a:lstStyle/>
          <a:p>
            <a:pPr indent="0" marL="0">
              <a:buNone/>
            </a:pPr>
            <a:r>
              <a:rPr lang="en-US" sz="2800" b="1" dirty="0">
                <a:solidFill>
                  <a:srgbClr val="3172AE"/>
                </a:solidFill>
                <a:latin typeface="Arial" pitchFamily="34" charset="0"/>
                <a:ea typeface="Arial" pitchFamily="34" charset="-122"/>
                <a:cs typeface="Arial" pitchFamily="34" charset="-120"/>
              </a:rPr>
              <a:t>What good looks like: a plate and a sample sheet</a:t>
            </a:r>
            <a:endParaRPr lang="en-US" sz="2800" dirty="0"/>
          </a:p>
        </p:txBody>
      </p:sp>
      <p:sp>
        <p:nvSpPr>
          <p:cNvPr id="3" name="Text 1"/>
          <p:cNvSpPr txBox="1"/>
          <p:nvPr/>
        </p:nvSpPr>
        <p:spPr>
          <a:xfrm>
            <a:off x="615391" y="941832"/>
            <a:ext cx="10963656" cy="274320"/>
          </a:xfrm>
          <a:prstGeom prst="rect">
            <a:avLst/>
          </a:prstGeom>
          <a:noFill/>
          <a:ln/>
        </p:spPr>
        <p:txBody>
          <a:bodyPr wrap="square" lIns="0" tIns="0" rIns="0" bIns="0" rtlCol="0" anchor="ctr"/>
          <a:lstStyle/>
          <a:p>
            <a:pPr indent="0" marL="0">
              <a:buNone/>
            </a:pPr>
            <a:r>
              <a:rPr lang="en-US" sz="1200" spc="110" kern="0" dirty="0">
                <a:solidFill>
                  <a:srgbClr val="9AA5B1"/>
                </a:solidFill>
                <a:latin typeface="Arial" pitchFamily="34" charset="0"/>
                <a:ea typeface="Arial" pitchFamily="34" charset="-122"/>
                <a:cs typeface="Arial" pitchFamily="34" charset="-120"/>
              </a:rPr>
              <a:t>EXPERIMENTAL DESIGN</a:t>
            </a:r>
            <a:endParaRPr lang="en-US" sz="1200" dirty="0"/>
          </a:p>
        </p:txBody>
      </p:sp>
      <p:sp>
        <p:nvSpPr>
          <p:cNvPr id="4" name="Text 2"/>
          <p:cNvSpPr txBox="1"/>
          <p:nvPr/>
        </p:nvSpPr>
        <p:spPr>
          <a:xfrm>
            <a:off x="615391" y="1408176"/>
            <a:ext cx="5440680" cy="274320"/>
          </a:xfrm>
          <a:prstGeom prst="rect">
            <a:avLst/>
          </a:prstGeom>
          <a:noFill/>
          <a:ln/>
        </p:spPr>
        <p:txBody>
          <a:bodyPr wrap="square" lIns="0" tIns="0" rIns="0" bIns="0" rtlCol="0" anchor="ctr"/>
          <a:lstStyle/>
          <a:p>
            <a:pPr indent="0" marL="0">
              <a:buNone/>
            </a:pPr>
            <a:r>
              <a:rPr lang="en-US" sz="1200" b="1" dirty="0">
                <a:solidFill>
                  <a:srgbClr val="1F2933"/>
                </a:solidFill>
                <a:latin typeface="Arial" pitchFamily="34" charset="0"/>
                <a:ea typeface="Arial" pitchFamily="34" charset="-122"/>
                <a:cs typeface="Arial" pitchFamily="34" charset="-120"/>
              </a:rPr>
              <a:t>Randomise conditions across batches — then record where everything was</a:t>
            </a:r>
            <a:endParaRPr lang="en-US" sz="1200" dirty="0"/>
          </a:p>
        </p:txBody>
      </p:sp>
      <p:sp>
        <p:nvSpPr>
          <p:cNvPr id="5" name="Shape 3"/>
          <p:cNvSpPr/>
          <p:nvPr/>
        </p:nvSpPr>
        <p:spPr>
          <a:xfrm>
            <a:off x="1118311" y="2075688"/>
            <a:ext cx="658368" cy="512064"/>
          </a:xfrm>
          <a:prstGeom prst="roundRect">
            <a:avLst>
              <a:gd name="adj" fmla="val 8929"/>
            </a:avLst>
          </a:prstGeom>
          <a:solidFill>
            <a:srgbClr val="C0CD30"/>
          </a:solidFill>
          <a:ln w="12700">
            <a:solidFill>
              <a:srgbClr val="C0CD30"/>
            </a:solidFill>
            <a:prstDash val="solid"/>
          </a:ln>
        </p:spPr>
      </p:sp>
      <p:sp>
        <p:nvSpPr>
          <p:cNvPr id="6" name="Text 4"/>
          <p:cNvSpPr txBox="1"/>
          <p:nvPr/>
        </p:nvSpPr>
        <p:spPr>
          <a:xfrm>
            <a:off x="1118311" y="2194560"/>
            <a:ext cx="658368" cy="274320"/>
          </a:xfrm>
          <a:prstGeom prst="rect">
            <a:avLst/>
          </a:prstGeom>
          <a:noFill/>
          <a:ln/>
        </p:spPr>
        <p:txBody>
          <a:bodyPr wrap="square" lIns="0" tIns="0" rIns="0" bIns="0" rtlCol="0" anchor="ctr"/>
          <a:lstStyle/>
          <a:p>
            <a:pPr algn="ctr" indent="0" marL="0">
              <a:buNone/>
            </a:pPr>
            <a:r>
              <a:rPr lang="en-US" sz="1300" b="1" dirty="0">
                <a:solidFill>
                  <a:srgbClr val="4A5411"/>
                </a:solidFill>
                <a:latin typeface="Arial" pitchFamily="34" charset="0"/>
                <a:ea typeface="Arial" pitchFamily="34" charset="-122"/>
                <a:cs typeface="Arial" pitchFamily="34" charset="-120"/>
              </a:rPr>
              <a:t>C</a:t>
            </a:r>
            <a:endParaRPr lang="en-US" sz="1300" dirty="0"/>
          </a:p>
        </p:txBody>
      </p:sp>
      <p:sp>
        <p:nvSpPr>
          <p:cNvPr id="7" name="Shape 5"/>
          <p:cNvSpPr/>
          <p:nvPr/>
        </p:nvSpPr>
        <p:spPr>
          <a:xfrm>
            <a:off x="1886407" y="2075688"/>
            <a:ext cx="658368" cy="512064"/>
          </a:xfrm>
          <a:prstGeom prst="roundRect">
            <a:avLst>
              <a:gd name="adj" fmla="val 8929"/>
            </a:avLst>
          </a:prstGeom>
          <a:solidFill>
            <a:srgbClr val="498BCA"/>
          </a:solidFill>
          <a:ln w="12700">
            <a:solidFill>
              <a:srgbClr val="498BCA"/>
            </a:solidFill>
            <a:prstDash val="solid"/>
          </a:ln>
        </p:spPr>
      </p:sp>
      <p:sp>
        <p:nvSpPr>
          <p:cNvPr id="8" name="Text 6"/>
          <p:cNvSpPr txBox="1"/>
          <p:nvPr/>
        </p:nvSpPr>
        <p:spPr>
          <a:xfrm>
            <a:off x="1886407" y="2194560"/>
            <a:ext cx="65836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T</a:t>
            </a:r>
            <a:endParaRPr lang="en-US" sz="1300" dirty="0"/>
          </a:p>
        </p:txBody>
      </p:sp>
      <p:sp>
        <p:nvSpPr>
          <p:cNvPr id="9" name="Shape 7"/>
          <p:cNvSpPr/>
          <p:nvPr/>
        </p:nvSpPr>
        <p:spPr>
          <a:xfrm>
            <a:off x="2654503" y="2075688"/>
            <a:ext cx="658368" cy="512064"/>
          </a:xfrm>
          <a:prstGeom prst="roundRect">
            <a:avLst>
              <a:gd name="adj" fmla="val 8929"/>
            </a:avLst>
          </a:prstGeom>
          <a:solidFill>
            <a:srgbClr val="498BCA"/>
          </a:solidFill>
          <a:ln w="12700">
            <a:solidFill>
              <a:srgbClr val="498BCA"/>
            </a:solidFill>
            <a:prstDash val="solid"/>
          </a:ln>
        </p:spPr>
      </p:sp>
      <p:sp>
        <p:nvSpPr>
          <p:cNvPr id="10" name="Text 8"/>
          <p:cNvSpPr txBox="1"/>
          <p:nvPr/>
        </p:nvSpPr>
        <p:spPr>
          <a:xfrm>
            <a:off x="2654503" y="2194560"/>
            <a:ext cx="65836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T</a:t>
            </a:r>
            <a:endParaRPr lang="en-US" sz="1300" dirty="0"/>
          </a:p>
        </p:txBody>
      </p:sp>
      <p:sp>
        <p:nvSpPr>
          <p:cNvPr id="11" name="Shape 9"/>
          <p:cNvSpPr/>
          <p:nvPr/>
        </p:nvSpPr>
        <p:spPr>
          <a:xfrm>
            <a:off x="3422599" y="2075688"/>
            <a:ext cx="658368" cy="512064"/>
          </a:xfrm>
          <a:prstGeom prst="roundRect">
            <a:avLst>
              <a:gd name="adj" fmla="val 8929"/>
            </a:avLst>
          </a:prstGeom>
          <a:solidFill>
            <a:srgbClr val="C0CD30"/>
          </a:solidFill>
          <a:ln w="12700">
            <a:solidFill>
              <a:srgbClr val="C0CD30"/>
            </a:solidFill>
            <a:prstDash val="solid"/>
          </a:ln>
        </p:spPr>
      </p:sp>
      <p:sp>
        <p:nvSpPr>
          <p:cNvPr id="12" name="Text 10"/>
          <p:cNvSpPr txBox="1"/>
          <p:nvPr/>
        </p:nvSpPr>
        <p:spPr>
          <a:xfrm>
            <a:off x="3422599" y="2194560"/>
            <a:ext cx="658368" cy="274320"/>
          </a:xfrm>
          <a:prstGeom prst="rect">
            <a:avLst/>
          </a:prstGeom>
          <a:noFill/>
          <a:ln/>
        </p:spPr>
        <p:txBody>
          <a:bodyPr wrap="square" lIns="0" tIns="0" rIns="0" bIns="0" rtlCol="0" anchor="ctr"/>
          <a:lstStyle/>
          <a:p>
            <a:pPr algn="ctr" indent="0" marL="0">
              <a:buNone/>
            </a:pPr>
            <a:r>
              <a:rPr lang="en-US" sz="1300" b="1" dirty="0">
                <a:solidFill>
                  <a:srgbClr val="4A5411"/>
                </a:solidFill>
                <a:latin typeface="Arial" pitchFamily="34" charset="0"/>
                <a:ea typeface="Arial" pitchFamily="34" charset="-122"/>
                <a:cs typeface="Arial" pitchFamily="34" charset="-120"/>
              </a:rPr>
              <a:t>C</a:t>
            </a:r>
            <a:endParaRPr lang="en-US" sz="1300" dirty="0"/>
          </a:p>
        </p:txBody>
      </p:sp>
      <p:sp>
        <p:nvSpPr>
          <p:cNvPr id="13" name="Shape 11"/>
          <p:cNvSpPr/>
          <p:nvPr/>
        </p:nvSpPr>
        <p:spPr>
          <a:xfrm>
            <a:off x="4190695" y="2075688"/>
            <a:ext cx="658368" cy="512064"/>
          </a:xfrm>
          <a:prstGeom prst="roundRect">
            <a:avLst>
              <a:gd name="adj" fmla="val 8929"/>
            </a:avLst>
          </a:prstGeom>
          <a:solidFill>
            <a:srgbClr val="498BCA"/>
          </a:solidFill>
          <a:ln w="12700">
            <a:solidFill>
              <a:srgbClr val="498BCA"/>
            </a:solidFill>
            <a:prstDash val="solid"/>
          </a:ln>
        </p:spPr>
      </p:sp>
      <p:sp>
        <p:nvSpPr>
          <p:cNvPr id="14" name="Text 12"/>
          <p:cNvSpPr txBox="1"/>
          <p:nvPr/>
        </p:nvSpPr>
        <p:spPr>
          <a:xfrm>
            <a:off x="4190695" y="2194560"/>
            <a:ext cx="65836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T</a:t>
            </a:r>
            <a:endParaRPr lang="en-US" sz="1300" dirty="0"/>
          </a:p>
        </p:txBody>
      </p:sp>
      <p:sp>
        <p:nvSpPr>
          <p:cNvPr id="15" name="Shape 13"/>
          <p:cNvSpPr/>
          <p:nvPr/>
        </p:nvSpPr>
        <p:spPr>
          <a:xfrm>
            <a:off x="4958791" y="2075688"/>
            <a:ext cx="658368" cy="512064"/>
          </a:xfrm>
          <a:prstGeom prst="roundRect">
            <a:avLst>
              <a:gd name="adj" fmla="val 8929"/>
            </a:avLst>
          </a:prstGeom>
          <a:solidFill>
            <a:srgbClr val="C0CD30"/>
          </a:solidFill>
          <a:ln w="12700">
            <a:solidFill>
              <a:srgbClr val="C0CD30"/>
            </a:solidFill>
            <a:prstDash val="solid"/>
          </a:ln>
        </p:spPr>
      </p:sp>
      <p:sp>
        <p:nvSpPr>
          <p:cNvPr id="16" name="Text 14"/>
          <p:cNvSpPr txBox="1"/>
          <p:nvPr/>
        </p:nvSpPr>
        <p:spPr>
          <a:xfrm>
            <a:off x="4958791" y="2194560"/>
            <a:ext cx="658368" cy="274320"/>
          </a:xfrm>
          <a:prstGeom prst="rect">
            <a:avLst/>
          </a:prstGeom>
          <a:noFill/>
          <a:ln/>
        </p:spPr>
        <p:txBody>
          <a:bodyPr wrap="square" lIns="0" tIns="0" rIns="0" bIns="0" rtlCol="0" anchor="ctr"/>
          <a:lstStyle/>
          <a:p>
            <a:pPr algn="ctr" indent="0" marL="0">
              <a:buNone/>
            </a:pPr>
            <a:r>
              <a:rPr lang="en-US" sz="1300" b="1" dirty="0">
                <a:solidFill>
                  <a:srgbClr val="4A5411"/>
                </a:solidFill>
                <a:latin typeface="Arial" pitchFamily="34" charset="0"/>
                <a:ea typeface="Arial" pitchFamily="34" charset="-122"/>
                <a:cs typeface="Arial" pitchFamily="34" charset="-120"/>
              </a:rPr>
              <a:t>C</a:t>
            </a:r>
            <a:endParaRPr lang="en-US" sz="1300" dirty="0"/>
          </a:p>
        </p:txBody>
      </p:sp>
      <p:sp>
        <p:nvSpPr>
          <p:cNvPr id="17" name="Text 15"/>
          <p:cNvSpPr txBox="1"/>
          <p:nvPr/>
        </p:nvSpPr>
        <p:spPr>
          <a:xfrm>
            <a:off x="615391" y="2194560"/>
            <a:ext cx="457200" cy="27432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Row A</a:t>
            </a:r>
            <a:endParaRPr lang="en-US" sz="1000" dirty="0"/>
          </a:p>
        </p:txBody>
      </p:sp>
      <p:sp>
        <p:nvSpPr>
          <p:cNvPr id="18" name="Shape 16"/>
          <p:cNvSpPr/>
          <p:nvPr/>
        </p:nvSpPr>
        <p:spPr>
          <a:xfrm>
            <a:off x="1118311" y="2715768"/>
            <a:ext cx="658368" cy="512064"/>
          </a:xfrm>
          <a:prstGeom prst="roundRect">
            <a:avLst>
              <a:gd name="adj" fmla="val 8929"/>
            </a:avLst>
          </a:prstGeom>
          <a:solidFill>
            <a:srgbClr val="498BCA"/>
          </a:solidFill>
          <a:ln w="12700">
            <a:solidFill>
              <a:srgbClr val="498BCA"/>
            </a:solidFill>
            <a:prstDash val="solid"/>
          </a:ln>
        </p:spPr>
      </p:sp>
      <p:sp>
        <p:nvSpPr>
          <p:cNvPr id="19" name="Text 17"/>
          <p:cNvSpPr txBox="1"/>
          <p:nvPr/>
        </p:nvSpPr>
        <p:spPr>
          <a:xfrm>
            <a:off x="1118311" y="2834640"/>
            <a:ext cx="65836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T</a:t>
            </a:r>
            <a:endParaRPr lang="en-US" sz="1300" dirty="0"/>
          </a:p>
        </p:txBody>
      </p:sp>
      <p:sp>
        <p:nvSpPr>
          <p:cNvPr id="20" name="Shape 18"/>
          <p:cNvSpPr/>
          <p:nvPr/>
        </p:nvSpPr>
        <p:spPr>
          <a:xfrm>
            <a:off x="1886407" y="2715768"/>
            <a:ext cx="658368" cy="512064"/>
          </a:xfrm>
          <a:prstGeom prst="roundRect">
            <a:avLst>
              <a:gd name="adj" fmla="val 8929"/>
            </a:avLst>
          </a:prstGeom>
          <a:solidFill>
            <a:srgbClr val="C0CD30"/>
          </a:solidFill>
          <a:ln w="12700">
            <a:solidFill>
              <a:srgbClr val="C0CD30"/>
            </a:solidFill>
            <a:prstDash val="solid"/>
          </a:ln>
        </p:spPr>
      </p:sp>
      <p:sp>
        <p:nvSpPr>
          <p:cNvPr id="21" name="Text 19"/>
          <p:cNvSpPr txBox="1"/>
          <p:nvPr/>
        </p:nvSpPr>
        <p:spPr>
          <a:xfrm>
            <a:off x="1886407" y="2834640"/>
            <a:ext cx="658368" cy="274320"/>
          </a:xfrm>
          <a:prstGeom prst="rect">
            <a:avLst/>
          </a:prstGeom>
          <a:noFill/>
          <a:ln/>
        </p:spPr>
        <p:txBody>
          <a:bodyPr wrap="square" lIns="0" tIns="0" rIns="0" bIns="0" rtlCol="0" anchor="ctr"/>
          <a:lstStyle/>
          <a:p>
            <a:pPr algn="ctr" indent="0" marL="0">
              <a:buNone/>
            </a:pPr>
            <a:r>
              <a:rPr lang="en-US" sz="1300" b="1" dirty="0">
                <a:solidFill>
                  <a:srgbClr val="4A5411"/>
                </a:solidFill>
                <a:latin typeface="Arial" pitchFamily="34" charset="0"/>
                <a:ea typeface="Arial" pitchFamily="34" charset="-122"/>
                <a:cs typeface="Arial" pitchFamily="34" charset="-120"/>
              </a:rPr>
              <a:t>C</a:t>
            </a:r>
            <a:endParaRPr lang="en-US" sz="1300" dirty="0"/>
          </a:p>
        </p:txBody>
      </p:sp>
      <p:sp>
        <p:nvSpPr>
          <p:cNvPr id="22" name="Shape 20"/>
          <p:cNvSpPr/>
          <p:nvPr/>
        </p:nvSpPr>
        <p:spPr>
          <a:xfrm>
            <a:off x="2654503" y="2715768"/>
            <a:ext cx="658368" cy="512064"/>
          </a:xfrm>
          <a:prstGeom prst="roundRect">
            <a:avLst>
              <a:gd name="adj" fmla="val 8929"/>
            </a:avLst>
          </a:prstGeom>
          <a:solidFill>
            <a:srgbClr val="C0CD30"/>
          </a:solidFill>
          <a:ln w="12700">
            <a:solidFill>
              <a:srgbClr val="C0CD30"/>
            </a:solidFill>
            <a:prstDash val="solid"/>
          </a:ln>
        </p:spPr>
      </p:sp>
      <p:sp>
        <p:nvSpPr>
          <p:cNvPr id="23" name="Text 21"/>
          <p:cNvSpPr txBox="1"/>
          <p:nvPr/>
        </p:nvSpPr>
        <p:spPr>
          <a:xfrm>
            <a:off x="2654503" y="2834640"/>
            <a:ext cx="658368" cy="274320"/>
          </a:xfrm>
          <a:prstGeom prst="rect">
            <a:avLst/>
          </a:prstGeom>
          <a:noFill/>
          <a:ln/>
        </p:spPr>
        <p:txBody>
          <a:bodyPr wrap="square" lIns="0" tIns="0" rIns="0" bIns="0" rtlCol="0" anchor="ctr"/>
          <a:lstStyle/>
          <a:p>
            <a:pPr algn="ctr" indent="0" marL="0">
              <a:buNone/>
            </a:pPr>
            <a:r>
              <a:rPr lang="en-US" sz="1300" b="1" dirty="0">
                <a:solidFill>
                  <a:srgbClr val="4A5411"/>
                </a:solidFill>
                <a:latin typeface="Arial" pitchFamily="34" charset="0"/>
                <a:ea typeface="Arial" pitchFamily="34" charset="-122"/>
                <a:cs typeface="Arial" pitchFamily="34" charset="-120"/>
              </a:rPr>
              <a:t>C</a:t>
            </a:r>
            <a:endParaRPr lang="en-US" sz="1300" dirty="0"/>
          </a:p>
        </p:txBody>
      </p:sp>
      <p:sp>
        <p:nvSpPr>
          <p:cNvPr id="24" name="Shape 22"/>
          <p:cNvSpPr/>
          <p:nvPr/>
        </p:nvSpPr>
        <p:spPr>
          <a:xfrm>
            <a:off x="3422599" y="2715768"/>
            <a:ext cx="658368" cy="512064"/>
          </a:xfrm>
          <a:prstGeom prst="roundRect">
            <a:avLst>
              <a:gd name="adj" fmla="val 8929"/>
            </a:avLst>
          </a:prstGeom>
          <a:solidFill>
            <a:srgbClr val="498BCA"/>
          </a:solidFill>
          <a:ln w="12700">
            <a:solidFill>
              <a:srgbClr val="498BCA"/>
            </a:solidFill>
            <a:prstDash val="solid"/>
          </a:ln>
        </p:spPr>
      </p:sp>
      <p:sp>
        <p:nvSpPr>
          <p:cNvPr id="25" name="Text 23"/>
          <p:cNvSpPr txBox="1"/>
          <p:nvPr/>
        </p:nvSpPr>
        <p:spPr>
          <a:xfrm>
            <a:off x="3422599" y="2834640"/>
            <a:ext cx="65836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T</a:t>
            </a:r>
            <a:endParaRPr lang="en-US" sz="1300" dirty="0"/>
          </a:p>
        </p:txBody>
      </p:sp>
      <p:sp>
        <p:nvSpPr>
          <p:cNvPr id="26" name="Shape 24"/>
          <p:cNvSpPr/>
          <p:nvPr/>
        </p:nvSpPr>
        <p:spPr>
          <a:xfrm>
            <a:off x="4190695" y="2715768"/>
            <a:ext cx="658368" cy="512064"/>
          </a:xfrm>
          <a:prstGeom prst="roundRect">
            <a:avLst>
              <a:gd name="adj" fmla="val 8929"/>
            </a:avLst>
          </a:prstGeom>
          <a:solidFill>
            <a:srgbClr val="C0CD30"/>
          </a:solidFill>
          <a:ln w="12700">
            <a:solidFill>
              <a:srgbClr val="C0CD30"/>
            </a:solidFill>
            <a:prstDash val="solid"/>
          </a:ln>
        </p:spPr>
      </p:sp>
      <p:sp>
        <p:nvSpPr>
          <p:cNvPr id="27" name="Text 25"/>
          <p:cNvSpPr txBox="1"/>
          <p:nvPr/>
        </p:nvSpPr>
        <p:spPr>
          <a:xfrm>
            <a:off x="4190695" y="2834640"/>
            <a:ext cx="658368" cy="274320"/>
          </a:xfrm>
          <a:prstGeom prst="rect">
            <a:avLst/>
          </a:prstGeom>
          <a:noFill/>
          <a:ln/>
        </p:spPr>
        <p:txBody>
          <a:bodyPr wrap="square" lIns="0" tIns="0" rIns="0" bIns="0" rtlCol="0" anchor="ctr"/>
          <a:lstStyle/>
          <a:p>
            <a:pPr algn="ctr" indent="0" marL="0">
              <a:buNone/>
            </a:pPr>
            <a:r>
              <a:rPr lang="en-US" sz="1300" b="1" dirty="0">
                <a:solidFill>
                  <a:srgbClr val="4A5411"/>
                </a:solidFill>
                <a:latin typeface="Arial" pitchFamily="34" charset="0"/>
                <a:ea typeface="Arial" pitchFamily="34" charset="-122"/>
                <a:cs typeface="Arial" pitchFamily="34" charset="-120"/>
              </a:rPr>
              <a:t>C</a:t>
            </a:r>
            <a:endParaRPr lang="en-US" sz="1300" dirty="0"/>
          </a:p>
        </p:txBody>
      </p:sp>
      <p:sp>
        <p:nvSpPr>
          <p:cNvPr id="28" name="Shape 26"/>
          <p:cNvSpPr/>
          <p:nvPr/>
        </p:nvSpPr>
        <p:spPr>
          <a:xfrm>
            <a:off x="4958791" y="2715768"/>
            <a:ext cx="658368" cy="512064"/>
          </a:xfrm>
          <a:prstGeom prst="roundRect">
            <a:avLst>
              <a:gd name="adj" fmla="val 8929"/>
            </a:avLst>
          </a:prstGeom>
          <a:solidFill>
            <a:srgbClr val="498BCA"/>
          </a:solidFill>
          <a:ln w="12700">
            <a:solidFill>
              <a:srgbClr val="498BCA"/>
            </a:solidFill>
            <a:prstDash val="solid"/>
          </a:ln>
        </p:spPr>
      </p:sp>
      <p:sp>
        <p:nvSpPr>
          <p:cNvPr id="29" name="Text 27"/>
          <p:cNvSpPr txBox="1"/>
          <p:nvPr/>
        </p:nvSpPr>
        <p:spPr>
          <a:xfrm>
            <a:off x="4958791" y="2834640"/>
            <a:ext cx="65836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T</a:t>
            </a:r>
            <a:endParaRPr lang="en-US" sz="1300" dirty="0"/>
          </a:p>
        </p:txBody>
      </p:sp>
      <p:sp>
        <p:nvSpPr>
          <p:cNvPr id="30" name="Text 28"/>
          <p:cNvSpPr txBox="1"/>
          <p:nvPr/>
        </p:nvSpPr>
        <p:spPr>
          <a:xfrm>
            <a:off x="615391" y="2834640"/>
            <a:ext cx="457200" cy="27432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Row B</a:t>
            </a:r>
            <a:endParaRPr lang="en-US" sz="1000" dirty="0"/>
          </a:p>
        </p:txBody>
      </p:sp>
      <p:sp>
        <p:nvSpPr>
          <p:cNvPr id="31" name="Text 29"/>
          <p:cNvSpPr txBox="1"/>
          <p:nvPr/>
        </p:nvSpPr>
        <p:spPr>
          <a:xfrm>
            <a:off x="1118311" y="1828800"/>
            <a:ext cx="658368" cy="219456"/>
          </a:xfrm>
          <a:prstGeom prst="rect">
            <a:avLst/>
          </a:prstGeom>
          <a:noFill/>
          <a:ln/>
        </p:spPr>
        <p:txBody>
          <a:bodyPr wrap="square" lIns="0" tIns="0" rIns="0" bIns="0" rtlCol="0" anchor="ctr"/>
          <a:lstStyle/>
          <a:p>
            <a:pPr algn="ctr" indent="0" marL="0">
              <a:buNone/>
            </a:pPr>
            <a:r>
              <a:rPr lang="en-US" sz="950" dirty="0">
                <a:solidFill>
                  <a:srgbClr val="6B7280"/>
                </a:solidFill>
                <a:latin typeface="Arial" pitchFamily="34" charset="0"/>
                <a:ea typeface="Arial" pitchFamily="34" charset="-122"/>
                <a:cs typeface="Arial" pitchFamily="34" charset="-120"/>
              </a:rPr>
              <a:t>1</a:t>
            </a:r>
            <a:endParaRPr lang="en-US" sz="950" dirty="0"/>
          </a:p>
        </p:txBody>
      </p:sp>
      <p:sp>
        <p:nvSpPr>
          <p:cNvPr id="32" name="Text 30"/>
          <p:cNvSpPr txBox="1"/>
          <p:nvPr/>
        </p:nvSpPr>
        <p:spPr>
          <a:xfrm>
            <a:off x="1886407" y="1828800"/>
            <a:ext cx="658368" cy="219456"/>
          </a:xfrm>
          <a:prstGeom prst="rect">
            <a:avLst/>
          </a:prstGeom>
          <a:noFill/>
          <a:ln/>
        </p:spPr>
        <p:txBody>
          <a:bodyPr wrap="square" lIns="0" tIns="0" rIns="0" bIns="0" rtlCol="0" anchor="ctr"/>
          <a:lstStyle/>
          <a:p>
            <a:pPr algn="ctr" indent="0" marL="0">
              <a:buNone/>
            </a:pPr>
            <a:r>
              <a:rPr lang="en-US" sz="950" dirty="0">
                <a:solidFill>
                  <a:srgbClr val="6B7280"/>
                </a:solidFill>
                <a:latin typeface="Arial" pitchFamily="34" charset="0"/>
                <a:ea typeface="Arial" pitchFamily="34" charset="-122"/>
                <a:cs typeface="Arial" pitchFamily="34" charset="-120"/>
              </a:rPr>
              <a:t>2</a:t>
            </a:r>
            <a:endParaRPr lang="en-US" sz="950" dirty="0"/>
          </a:p>
        </p:txBody>
      </p:sp>
      <p:sp>
        <p:nvSpPr>
          <p:cNvPr id="33" name="Text 31"/>
          <p:cNvSpPr txBox="1"/>
          <p:nvPr/>
        </p:nvSpPr>
        <p:spPr>
          <a:xfrm>
            <a:off x="2654503" y="1828800"/>
            <a:ext cx="658368" cy="219456"/>
          </a:xfrm>
          <a:prstGeom prst="rect">
            <a:avLst/>
          </a:prstGeom>
          <a:noFill/>
          <a:ln/>
        </p:spPr>
        <p:txBody>
          <a:bodyPr wrap="square" lIns="0" tIns="0" rIns="0" bIns="0" rtlCol="0" anchor="ctr"/>
          <a:lstStyle/>
          <a:p>
            <a:pPr algn="ctr" indent="0" marL="0">
              <a:buNone/>
            </a:pPr>
            <a:r>
              <a:rPr lang="en-US" sz="950" dirty="0">
                <a:solidFill>
                  <a:srgbClr val="6B7280"/>
                </a:solidFill>
                <a:latin typeface="Arial" pitchFamily="34" charset="0"/>
                <a:ea typeface="Arial" pitchFamily="34" charset="-122"/>
                <a:cs typeface="Arial" pitchFamily="34" charset="-120"/>
              </a:rPr>
              <a:t>3</a:t>
            </a:r>
            <a:endParaRPr lang="en-US" sz="950" dirty="0"/>
          </a:p>
        </p:txBody>
      </p:sp>
      <p:sp>
        <p:nvSpPr>
          <p:cNvPr id="34" name="Text 32"/>
          <p:cNvSpPr txBox="1"/>
          <p:nvPr/>
        </p:nvSpPr>
        <p:spPr>
          <a:xfrm>
            <a:off x="3422599" y="1828800"/>
            <a:ext cx="658368" cy="219456"/>
          </a:xfrm>
          <a:prstGeom prst="rect">
            <a:avLst/>
          </a:prstGeom>
          <a:noFill/>
          <a:ln/>
        </p:spPr>
        <p:txBody>
          <a:bodyPr wrap="square" lIns="0" tIns="0" rIns="0" bIns="0" rtlCol="0" anchor="ctr"/>
          <a:lstStyle/>
          <a:p>
            <a:pPr algn="ctr" indent="0" marL="0">
              <a:buNone/>
            </a:pPr>
            <a:r>
              <a:rPr lang="en-US" sz="950" dirty="0">
                <a:solidFill>
                  <a:srgbClr val="6B7280"/>
                </a:solidFill>
                <a:latin typeface="Arial" pitchFamily="34" charset="0"/>
                <a:ea typeface="Arial" pitchFamily="34" charset="-122"/>
                <a:cs typeface="Arial" pitchFamily="34" charset="-120"/>
              </a:rPr>
              <a:t>4</a:t>
            </a:r>
            <a:endParaRPr lang="en-US" sz="950" dirty="0"/>
          </a:p>
        </p:txBody>
      </p:sp>
      <p:sp>
        <p:nvSpPr>
          <p:cNvPr id="35" name="Text 33"/>
          <p:cNvSpPr txBox="1"/>
          <p:nvPr/>
        </p:nvSpPr>
        <p:spPr>
          <a:xfrm>
            <a:off x="4190695" y="1828800"/>
            <a:ext cx="658368" cy="219456"/>
          </a:xfrm>
          <a:prstGeom prst="rect">
            <a:avLst/>
          </a:prstGeom>
          <a:noFill/>
          <a:ln/>
        </p:spPr>
        <p:txBody>
          <a:bodyPr wrap="square" lIns="0" tIns="0" rIns="0" bIns="0" rtlCol="0" anchor="ctr"/>
          <a:lstStyle/>
          <a:p>
            <a:pPr algn="ctr" indent="0" marL="0">
              <a:buNone/>
            </a:pPr>
            <a:r>
              <a:rPr lang="en-US" sz="950" dirty="0">
                <a:solidFill>
                  <a:srgbClr val="6B7280"/>
                </a:solidFill>
                <a:latin typeface="Arial" pitchFamily="34" charset="0"/>
                <a:ea typeface="Arial" pitchFamily="34" charset="-122"/>
                <a:cs typeface="Arial" pitchFamily="34" charset="-120"/>
              </a:rPr>
              <a:t>5</a:t>
            </a:r>
            <a:endParaRPr lang="en-US" sz="950" dirty="0"/>
          </a:p>
        </p:txBody>
      </p:sp>
      <p:sp>
        <p:nvSpPr>
          <p:cNvPr id="36" name="Text 34"/>
          <p:cNvSpPr txBox="1"/>
          <p:nvPr/>
        </p:nvSpPr>
        <p:spPr>
          <a:xfrm>
            <a:off x="4958791" y="1828800"/>
            <a:ext cx="658368" cy="219456"/>
          </a:xfrm>
          <a:prstGeom prst="rect">
            <a:avLst/>
          </a:prstGeom>
          <a:noFill/>
          <a:ln/>
        </p:spPr>
        <p:txBody>
          <a:bodyPr wrap="square" lIns="0" tIns="0" rIns="0" bIns="0" rtlCol="0" anchor="ctr"/>
          <a:lstStyle/>
          <a:p>
            <a:pPr algn="ctr" indent="0" marL="0">
              <a:buNone/>
            </a:pPr>
            <a:r>
              <a:rPr lang="en-US" sz="950" dirty="0">
                <a:solidFill>
                  <a:srgbClr val="6B7280"/>
                </a:solidFill>
                <a:latin typeface="Arial" pitchFamily="34" charset="0"/>
                <a:ea typeface="Arial" pitchFamily="34" charset="-122"/>
                <a:cs typeface="Arial" pitchFamily="34" charset="-120"/>
              </a:rPr>
              <a:t>6</a:t>
            </a:r>
            <a:endParaRPr lang="en-US" sz="950" dirty="0"/>
          </a:p>
        </p:txBody>
      </p:sp>
      <p:sp>
        <p:nvSpPr>
          <p:cNvPr id="37" name="Shape 35"/>
          <p:cNvSpPr/>
          <p:nvPr/>
        </p:nvSpPr>
        <p:spPr>
          <a:xfrm>
            <a:off x="1118311" y="3419856"/>
            <a:ext cx="128016" cy="128016"/>
          </a:xfrm>
          <a:prstGeom prst="diamond">
            <a:avLst/>
          </a:prstGeom>
          <a:solidFill>
            <a:srgbClr val="C0CD30"/>
          </a:solidFill>
          <a:ln w="12700">
            <a:solidFill>
              <a:srgbClr val="C0CD30"/>
            </a:solidFill>
            <a:prstDash val="solid"/>
          </a:ln>
        </p:spPr>
      </p:sp>
      <p:sp>
        <p:nvSpPr>
          <p:cNvPr id="38" name="Text 36"/>
          <p:cNvSpPr txBox="1"/>
          <p:nvPr/>
        </p:nvSpPr>
        <p:spPr>
          <a:xfrm>
            <a:off x="1392631" y="3364992"/>
            <a:ext cx="914400" cy="237744"/>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Control</a:t>
            </a:r>
            <a:endParaRPr lang="en-US" sz="1100" dirty="0"/>
          </a:p>
        </p:txBody>
      </p:sp>
      <p:sp>
        <p:nvSpPr>
          <p:cNvPr id="39" name="Shape 37"/>
          <p:cNvSpPr/>
          <p:nvPr/>
        </p:nvSpPr>
        <p:spPr>
          <a:xfrm>
            <a:off x="2444191" y="3419856"/>
            <a:ext cx="128016" cy="128016"/>
          </a:xfrm>
          <a:prstGeom prst="diamond">
            <a:avLst/>
          </a:prstGeom>
          <a:solidFill>
            <a:srgbClr val="498BCA"/>
          </a:solidFill>
          <a:ln w="12700">
            <a:solidFill>
              <a:srgbClr val="498BCA"/>
            </a:solidFill>
            <a:prstDash val="solid"/>
          </a:ln>
        </p:spPr>
      </p:sp>
      <p:sp>
        <p:nvSpPr>
          <p:cNvPr id="40" name="Text 38"/>
          <p:cNvSpPr txBox="1"/>
          <p:nvPr/>
        </p:nvSpPr>
        <p:spPr>
          <a:xfrm>
            <a:off x="2718511" y="3364992"/>
            <a:ext cx="914400" cy="237744"/>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Treated</a:t>
            </a:r>
            <a:endParaRPr lang="en-US" sz="1100" dirty="0"/>
          </a:p>
        </p:txBody>
      </p:sp>
      <p:sp>
        <p:nvSpPr>
          <p:cNvPr id="41" name="Text 39"/>
          <p:cNvSpPr txBox="1"/>
          <p:nvPr/>
        </p:nvSpPr>
        <p:spPr>
          <a:xfrm>
            <a:off x="615391" y="3767328"/>
            <a:ext cx="5394960" cy="731520"/>
          </a:xfrm>
          <a:prstGeom prst="rect">
            <a:avLst/>
          </a:prstGeom>
          <a:noFill/>
          <a:ln/>
        </p:spPr>
        <p:txBody>
          <a:bodyPr wrap="square" lIns="0" tIns="0" rIns="0" bIns="0" rtlCol="0" anchor="ctr"/>
          <a:lstStyle/>
          <a:p>
            <a:pPr indent="0" marL="0">
              <a:lnSpc>
                <a:spcPts val="1600"/>
              </a:lnSpc>
              <a:buNone/>
            </a:pPr>
            <a:r>
              <a:rPr lang="en-US" sz="1200" dirty="0">
                <a:solidFill>
                  <a:srgbClr val="6B7280"/>
                </a:solidFill>
                <a:latin typeface="Arial" pitchFamily="34" charset="0"/>
                <a:ea typeface="Arial" pitchFamily="34" charset="-122"/>
                <a:cs typeface="Arial" pitchFamily="34" charset="-120"/>
              </a:rPr>
              <a:t>Every row and every column contains both conditions. A plate-position effect, a pipetting gradient, or a half-plate reagent failure now shows up as noise rather than as your result.</a:t>
            </a:r>
            <a:endParaRPr lang="en-US" sz="1200" dirty="0"/>
          </a:p>
        </p:txBody>
      </p:sp>
      <p:sp>
        <p:nvSpPr>
          <p:cNvPr id="42" name="Shape 40"/>
          <p:cNvSpPr/>
          <p:nvPr/>
        </p:nvSpPr>
        <p:spPr>
          <a:xfrm>
            <a:off x="6263640" y="1389888"/>
            <a:ext cx="5303520" cy="3337560"/>
          </a:xfrm>
          <a:prstGeom prst="roundRect">
            <a:avLst>
              <a:gd name="adj" fmla="val 1644"/>
            </a:avLst>
          </a:prstGeom>
          <a:solidFill>
            <a:srgbClr val="F5F6F0"/>
          </a:solidFill>
          <a:ln w="12700">
            <a:solidFill>
              <a:srgbClr val="F5F6F0"/>
            </a:solidFill>
            <a:prstDash val="solid"/>
          </a:ln>
        </p:spPr>
      </p:sp>
      <p:sp>
        <p:nvSpPr>
          <p:cNvPr id="43" name="Text 41"/>
          <p:cNvSpPr txBox="1"/>
          <p:nvPr/>
        </p:nvSpPr>
        <p:spPr>
          <a:xfrm>
            <a:off x="6565392" y="1554480"/>
            <a:ext cx="4754880" cy="274320"/>
          </a:xfrm>
          <a:prstGeom prst="rect">
            <a:avLst/>
          </a:prstGeom>
          <a:noFill/>
          <a:ln/>
        </p:spPr>
        <p:txBody>
          <a:bodyPr wrap="square" lIns="0" tIns="0" rIns="0" bIns="0" rtlCol="0" anchor="ctr"/>
          <a:lstStyle/>
          <a:p>
            <a:pPr indent="0" marL="0">
              <a:buNone/>
            </a:pPr>
            <a:r>
              <a:rPr lang="en-US" sz="1350" b="1" dirty="0">
                <a:solidFill>
                  <a:srgbClr val="205081"/>
                </a:solidFill>
                <a:latin typeface="Arial" pitchFamily="34" charset="0"/>
                <a:ea typeface="Arial" pitchFamily="34" charset="-122"/>
                <a:cs typeface="Arial" pitchFamily="34" charset="-120"/>
              </a:rPr>
              <a:t>Columns your sample sheet should always have</a:t>
            </a:r>
            <a:endParaRPr lang="en-US" sz="1350" dirty="0"/>
          </a:p>
        </p:txBody>
      </p:sp>
      <p:sp>
        <p:nvSpPr>
          <p:cNvPr id="44" name="Text 42"/>
          <p:cNvSpPr txBox="1"/>
          <p:nvPr/>
        </p:nvSpPr>
        <p:spPr>
          <a:xfrm>
            <a:off x="6565392" y="1938528"/>
            <a:ext cx="2377440" cy="2651760"/>
          </a:xfrm>
          <a:prstGeom prst="rect">
            <a:avLst/>
          </a:prstGeom>
          <a:noFill/>
          <a:ln/>
        </p:spPr>
        <p:txBody>
          <a:bodyPr wrap="square" lIns="0" tIns="0" rIns="0" bIns="0" rtlCol="0" anchor="ctr"/>
          <a:lstStyle/>
          <a:p>
            <a:pPr indent="0" marL="0">
              <a:lnSpc>
                <a:spcPts val="1550"/>
              </a:lnSpc>
              <a:buNone/>
            </a:pPr>
            <a:r>
              <a:rPr lang="en-US" sz="1150" dirty="0">
                <a:solidFill>
                  <a:srgbClr val="1F2933"/>
                </a:solidFill>
                <a:latin typeface="Courier New" pitchFamily="34" charset="0"/>
                <a:ea typeface="Courier New" pitchFamily="34" charset="-122"/>
                <a:cs typeface="Courier New" pitchFamily="34" charset="-120"/>
              </a:rPr>
              <a:t>sample_id</a:t>
            </a:r>
            <a:endParaRPr lang="en-US" sz="1150" dirty="0"/>
          </a:p>
          <a:p>
            <a:pPr indent="0" marL="0">
              <a:lnSpc>
                <a:spcPts val="1550"/>
              </a:lnSpc>
              <a:buNone/>
            </a:pPr>
            <a:r>
              <a:rPr lang="en-US" sz="1150" dirty="0">
                <a:solidFill>
                  <a:srgbClr val="1F2933"/>
                </a:solidFill>
                <a:latin typeface="Courier New" pitchFamily="34" charset="0"/>
                <a:ea typeface="Courier New" pitchFamily="34" charset="-122"/>
                <a:cs typeface="Courier New" pitchFamily="34" charset="-120"/>
              </a:rPr>
              <a:t>condition</a:t>
            </a:r>
            <a:endParaRPr lang="en-US" sz="1150" dirty="0"/>
          </a:p>
          <a:p>
            <a:pPr indent="0" marL="0">
              <a:lnSpc>
                <a:spcPts val="1550"/>
              </a:lnSpc>
              <a:buNone/>
            </a:pPr>
            <a:r>
              <a:rPr lang="en-US" sz="1150" dirty="0">
                <a:solidFill>
                  <a:srgbClr val="1F2933"/>
                </a:solidFill>
                <a:latin typeface="Courier New" pitchFamily="34" charset="0"/>
                <a:ea typeface="Courier New" pitchFamily="34" charset="-122"/>
                <a:cs typeface="Courier New" pitchFamily="34" charset="-120"/>
              </a:rPr>
              <a:t>biological_replicate</a:t>
            </a:r>
            <a:endParaRPr lang="en-US" sz="1150" dirty="0"/>
          </a:p>
          <a:p>
            <a:pPr indent="0" marL="0">
              <a:lnSpc>
                <a:spcPts val="1550"/>
              </a:lnSpc>
              <a:buNone/>
            </a:pPr>
            <a:r>
              <a:rPr lang="en-US" sz="1150" dirty="0">
                <a:solidFill>
                  <a:srgbClr val="1F2933"/>
                </a:solidFill>
                <a:latin typeface="Courier New" pitchFamily="34" charset="0"/>
                <a:ea typeface="Courier New" pitchFamily="34" charset="-122"/>
                <a:cs typeface="Courier New" pitchFamily="34" charset="-120"/>
              </a:rPr>
              <a:t>subject_or_culture_id</a:t>
            </a:r>
            <a:endParaRPr lang="en-US" sz="1150" dirty="0"/>
          </a:p>
          <a:p>
            <a:pPr indent="0" marL="0">
              <a:lnSpc>
                <a:spcPts val="1550"/>
              </a:lnSpc>
              <a:buNone/>
            </a:pPr>
            <a:r>
              <a:rPr lang="en-US" sz="1150" dirty="0">
                <a:solidFill>
                  <a:srgbClr val="1F2933"/>
                </a:solidFill>
                <a:latin typeface="Courier New" pitchFamily="34" charset="0"/>
                <a:ea typeface="Courier New" pitchFamily="34" charset="-122"/>
                <a:cs typeface="Courier New" pitchFamily="34" charset="-120"/>
              </a:rPr>
              <a:t>extraction_date</a:t>
            </a:r>
            <a:endParaRPr lang="en-US" sz="1150" dirty="0"/>
          </a:p>
          <a:p>
            <a:pPr indent="0" marL="0">
              <a:lnSpc>
                <a:spcPts val="1550"/>
              </a:lnSpc>
              <a:buNone/>
            </a:pPr>
            <a:r>
              <a:rPr lang="en-US" sz="1150" dirty="0">
                <a:solidFill>
                  <a:srgbClr val="1F2933"/>
                </a:solidFill>
                <a:latin typeface="Courier New" pitchFamily="34" charset="0"/>
                <a:ea typeface="Courier New" pitchFamily="34" charset="-122"/>
                <a:cs typeface="Courier New" pitchFamily="34" charset="-120"/>
              </a:rPr>
              <a:t>extracted_by</a:t>
            </a:r>
            <a:endParaRPr lang="en-US" sz="1150" dirty="0"/>
          </a:p>
          <a:p>
            <a:pPr indent="0" marL="0">
              <a:lnSpc>
                <a:spcPts val="1550"/>
              </a:lnSpc>
              <a:buNone/>
            </a:pPr>
            <a:r>
              <a:rPr lang="en-US" sz="1150" dirty="0">
                <a:solidFill>
                  <a:srgbClr val="1F2933"/>
                </a:solidFill>
                <a:latin typeface="Courier New" pitchFamily="34" charset="0"/>
                <a:ea typeface="Courier New" pitchFamily="34" charset="-122"/>
                <a:cs typeface="Courier New" pitchFamily="34" charset="-120"/>
              </a:rPr>
              <a:t>plate_position</a:t>
            </a:r>
            <a:endParaRPr lang="en-US" sz="1150" dirty="0"/>
          </a:p>
          <a:p>
            <a:pPr indent="0" marL="0">
              <a:lnSpc>
                <a:spcPts val="1550"/>
              </a:lnSpc>
              <a:buNone/>
            </a:pPr>
            <a:r>
              <a:rPr lang="en-US" sz="1150" dirty="0">
                <a:solidFill>
                  <a:srgbClr val="1F2933"/>
                </a:solidFill>
                <a:latin typeface="Courier New" pitchFamily="34" charset="0"/>
                <a:ea typeface="Courier New" pitchFamily="34" charset="-122"/>
                <a:cs typeface="Courier New" pitchFamily="34" charset="-120"/>
              </a:rPr>
              <a:t>library_prep_batch</a:t>
            </a:r>
            <a:endParaRPr lang="en-US" sz="1150" dirty="0"/>
          </a:p>
          <a:p>
            <a:pPr indent="0" marL="0">
              <a:lnSpc>
                <a:spcPts val="1550"/>
              </a:lnSpc>
              <a:buNone/>
            </a:pPr>
            <a:r>
              <a:rPr lang="en-US" sz="1150" dirty="0">
                <a:solidFill>
                  <a:srgbClr val="1F2933"/>
                </a:solidFill>
                <a:latin typeface="Courier New" pitchFamily="34" charset="0"/>
                <a:ea typeface="Courier New" pitchFamily="34" charset="-122"/>
                <a:cs typeface="Courier New" pitchFamily="34" charset="-120"/>
              </a:rPr>
              <a:t>sequencing_run</a:t>
            </a:r>
            <a:endParaRPr lang="en-US" sz="1150" dirty="0"/>
          </a:p>
          <a:p>
            <a:pPr indent="0" marL="0">
              <a:lnSpc>
                <a:spcPts val="1550"/>
              </a:lnSpc>
              <a:buNone/>
            </a:pPr>
            <a:r>
              <a:rPr lang="en-US" sz="1150" dirty="0">
                <a:solidFill>
                  <a:srgbClr val="1F2933"/>
                </a:solidFill>
                <a:latin typeface="Courier New" pitchFamily="34" charset="0"/>
                <a:ea typeface="Courier New" pitchFamily="34" charset="-122"/>
                <a:cs typeface="Courier New" pitchFamily="34" charset="-120"/>
              </a:rPr>
              <a:t>flowcell</a:t>
            </a:r>
            <a:endParaRPr lang="en-US" sz="1150" dirty="0"/>
          </a:p>
          <a:p>
            <a:pPr indent="0" marL="0">
              <a:lnSpc>
                <a:spcPts val="1550"/>
              </a:lnSpc>
              <a:buNone/>
            </a:pPr>
            <a:r>
              <a:rPr lang="en-US" sz="1150" dirty="0">
                <a:solidFill>
                  <a:srgbClr val="1F2933"/>
                </a:solidFill>
                <a:latin typeface="Courier New" pitchFamily="34" charset="0"/>
                <a:ea typeface="Courier New" pitchFamily="34" charset="-122"/>
                <a:cs typeface="Courier New" pitchFamily="34" charset="-120"/>
              </a:rPr>
              <a:t>lane</a:t>
            </a:r>
            <a:endParaRPr lang="en-US" sz="1150" dirty="0"/>
          </a:p>
        </p:txBody>
      </p:sp>
      <p:sp>
        <p:nvSpPr>
          <p:cNvPr id="45" name="Text 43"/>
          <p:cNvSpPr txBox="1"/>
          <p:nvPr/>
        </p:nvSpPr>
        <p:spPr>
          <a:xfrm>
            <a:off x="9144000" y="1938528"/>
            <a:ext cx="2194560" cy="2651760"/>
          </a:xfrm>
          <a:prstGeom prst="rect">
            <a:avLst/>
          </a:prstGeom>
          <a:noFill/>
          <a:ln/>
        </p:spPr>
        <p:txBody>
          <a:bodyPr wrap="square" lIns="0" tIns="0" rIns="0" bIns="0" rtlCol="0" anchor="ctr"/>
          <a:lstStyle/>
          <a:p>
            <a:pPr indent="0" marL="0">
              <a:lnSpc>
                <a:spcPts val="1600"/>
              </a:lnSpc>
              <a:buNone/>
            </a:pPr>
            <a:r>
              <a:rPr lang="en-US" sz="1150" dirty="0">
                <a:solidFill>
                  <a:srgbClr val="6B7280"/>
                </a:solidFill>
                <a:latin typeface="Arial" pitchFamily="34" charset="0"/>
                <a:ea typeface="Arial" pitchFamily="34" charset="-122"/>
                <a:cs typeface="Arial" pitchFamily="34" charset="-120"/>
              </a:rPr>
              <a:t>None of these are optional.</a:t>
            </a:r>
            <a:endParaRPr lang="en-US" sz="1150" dirty="0"/>
          </a:p>
          <a:p>
            <a:pPr indent="0" marL="0">
              <a:lnSpc>
                <a:spcPts val="1600"/>
              </a:lnSpc>
              <a:buNone/>
            </a:pPr>
            <a:endParaRPr lang="en-US" sz="1150" dirty="0"/>
          </a:p>
          <a:p>
            <a:pPr indent="0" marL="0">
              <a:lnSpc>
                <a:spcPts val="1600"/>
              </a:lnSpc>
              <a:buNone/>
            </a:pPr>
            <a:r>
              <a:rPr lang="en-US" sz="1150" dirty="0">
                <a:solidFill>
                  <a:srgbClr val="6B7280"/>
                </a:solidFill>
                <a:latin typeface="Arial" pitchFamily="34" charset="0"/>
                <a:ea typeface="Arial" pitchFamily="34" charset="-122"/>
                <a:cs typeface="Arial" pitchFamily="34" charset="-120"/>
              </a:rPr>
              <a:t>Nine of the eleven cost you nothing but the discipline of writing them down while you still remember.</a:t>
            </a:r>
            <a:endParaRPr lang="en-US" sz="1150" dirty="0"/>
          </a:p>
          <a:p>
            <a:pPr indent="0" marL="0">
              <a:lnSpc>
                <a:spcPts val="1600"/>
              </a:lnSpc>
              <a:buNone/>
            </a:pPr>
            <a:endParaRPr lang="en-US" sz="1150" dirty="0"/>
          </a:p>
          <a:p>
            <a:pPr indent="0" marL="0">
              <a:lnSpc>
                <a:spcPts val="1600"/>
              </a:lnSpc>
              <a:buNone/>
            </a:pPr>
            <a:r>
              <a:rPr lang="en-US" sz="1150" dirty="0">
                <a:solidFill>
                  <a:srgbClr val="6B7280"/>
                </a:solidFill>
                <a:latin typeface="Arial" pitchFamily="34" charset="0"/>
                <a:ea typeface="Arial" pitchFamily="34" charset="-122"/>
                <a:cs typeface="Arial" pitchFamily="34" charset="-120"/>
              </a:rPr>
              <a:t>Two of them — flowcell and lane — you can usually recover later from the FASTQ headers. Usually.</a:t>
            </a:r>
            <a:endParaRPr lang="en-US" sz="1150" dirty="0"/>
          </a:p>
        </p:txBody>
      </p:sp>
      <p:sp>
        <p:nvSpPr>
          <p:cNvPr id="46" name="Text 44"/>
          <p:cNvSpPr txBox="1"/>
          <p:nvPr/>
        </p:nvSpPr>
        <p:spPr>
          <a:xfrm>
            <a:off x="615391" y="5166360"/>
            <a:ext cx="10963656" cy="320040"/>
          </a:xfrm>
          <a:prstGeom prst="rect">
            <a:avLst/>
          </a:prstGeom>
          <a:noFill/>
          <a:ln/>
        </p:spPr>
        <p:txBody>
          <a:bodyPr wrap="square" lIns="0" tIns="0" rIns="0" bIns="0" rtlCol="0" anchor="ctr"/>
          <a:lstStyle/>
          <a:p>
            <a:pPr indent="0" marL="0">
              <a:buNone/>
            </a:pPr>
            <a:r>
              <a:rPr lang="en-US" sz="1450" b="1" dirty="0">
                <a:solidFill>
                  <a:srgbClr val="3172AE"/>
                </a:solidFill>
                <a:latin typeface="Arial" pitchFamily="34" charset="0"/>
                <a:ea typeface="Arial" pitchFamily="34" charset="-122"/>
                <a:cs typeface="Arial" pitchFamily="34" charset="-120"/>
              </a:rPr>
              <a:t>If it is not in the sample sheet, it does not exist.</a:t>
            </a: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615391" y="329184"/>
            <a:ext cx="10963656" cy="603504"/>
          </a:xfrm>
          <a:prstGeom prst="rect">
            <a:avLst/>
          </a:prstGeom>
          <a:noFill/>
          <a:ln/>
        </p:spPr>
        <p:txBody>
          <a:bodyPr wrap="square" lIns="0" tIns="0" rIns="0" bIns="0" rtlCol="0" anchor="ctr"/>
          <a:lstStyle/>
          <a:p>
            <a:pPr indent="0" marL="0">
              <a:buNone/>
            </a:pPr>
            <a:r>
              <a:rPr lang="en-US" sz="2800" b="1" dirty="0">
                <a:solidFill>
                  <a:srgbClr val="3172AE"/>
                </a:solidFill>
                <a:latin typeface="Arial" pitchFamily="34" charset="0"/>
                <a:ea typeface="Arial" pitchFamily="34" charset="-122"/>
                <a:cs typeface="Arial" pitchFamily="34" charset="-120"/>
              </a:rPr>
              <a:t>FASTQ: four lines, and one of them is evidence</a:t>
            </a:r>
            <a:endParaRPr lang="en-US" sz="2800" dirty="0"/>
          </a:p>
        </p:txBody>
      </p:sp>
      <p:sp>
        <p:nvSpPr>
          <p:cNvPr id="3" name="Text 1"/>
          <p:cNvSpPr txBox="1"/>
          <p:nvPr/>
        </p:nvSpPr>
        <p:spPr>
          <a:xfrm>
            <a:off x="615391" y="941832"/>
            <a:ext cx="10963656" cy="274320"/>
          </a:xfrm>
          <a:prstGeom prst="rect">
            <a:avLst/>
          </a:prstGeom>
          <a:noFill/>
          <a:ln/>
        </p:spPr>
        <p:txBody>
          <a:bodyPr wrap="square" lIns="0" tIns="0" rIns="0" bIns="0" rtlCol="0" anchor="ctr"/>
          <a:lstStyle/>
          <a:p>
            <a:pPr indent="0" marL="0">
              <a:buNone/>
            </a:pPr>
            <a:r>
              <a:rPr lang="en-US" sz="1200" spc="110" kern="0" dirty="0">
                <a:solidFill>
                  <a:srgbClr val="9AA5B1"/>
                </a:solidFill>
                <a:latin typeface="Arial" pitchFamily="34" charset="0"/>
                <a:ea typeface="Arial" pitchFamily="34" charset="-122"/>
                <a:cs typeface="Arial" pitchFamily="34" charset="-120"/>
              </a:rPr>
              <a:t>FASTQ AND QC</a:t>
            </a:r>
            <a:endParaRPr lang="en-US" sz="1200" dirty="0"/>
          </a:p>
        </p:txBody>
      </p:sp>
      <p:sp>
        <p:nvSpPr>
          <p:cNvPr id="4" name="Shape 2"/>
          <p:cNvSpPr/>
          <p:nvPr/>
        </p:nvSpPr>
        <p:spPr>
          <a:xfrm>
            <a:off x="615391" y="1481328"/>
            <a:ext cx="10963656" cy="1572768"/>
          </a:xfrm>
          <a:prstGeom prst="roundRect">
            <a:avLst>
              <a:gd name="adj" fmla="val 3488"/>
            </a:avLst>
          </a:prstGeom>
          <a:solidFill>
            <a:srgbClr val="1F2933"/>
          </a:solidFill>
          <a:ln w="12700">
            <a:solidFill>
              <a:srgbClr val="1F2933"/>
            </a:solidFill>
            <a:prstDash val="solid"/>
          </a:ln>
        </p:spPr>
      </p:sp>
      <p:sp>
        <p:nvSpPr>
          <p:cNvPr id="5" name="Text 3"/>
          <p:cNvSpPr txBox="1"/>
          <p:nvPr/>
        </p:nvSpPr>
        <p:spPr>
          <a:xfrm>
            <a:off x="889711" y="1645920"/>
            <a:ext cx="10415016" cy="292608"/>
          </a:xfrm>
          <a:prstGeom prst="rect">
            <a:avLst/>
          </a:prstGeom>
          <a:noFill/>
          <a:ln/>
        </p:spPr>
        <p:txBody>
          <a:bodyPr wrap="square" lIns="0" tIns="0" rIns="0" bIns="0" rtlCol="0" anchor="ctr"/>
          <a:lstStyle/>
          <a:p>
            <a:pPr indent="0" marL="0">
              <a:buNone/>
            </a:pPr>
            <a:r>
              <a:rPr lang="en-US" sz="1150" dirty="0">
                <a:solidFill>
                  <a:srgbClr val="FFC82C"/>
                </a:solidFill>
                <a:latin typeface="Courier New" pitchFamily="34" charset="0"/>
                <a:ea typeface="Courier New" pitchFamily="34" charset="-122"/>
                <a:cs typeface="Courier New" pitchFamily="34" charset="-120"/>
              </a:rPr>
              <a:t>@A00534:398:HGVF7DSX3:1:1101:5900:1063 1:N:0:ATCACG+TGACCA</a:t>
            </a:r>
            <a:endParaRPr lang="en-US" sz="1150" dirty="0"/>
          </a:p>
        </p:txBody>
      </p:sp>
      <p:sp>
        <p:nvSpPr>
          <p:cNvPr id="6" name="Text 4"/>
          <p:cNvSpPr txBox="1"/>
          <p:nvPr/>
        </p:nvSpPr>
        <p:spPr>
          <a:xfrm>
            <a:off x="889711" y="1975104"/>
            <a:ext cx="10415016" cy="292608"/>
          </a:xfrm>
          <a:prstGeom prst="rect">
            <a:avLst/>
          </a:prstGeom>
          <a:noFill/>
          <a:ln/>
        </p:spPr>
        <p:txBody>
          <a:bodyPr wrap="square" lIns="0" tIns="0" rIns="0" bIns="0" rtlCol="0" anchor="ctr"/>
          <a:lstStyle/>
          <a:p>
            <a:pPr indent="0" marL="0">
              <a:buNone/>
            </a:pPr>
            <a:r>
              <a:rPr lang="en-US" sz="1150" dirty="0">
                <a:solidFill>
                  <a:srgbClr val="E8EDF2"/>
                </a:solidFill>
                <a:latin typeface="Courier New" pitchFamily="34" charset="0"/>
                <a:ea typeface="Courier New" pitchFamily="34" charset="-122"/>
                <a:cs typeface="Courier New" pitchFamily="34" charset="-120"/>
              </a:rPr>
              <a:t>GATTACAGGCGTGAACCACCGCGCCCGGCCTTTTTAAGTAGCTGGGATTACAGGCGTGAGCCA</a:t>
            </a:r>
            <a:endParaRPr lang="en-US" sz="1150" dirty="0"/>
          </a:p>
        </p:txBody>
      </p:sp>
      <p:sp>
        <p:nvSpPr>
          <p:cNvPr id="7" name="Text 5"/>
          <p:cNvSpPr txBox="1"/>
          <p:nvPr/>
        </p:nvSpPr>
        <p:spPr>
          <a:xfrm>
            <a:off x="889711" y="2304288"/>
            <a:ext cx="10415016" cy="292608"/>
          </a:xfrm>
          <a:prstGeom prst="rect">
            <a:avLst/>
          </a:prstGeom>
          <a:noFill/>
          <a:ln/>
        </p:spPr>
        <p:txBody>
          <a:bodyPr wrap="square" lIns="0" tIns="0" rIns="0" bIns="0" rtlCol="0" anchor="ctr"/>
          <a:lstStyle/>
          <a:p>
            <a:pPr indent="0" marL="0">
              <a:buNone/>
            </a:pPr>
            <a:r>
              <a:rPr lang="en-US" sz="1150" dirty="0">
                <a:solidFill>
                  <a:srgbClr val="E8EDF2"/>
                </a:solidFill>
                <a:latin typeface="Courier New" pitchFamily="34" charset="0"/>
                <a:ea typeface="Courier New" pitchFamily="34" charset="-122"/>
                <a:cs typeface="Courier New" pitchFamily="34" charset="-120"/>
              </a:rPr>
              <a:t>+</a:t>
            </a:r>
            <a:endParaRPr lang="en-US" sz="1150" dirty="0"/>
          </a:p>
        </p:txBody>
      </p:sp>
      <p:sp>
        <p:nvSpPr>
          <p:cNvPr id="8" name="Text 6"/>
          <p:cNvSpPr txBox="1"/>
          <p:nvPr/>
        </p:nvSpPr>
        <p:spPr>
          <a:xfrm>
            <a:off x="889711" y="2633472"/>
            <a:ext cx="10415016" cy="292608"/>
          </a:xfrm>
          <a:prstGeom prst="rect">
            <a:avLst/>
          </a:prstGeom>
          <a:noFill/>
          <a:ln/>
        </p:spPr>
        <p:txBody>
          <a:bodyPr wrap="square" lIns="0" tIns="0" rIns="0" bIns="0" rtlCol="0" anchor="ctr"/>
          <a:lstStyle/>
          <a:p>
            <a:pPr indent="0" marL="0">
              <a:buNone/>
            </a:pPr>
            <a:r>
              <a:rPr lang="en-US" sz="1150" dirty="0">
                <a:solidFill>
                  <a:srgbClr val="C0CD30"/>
                </a:solidFill>
                <a:latin typeface="Courier New" pitchFamily="34" charset="0"/>
                <a:ea typeface="Courier New" pitchFamily="34" charset="-122"/>
                <a:cs typeface="Courier New" pitchFamily="34" charset="-120"/>
              </a:rPr>
              <a:t>FFFFFFF:FFFFFFFFFFFFFFFF,FFFFFFFFFF:FFF,FF:FFFFFFFF,FF:FFFF,F#F</a:t>
            </a:r>
            <a:endParaRPr lang="en-US" sz="1150" dirty="0"/>
          </a:p>
        </p:txBody>
      </p:sp>
      <p:sp>
        <p:nvSpPr>
          <p:cNvPr id="9" name="Text 7"/>
          <p:cNvSpPr txBox="1"/>
          <p:nvPr/>
        </p:nvSpPr>
        <p:spPr>
          <a:xfrm>
            <a:off x="615391" y="3218688"/>
            <a:ext cx="777240" cy="274320"/>
          </a:xfrm>
          <a:prstGeom prst="rect">
            <a:avLst/>
          </a:prstGeom>
          <a:noFill/>
          <a:ln/>
        </p:spPr>
        <p:txBody>
          <a:bodyPr wrap="square" lIns="0" tIns="0" rIns="0" bIns="0" rtlCol="0" anchor="ctr"/>
          <a:lstStyle/>
          <a:p>
            <a:pPr indent="0" marL="0">
              <a:buNone/>
            </a:pPr>
            <a:r>
              <a:rPr lang="en-US" sz="1150" b="1" dirty="0">
                <a:solidFill>
                  <a:srgbClr val="6B7280"/>
                </a:solidFill>
                <a:latin typeface="Arial" pitchFamily="34" charset="0"/>
                <a:ea typeface="Arial" pitchFamily="34" charset="-122"/>
                <a:cs typeface="Arial" pitchFamily="34" charset="-120"/>
              </a:rPr>
              <a:t>Line 1</a:t>
            </a:r>
            <a:endParaRPr lang="en-US" sz="1150" dirty="0"/>
          </a:p>
        </p:txBody>
      </p:sp>
      <p:sp>
        <p:nvSpPr>
          <p:cNvPr id="10" name="Text 8"/>
          <p:cNvSpPr txBox="1"/>
          <p:nvPr/>
        </p:nvSpPr>
        <p:spPr>
          <a:xfrm>
            <a:off x="1438351" y="3218688"/>
            <a:ext cx="5120640" cy="274320"/>
          </a:xfrm>
          <a:prstGeom prst="rect">
            <a:avLst/>
          </a:prstGeom>
          <a:noFill/>
          <a:ln/>
        </p:spPr>
        <p:txBody>
          <a:bodyPr wrap="square" lIns="0" tIns="0" rIns="0" bIns="0" rtlCol="0" anchor="ctr"/>
          <a:lstStyle/>
          <a:p>
            <a:pPr indent="0" marL="0">
              <a:buNone/>
            </a:pPr>
            <a:r>
              <a:rPr lang="en-US" sz="1150" dirty="0">
                <a:solidFill>
                  <a:srgbClr val="1F2933"/>
                </a:solidFill>
                <a:latin typeface="Arial" pitchFamily="34" charset="0"/>
                <a:ea typeface="Arial" pitchFamily="34" charset="-122"/>
                <a:cs typeface="Arial" pitchFamily="34" charset="-120"/>
              </a:rPr>
              <a:t>Identifier, starting with @</a:t>
            </a:r>
            <a:endParaRPr lang="en-US" sz="1150" dirty="0"/>
          </a:p>
        </p:txBody>
      </p:sp>
      <p:sp>
        <p:nvSpPr>
          <p:cNvPr id="11" name="Text 9"/>
          <p:cNvSpPr txBox="1"/>
          <p:nvPr/>
        </p:nvSpPr>
        <p:spPr>
          <a:xfrm>
            <a:off x="615391" y="3584448"/>
            <a:ext cx="777240" cy="274320"/>
          </a:xfrm>
          <a:prstGeom prst="rect">
            <a:avLst/>
          </a:prstGeom>
          <a:noFill/>
          <a:ln/>
        </p:spPr>
        <p:txBody>
          <a:bodyPr wrap="square" lIns="0" tIns="0" rIns="0" bIns="0" rtlCol="0" anchor="ctr"/>
          <a:lstStyle/>
          <a:p>
            <a:pPr indent="0" marL="0">
              <a:buNone/>
            </a:pPr>
            <a:r>
              <a:rPr lang="en-US" sz="1150" b="1" dirty="0">
                <a:solidFill>
                  <a:srgbClr val="6B7280"/>
                </a:solidFill>
                <a:latin typeface="Arial" pitchFamily="34" charset="0"/>
                <a:ea typeface="Arial" pitchFamily="34" charset="-122"/>
                <a:cs typeface="Arial" pitchFamily="34" charset="-120"/>
              </a:rPr>
              <a:t>Line 2</a:t>
            </a:r>
            <a:endParaRPr lang="en-US" sz="1150" dirty="0"/>
          </a:p>
        </p:txBody>
      </p:sp>
      <p:sp>
        <p:nvSpPr>
          <p:cNvPr id="12" name="Text 10"/>
          <p:cNvSpPr txBox="1"/>
          <p:nvPr/>
        </p:nvSpPr>
        <p:spPr>
          <a:xfrm>
            <a:off x="1438351" y="3584448"/>
            <a:ext cx="5120640" cy="274320"/>
          </a:xfrm>
          <a:prstGeom prst="rect">
            <a:avLst/>
          </a:prstGeom>
          <a:noFill/>
          <a:ln/>
        </p:spPr>
        <p:txBody>
          <a:bodyPr wrap="square" lIns="0" tIns="0" rIns="0" bIns="0" rtlCol="0" anchor="ctr"/>
          <a:lstStyle/>
          <a:p>
            <a:pPr indent="0" marL="0">
              <a:buNone/>
            </a:pPr>
            <a:r>
              <a:rPr lang="en-US" sz="1150" dirty="0">
                <a:solidFill>
                  <a:srgbClr val="1F2933"/>
                </a:solidFill>
                <a:latin typeface="Arial" pitchFamily="34" charset="0"/>
                <a:ea typeface="Arial" pitchFamily="34" charset="-122"/>
                <a:cs typeface="Arial" pitchFamily="34" charset="-120"/>
              </a:rPr>
              <a:t>The bases</a:t>
            </a:r>
            <a:endParaRPr lang="en-US" sz="1150" dirty="0"/>
          </a:p>
        </p:txBody>
      </p:sp>
      <p:sp>
        <p:nvSpPr>
          <p:cNvPr id="13" name="Text 11"/>
          <p:cNvSpPr txBox="1"/>
          <p:nvPr/>
        </p:nvSpPr>
        <p:spPr>
          <a:xfrm>
            <a:off x="615391" y="3950208"/>
            <a:ext cx="777240" cy="274320"/>
          </a:xfrm>
          <a:prstGeom prst="rect">
            <a:avLst/>
          </a:prstGeom>
          <a:noFill/>
          <a:ln/>
        </p:spPr>
        <p:txBody>
          <a:bodyPr wrap="square" lIns="0" tIns="0" rIns="0" bIns="0" rtlCol="0" anchor="ctr"/>
          <a:lstStyle/>
          <a:p>
            <a:pPr indent="0" marL="0">
              <a:buNone/>
            </a:pPr>
            <a:r>
              <a:rPr lang="en-US" sz="1150" b="1" dirty="0">
                <a:solidFill>
                  <a:srgbClr val="6B7280"/>
                </a:solidFill>
                <a:latin typeface="Arial" pitchFamily="34" charset="0"/>
                <a:ea typeface="Arial" pitchFamily="34" charset="-122"/>
                <a:cs typeface="Arial" pitchFamily="34" charset="-120"/>
              </a:rPr>
              <a:t>Line 3</a:t>
            </a:r>
            <a:endParaRPr lang="en-US" sz="1150" dirty="0"/>
          </a:p>
        </p:txBody>
      </p:sp>
      <p:sp>
        <p:nvSpPr>
          <p:cNvPr id="14" name="Text 12"/>
          <p:cNvSpPr txBox="1"/>
          <p:nvPr/>
        </p:nvSpPr>
        <p:spPr>
          <a:xfrm>
            <a:off x="1438351" y="3950208"/>
            <a:ext cx="5120640" cy="274320"/>
          </a:xfrm>
          <a:prstGeom prst="rect">
            <a:avLst/>
          </a:prstGeom>
          <a:noFill/>
          <a:ln/>
        </p:spPr>
        <p:txBody>
          <a:bodyPr wrap="square" lIns="0" tIns="0" rIns="0" bIns="0" rtlCol="0" anchor="ctr"/>
          <a:lstStyle/>
          <a:p>
            <a:pPr indent="0" marL="0">
              <a:buNone/>
            </a:pPr>
            <a:r>
              <a:rPr lang="en-US" sz="1150" dirty="0">
                <a:solidFill>
                  <a:srgbClr val="1F2933"/>
                </a:solidFill>
                <a:latin typeface="Arial" pitchFamily="34" charset="0"/>
                <a:ea typeface="Arial" pitchFamily="34" charset="-122"/>
                <a:cs typeface="Arial" pitchFamily="34" charset="-120"/>
              </a:rPr>
              <a:t>A + sign. Historically repeated the ID; now almost always bare</a:t>
            </a:r>
            <a:endParaRPr lang="en-US" sz="1150" dirty="0"/>
          </a:p>
        </p:txBody>
      </p:sp>
      <p:sp>
        <p:nvSpPr>
          <p:cNvPr id="15" name="Text 13"/>
          <p:cNvSpPr txBox="1"/>
          <p:nvPr/>
        </p:nvSpPr>
        <p:spPr>
          <a:xfrm>
            <a:off x="615391" y="4315968"/>
            <a:ext cx="777240" cy="274320"/>
          </a:xfrm>
          <a:prstGeom prst="rect">
            <a:avLst/>
          </a:prstGeom>
          <a:noFill/>
          <a:ln/>
        </p:spPr>
        <p:txBody>
          <a:bodyPr wrap="square" lIns="0" tIns="0" rIns="0" bIns="0" rtlCol="0" anchor="ctr"/>
          <a:lstStyle/>
          <a:p>
            <a:pPr indent="0" marL="0">
              <a:buNone/>
            </a:pPr>
            <a:r>
              <a:rPr lang="en-US" sz="1150" b="1" dirty="0">
                <a:solidFill>
                  <a:srgbClr val="6B7280"/>
                </a:solidFill>
                <a:latin typeface="Arial" pitchFamily="34" charset="0"/>
                <a:ea typeface="Arial" pitchFamily="34" charset="-122"/>
                <a:cs typeface="Arial" pitchFamily="34" charset="-120"/>
              </a:rPr>
              <a:t>Line 4</a:t>
            </a:r>
            <a:endParaRPr lang="en-US" sz="1150" dirty="0"/>
          </a:p>
        </p:txBody>
      </p:sp>
      <p:sp>
        <p:nvSpPr>
          <p:cNvPr id="16" name="Text 14"/>
          <p:cNvSpPr txBox="1"/>
          <p:nvPr/>
        </p:nvSpPr>
        <p:spPr>
          <a:xfrm>
            <a:off x="1438351" y="4315968"/>
            <a:ext cx="5120640" cy="274320"/>
          </a:xfrm>
          <a:prstGeom prst="rect">
            <a:avLst/>
          </a:prstGeom>
          <a:noFill/>
          <a:ln/>
        </p:spPr>
        <p:txBody>
          <a:bodyPr wrap="square" lIns="0" tIns="0" rIns="0" bIns="0" rtlCol="0" anchor="ctr"/>
          <a:lstStyle/>
          <a:p>
            <a:pPr indent="0" marL="0">
              <a:buNone/>
            </a:pPr>
            <a:r>
              <a:rPr lang="en-US" sz="1150" dirty="0">
                <a:solidFill>
                  <a:srgbClr val="1F2933"/>
                </a:solidFill>
                <a:latin typeface="Arial" pitchFamily="34" charset="0"/>
                <a:ea typeface="Arial" pitchFamily="34" charset="-122"/>
                <a:cs typeface="Arial" pitchFamily="34" charset="-120"/>
              </a:rPr>
              <a:t>One quality character per base — must be exactly as long as line 2</a:t>
            </a:r>
            <a:endParaRPr lang="en-US" sz="1150" dirty="0"/>
          </a:p>
        </p:txBody>
      </p:sp>
      <p:sp>
        <p:nvSpPr>
          <p:cNvPr id="17" name="Shape 15"/>
          <p:cNvSpPr/>
          <p:nvPr/>
        </p:nvSpPr>
        <p:spPr>
          <a:xfrm>
            <a:off x="6675120" y="3218688"/>
            <a:ext cx="4901184" cy="1481328"/>
          </a:xfrm>
          <a:prstGeom prst="roundRect">
            <a:avLst>
              <a:gd name="adj" fmla="val 3704"/>
            </a:avLst>
          </a:prstGeom>
          <a:solidFill>
            <a:srgbClr val="FFF8E6"/>
          </a:solidFill>
          <a:ln w="19050">
            <a:solidFill>
              <a:srgbClr val="FFC82C"/>
            </a:solidFill>
            <a:prstDash val="solid"/>
          </a:ln>
        </p:spPr>
      </p:sp>
      <p:sp>
        <p:nvSpPr>
          <p:cNvPr id="18" name="Text 16"/>
          <p:cNvSpPr txBox="1"/>
          <p:nvPr/>
        </p:nvSpPr>
        <p:spPr>
          <a:xfrm>
            <a:off x="6967728" y="3364992"/>
            <a:ext cx="4389120" cy="274320"/>
          </a:xfrm>
          <a:prstGeom prst="rect">
            <a:avLst/>
          </a:prstGeom>
          <a:noFill/>
          <a:ln/>
        </p:spPr>
        <p:txBody>
          <a:bodyPr wrap="square" lIns="0" tIns="0" rIns="0" bIns="0" rtlCol="0" anchor="ctr"/>
          <a:lstStyle/>
          <a:p>
            <a:pPr indent="0" marL="0">
              <a:buNone/>
            </a:pPr>
            <a:r>
              <a:rPr lang="en-US" sz="1350" b="1" dirty="0">
                <a:solidFill>
                  <a:srgbClr val="9C7A00"/>
                </a:solidFill>
                <a:latin typeface="Arial" pitchFamily="34" charset="0"/>
                <a:ea typeface="Arial" pitchFamily="34" charset="-122"/>
                <a:cs typeface="Arial" pitchFamily="34" charset="-120"/>
              </a:rPr>
              <a:t>That header is not decoration</a:t>
            </a:r>
            <a:endParaRPr lang="en-US" sz="1350" dirty="0"/>
          </a:p>
        </p:txBody>
      </p:sp>
      <p:sp>
        <p:nvSpPr>
          <p:cNvPr id="19" name="Text 17"/>
          <p:cNvSpPr txBox="1"/>
          <p:nvPr/>
        </p:nvSpPr>
        <p:spPr>
          <a:xfrm>
            <a:off x="6967728" y="3675888"/>
            <a:ext cx="4389120" cy="914400"/>
          </a:xfrm>
          <a:prstGeom prst="rect">
            <a:avLst/>
          </a:prstGeom>
          <a:noFill/>
          <a:ln/>
        </p:spPr>
        <p:txBody>
          <a:bodyPr wrap="square" lIns="0" tIns="0" rIns="0" bIns="0" rtlCol="0" anchor="ctr"/>
          <a:lstStyle/>
          <a:p>
            <a:pPr indent="0" marL="0">
              <a:lnSpc>
                <a:spcPts val="1500"/>
              </a:lnSpc>
              <a:buNone/>
            </a:pPr>
            <a:r>
              <a:rPr lang="en-US" sz="1100" dirty="0">
                <a:solidFill>
                  <a:srgbClr val="1F2933"/>
                </a:solidFill>
                <a:latin typeface="Arial" pitchFamily="34" charset="0"/>
                <a:ea typeface="Arial" pitchFamily="34" charset="-122"/>
                <a:cs typeface="Arial" pitchFamily="34" charset="-120"/>
              </a:rPr>
              <a:t>instrument : run : flowcell : lane : tile : x : y</a:t>
            </a:r>
            <a:endParaRPr lang="en-US" sz="1100" dirty="0"/>
          </a:p>
          <a:p>
            <a:pPr indent="0" marL="0">
              <a:lnSpc>
                <a:spcPts val="1500"/>
              </a:lnSpc>
              <a:buNone/>
            </a:pPr>
            <a:endParaRPr lang="en-US" sz="1100" dirty="0"/>
          </a:p>
          <a:p>
            <a:pPr indent="0" marL="0">
              <a:lnSpc>
                <a:spcPts val="1500"/>
              </a:lnSpc>
              <a:buNone/>
            </a:pPr>
            <a:r>
              <a:rPr lang="en-US" sz="1100" dirty="0">
                <a:solidFill>
                  <a:srgbClr val="1F2933"/>
                </a:solidFill>
                <a:latin typeface="Arial" pitchFamily="34" charset="0"/>
                <a:ea typeface="Arial" pitchFamily="34" charset="-122"/>
                <a:cs typeface="Arial" pitchFamily="34" charset="-120"/>
              </a:rPr>
              <a:t>This is the field Gilad and Mizrahi-Man used to reconstruct the Mouse ENCODE batch structure from public data. Your batch variable may already be sitting in your files.</a:t>
            </a:r>
            <a:endParaRPr lang="en-US" sz="1100" dirty="0"/>
          </a:p>
        </p:txBody>
      </p:sp>
      <p:sp>
        <p:nvSpPr>
          <p:cNvPr id="20" name="Text 18"/>
          <p:cNvSpPr txBox="1"/>
          <p:nvPr/>
        </p:nvSpPr>
        <p:spPr>
          <a:xfrm>
            <a:off x="615391" y="5193792"/>
            <a:ext cx="10963656" cy="274320"/>
          </a:xfrm>
          <a:prstGeom prst="rect">
            <a:avLst/>
          </a:prstGeom>
          <a:noFill/>
          <a:ln/>
        </p:spPr>
        <p:txBody>
          <a:bodyPr wrap="square" lIns="0" tIns="0" rIns="0" bIns="0" rtlCol="0" anchor="ctr"/>
          <a:lstStyle/>
          <a:p>
            <a:pPr indent="0" marL="0">
              <a:buNone/>
            </a:pPr>
            <a:r>
              <a:rPr lang="en-US" sz="1150" dirty="0">
                <a:solidFill>
                  <a:srgbClr val="205081"/>
                </a:solidFill>
                <a:latin typeface="Courier New" pitchFamily="34" charset="0"/>
                <a:ea typeface="Courier New" pitchFamily="34" charset="-122"/>
                <a:cs typeface="Courier New" pitchFamily="34" charset="-120"/>
              </a:rPr>
              <a:t>Practical: zcat sample.fastq.gz | head -n 4     ·     awk 'NR%4==1' reads.fastq | cut -d: -f3,4 | sort | uniq -c</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615391" y="329184"/>
            <a:ext cx="10963656" cy="603504"/>
          </a:xfrm>
          <a:prstGeom prst="rect">
            <a:avLst/>
          </a:prstGeom>
          <a:noFill/>
          <a:ln/>
        </p:spPr>
        <p:txBody>
          <a:bodyPr wrap="square" lIns="0" tIns="0" rIns="0" bIns="0" rtlCol="0" anchor="ctr"/>
          <a:lstStyle/>
          <a:p>
            <a:pPr indent="0" marL="0">
              <a:buNone/>
            </a:pPr>
            <a:r>
              <a:rPr lang="en-US" sz="2800" b="1" dirty="0">
                <a:solidFill>
                  <a:srgbClr val="3172AE"/>
                </a:solidFill>
                <a:latin typeface="Arial" pitchFamily="34" charset="0"/>
                <a:ea typeface="Arial" pitchFamily="34" charset="-122"/>
                <a:cs typeface="Arial" pitchFamily="34" charset="-120"/>
              </a:rPr>
              <a:t>Phred scores, and the arithmetic behind them</a:t>
            </a:r>
            <a:endParaRPr lang="en-US" sz="2800" dirty="0"/>
          </a:p>
        </p:txBody>
      </p:sp>
      <p:sp>
        <p:nvSpPr>
          <p:cNvPr id="3" name="Text 1"/>
          <p:cNvSpPr txBox="1"/>
          <p:nvPr/>
        </p:nvSpPr>
        <p:spPr>
          <a:xfrm>
            <a:off x="615391" y="941832"/>
            <a:ext cx="10963656" cy="274320"/>
          </a:xfrm>
          <a:prstGeom prst="rect">
            <a:avLst/>
          </a:prstGeom>
          <a:noFill/>
          <a:ln/>
        </p:spPr>
        <p:txBody>
          <a:bodyPr wrap="square" lIns="0" tIns="0" rIns="0" bIns="0" rtlCol="0" anchor="ctr"/>
          <a:lstStyle/>
          <a:p>
            <a:pPr indent="0" marL="0">
              <a:buNone/>
            </a:pPr>
            <a:r>
              <a:rPr lang="en-US" sz="1200" spc="110" kern="0" dirty="0">
                <a:solidFill>
                  <a:srgbClr val="9AA5B1"/>
                </a:solidFill>
                <a:latin typeface="Arial" pitchFamily="34" charset="0"/>
                <a:ea typeface="Arial" pitchFamily="34" charset="-122"/>
                <a:cs typeface="Arial" pitchFamily="34" charset="-120"/>
              </a:rPr>
              <a:t>FASTQ AND QC</a:t>
            </a:r>
            <a:endParaRPr lang="en-US" sz="1200" dirty="0"/>
          </a:p>
        </p:txBody>
      </p:sp>
      <p:sp>
        <p:nvSpPr>
          <p:cNvPr id="4" name="Shape 2"/>
          <p:cNvSpPr/>
          <p:nvPr/>
        </p:nvSpPr>
        <p:spPr>
          <a:xfrm>
            <a:off x="615391" y="1481328"/>
            <a:ext cx="5029200" cy="777240"/>
          </a:xfrm>
          <a:prstGeom prst="roundRect">
            <a:avLst>
              <a:gd name="adj" fmla="val 7059"/>
            </a:avLst>
          </a:prstGeom>
          <a:solidFill>
            <a:srgbClr val="EEF4FA"/>
          </a:solidFill>
          <a:ln w="12700">
            <a:solidFill>
              <a:srgbClr val="EEF4FA"/>
            </a:solidFill>
            <a:prstDash val="solid"/>
          </a:ln>
        </p:spPr>
      </p:sp>
      <p:sp>
        <p:nvSpPr>
          <p:cNvPr id="5" name="Text 3"/>
          <p:cNvSpPr txBox="1"/>
          <p:nvPr/>
        </p:nvSpPr>
        <p:spPr>
          <a:xfrm>
            <a:off x="926287" y="1609344"/>
            <a:ext cx="4572000" cy="365760"/>
          </a:xfrm>
          <a:prstGeom prst="rect">
            <a:avLst/>
          </a:prstGeom>
          <a:noFill/>
          <a:ln/>
        </p:spPr>
        <p:txBody>
          <a:bodyPr wrap="square" lIns="0" tIns="0" rIns="0" bIns="0" rtlCol="0" anchor="ctr"/>
          <a:lstStyle/>
          <a:p>
            <a:pPr indent="0" marL="0">
              <a:buNone/>
            </a:pPr>
            <a:r>
              <a:rPr lang="en-US" sz="2100" b="1" dirty="0">
                <a:solidFill>
                  <a:srgbClr val="3172AE"/>
                </a:solidFill>
                <a:latin typeface="Arial" pitchFamily="34" charset="0"/>
                <a:ea typeface="Arial" pitchFamily="34" charset="-122"/>
                <a:cs typeface="Arial" pitchFamily="34" charset="-120"/>
              </a:rPr>
              <a:t>Q  =  −10 × log₁₀(P)</a:t>
            </a:r>
            <a:endParaRPr lang="en-US" sz="2100" dirty="0"/>
          </a:p>
        </p:txBody>
      </p:sp>
      <p:sp>
        <p:nvSpPr>
          <p:cNvPr id="6" name="Text 4"/>
          <p:cNvSpPr txBox="1"/>
          <p:nvPr/>
        </p:nvSpPr>
        <p:spPr>
          <a:xfrm>
            <a:off x="926287" y="1975104"/>
            <a:ext cx="4572000" cy="237744"/>
          </a:xfrm>
          <a:prstGeom prst="rect">
            <a:avLst/>
          </a:prstGeom>
          <a:noFill/>
          <a:ln/>
        </p:spPr>
        <p:txBody>
          <a:bodyPr wrap="square" lIns="0" tIns="0" rIns="0" bIns="0" rtlCol="0" anchor="ctr"/>
          <a:lstStyle/>
          <a:p>
            <a:pPr indent="0" marL="0">
              <a:buNone/>
            </a:pPr>
            <a:r>
              <a:rPr lang="en-US" sz="1150" dirty="0">
                <a:solidFill>
                  <a:srgbClr val="6B7280"/>
                </a:solidFill>
                <a:latin typeface="Arial" pitchFamily="34" charset="0"/>
                <a:ea typeface="Arial" pitchFamily="34" charset="-122"/>
                <a:cs typeface="Arial" pitchFamily="34" charset="-120"/>
              </a:rPr>
              <a:t>where P is the probability that this base is wrong</a:t>
            </a:r>
            <a:endParaRPr lang="en-US" sz="11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15391" y="2441448"/>
          <a:ext cx="5029200" cy="914400"/>
        </p:xfrm>
        <a:graphic>
          <a:graphicData uri="http://schemas.openxmlformats.org/drawingml/2006/table">
            <a:tbl>
              <a:tblPr/>
              <a:tblGrid>
                <a:gridCol w="777240"/>
                <a:gridCol w="1600200"/>
                <a:gridCol w="1234440"/>
                <a:gridCol w="1417320"/>
              </a:tblGrid>
              <a:tr h="292608">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Q</a:t>
                      </a:r>
                      <a:endParaRPr lang="en-US" sz="1150" dirty="0">
                        <a:latin typeface="Arial" charset="0"/>
                        <a:ea typeface="Arial" charset="0"/>
                        <a:cs typeface="Arial" charset="0"/>
                      </a:endParaRPr>
                    </a:p>
                  </a:txBody>
                  <a:tcPr marL="91440" marR="91440" marT="45720" marB="45720"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solidFill>
                      <a:srgbClr val="205081"/>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Error probability</a:t>
                      </a:r>
                      <a:endParaRPr lang="en-US" sz="1150" dirty="0">
                        <a:latin typeface="Arial" charset="0"/>
                        <a:ea typeface="Arial" charset="0"/>
                        <a:cs typeface="Arial" charset="0"/>
                      </a:endParaRPr>
                    </a:p>
                  </a:txBody>
                  <a:tcPr marL="91440" marR="91440" marT="45720" marB="45720"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solidFill>
                      <a:srgbClr val="205081"/>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Accuracy</a:t>
                      </a:r>
                      <a:endParaRPr lang="en-US" sz="1150" dirty="0">
                        <a:latin typeface="Arial" charset="0"/>
                        <a:ea typeface="Arial" charset="0"/>
                        <a:cs typeface="Arial" charset="0"/>
                      </a:endParaRPr>
                    </a:p>
                  </a:txBody>
                  <a:tcPr marL="91440" marR="91440" marT="45720" marB="45720"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solidFill>
                      <a:srgbClr val="205081"/>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ASCII (Phred+33)</a:t>
                      </a:r>
                      <a:endParaRPr lang="en-US" sz="1150" dirty="0">
                        <a:latin typeface="Arial" charset="0"/>
                        <a:ea typeface="Arial" charset="0"/>
                        <a:cs typeface="Arial" charset="0"/>
                      </a:endParaRPr>
                    </a:p>
                  </a:txBody>
                  <a:tcPr marL="91440" marR="91440" marT="45720" marB="45720"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solidFill>
                      <a:srgbClr val="205081"/>
                    </a:solidFill>
                  </a:tcPr>
                </a:tc>
              </a:tr>
              <a:tr h="329184">
                <a:tc>
                  <a:txBody>
                    <a:bodyPr/>
                    <a:lstStyle/>
                    <a:p>
                      <a:pPr algn="ctr" indent="0" marL="0">
                        <a:buNone/>
                      </a:pPr>
                      <a:r>
                        <a:rPr lang="en-US" sz="1100" dirty="0">
                          <a:solidFill>
                            <a:srgbClr val="1F2933"/>
                          </a:solidFill>
                          <a:latin typeface="Arial" pitchFamily="34" charset="0"/>
                          <a:ea typeface="Arial" pitchFamily="34" charset="-122"/>
                          <a:cs typeface="Arial" pitchFamily="34" charset="-120"/>
                        </a:rPr>
                        <a:t>10</a:t>
                      </a:r>
                      <a:endParaRPr lang="en-US" sz="1100" dirty="0">
                        <a:latin typeface="Arial" charset="0"/>
                        <a:ea typeface="Arial" charset="0"/>
                        <a:cs typeface="Arial" charset="0"/>
                      </a:endParaRPr>
                    </a:p>
                  </a:txBody>
                  <a:tcPr marL="91440" marR="91440" marT="45720" marB="45720"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c>
                  <a:txBody>
                    <a:bodyPr/>
                    <a:lstStyle/>
                    <a:p>
                      <a:pPr algn="ctr" indent="0" marL="0">
                        <a:buNone/>
                      </a:pPr>
                      <a:r>
                        <a:rPr lang="en-US" sz="1100" dirty="0">
                          <a:solidFill>
                            <a:srgbClr val="1F2933"/>
                          </a:solidFill>
                          <a:latin typeface="Arial" pitchFamily="34" charset="0"/>
                          <a:ea typeface="Arial" pitchFamily="34" charset="-122"/>
                          <a:cs typeface="Arial" pitchFamily="34" charset="-120"/>
                        </a:rPr>
                        <a:t>1 in 10</a:t>
                      </a:r>
                      <a:endParaRPr lang="en-US" sz="1100" dirty="0">
                        <a:latin typeface="Arial" charset="0"/>
                        <a:ea typeface="Arial" charset="0"/>
                        <a:cs typeface="Arial" charset="0"/>
                      </a:endParaRPr>
                    </a:p>
                  </a:txBody>
                  <a:tcPr marL="91440" marR="91440" marT="45720" marB="45720"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c>
                  <a:txBody>
                    <a:bodyPr/>
                    <a:lstStyle/>
                    <a:p>
                      <a:pPr algn="ctr" indent="0" marL="0">
                        <a:buNone/>
                      </a:pPr>
                      <a:r>
                        <a:rPr lang="en-US" sz="1100" dirty="0">
                          <a:solidFill>
                            <a:srgbClr val="1F2933"/>
                          </a:solidFill>
                          <a:latin typeface="Arial" pitchFamily="34" charset="0"/>
                          <a:ea typeface="Arial" pitchFamily="34" charset="-122"/>
                          <a:cs typeface="Arial" pitchFamily="34" charset="-120"/>
                        </a:rPr>
                        <a:t>90%</a:t>
                      </a:r>
                      <a:endParaRPr lang="en-US" sz="1100" dirty="0">
                        <a:latin typeface="Arial" charset="0"/>
                        <a:ea typeface="Arial" charset="0"/>
                        <a:cs typeface="Arial" charset="0"/>
                      </a:endParaRPr>
                    </a:p>
                  </a:txBody>
                  <a:tcPr marL="91440" marR="91440" marT="45720" marB="45720"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c>
                  <a:txBody>
                    <a:bodyPr/>
                    <a:lstStyle/>
                    <a:p>
                      <a:pPr algn="ctr" indent="0" marL="0">
                        <a:buNone/>
                      </a:pPr>
                      <a:r>
                        <a:rPr lang="en-US" sz="1100" dirty="0">
                          <a:solidFill>
                            <a:srgbClr val="1F2933"/>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r>
              <a:tr h="329184">
                <a:tc>
                  <a:txBody>
                    <a:bodyPr/>
                    <a:lstStyle/>
                    <a:p>
                      <a:pPr algn="ctr" indent="0" marL="0">
                        <a:buNone/>
                      </a:pPr>
                      <a:r>
                        <a:rPr lang="en-US" sz="1100" dirty="0">
                          <a:solidFill>
                            <a:srgbClr val="1F2933"/>
                          </a:solidFill>
                          <a:latin typeface="Arial" pitchFamily="34" charset="0"/>
                          <a:ea typeface="Arial" pitchFamily="34" charset="-122"/>
                          <a:cs typeface="Arial" pitchFamily="34" charset="-120"/>
                        </a:rPr>
                        <a:t>20</a:t>
                      </a:r>
                      <a:endParaRPr lang="en-US" sz="1100" dirty="0">
                        <a:latin typeface="Arial" charset="0"/>
                        <a:ea typeface="Arial" charset="0"/>
                        <a:cs typeface="Arial" charset="0"/>
                      </a:endParaRPr>
                    </a:p>
                  </a:txBody>
                  <a:tcPr marL="91440" marR="91440" marT="45720" marB="45720"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c>
                  <a:txBody>
                    <a:bodyPr/>
                    <a:lstStyle/>
                    <a:p>
                      <a:pPr algn="ctr" indent="0" marL="0">
                        <a:buNone/>
                      </a:pPr>
                      <a:r>
                        <a:rPr lang="en-US" sz="1100" dirty="0">
                          <a:solidFill>
                            <a:srgbClr val="1F2933"/>
                          </a:solidFill>
                          <a:latin typeface="Arial" pitchFamily="34" charset="0"/>
                          <a:ea typeface="Arial" pitchFamily="34" charset="-122"/>
                          <a:cs typeface="Arial" pitchFamily="34" charset="-120"/>
                        </a:rPr>
                        <a:t>1 in 100</a:t>
                      </a:r>
                      <a:endParaRPr lang="en-US" sz="1100" dirty="0">
                        <a:latin typeface="Arial" charset="0"/>
                        <a:ea typeface="Arial" charset="0"/>
                        <a:cs typeface="Arial" charset="0"/>
                      </a:endParaRPr>
                    </a:p>
                  </a:txBody>
                  <a:tcPr marL="91440" marR="91440" marT="45720" marB="45720"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c>
                  <a:txBody>
                    <a:bodyPr/>
                    <a:lstStyle/>
                    <a:p>
                      <a:pPr algn="ctr" indent="0" marL="0">
                        <a:buNone/>
                      </a:pPr>
                      <a:r>
                        <a:rPr lang="en-US" sz="1100" dirty="0">
                          <a:solidFill>
                            <a:srgbClr val="1F2933"/>
                          </a:solidFill>
                          <a:latin typeface="Arial" pitchFamily="34" charset="0"/>
                          <a:ea typeface="Arial" pitchFamily="34" charset="-122"/>
                          <a:cs typeface="Arial" pitchFamily="34" charset="-120"/>
                        </a:rPr>
                        <a:t>99%</a:t>
                      </a:r>
                      <a:endParaRPr lang="en-US" sz="1100" dirty="0">
                        <a:latin typeface="Arial" charset="0"/>
                        <a:ea typeface="Arial" charset="0"/>
                        <a:cs typeface="Arial" charset="0"/>
                      </a:endParaRPr>
                    </a:p>
                  </a:txBody>
                  <a:tcPr marL="91440" marR="91440" marT="45720" marB="45720"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c>
                  <a:txBody>
                    <a:bodyPr/>
                    <a:lstStyle/>
                    <a:p>
                      <a:pPr algn="ctr" indent="0" marL="0">
                        <a:buNone/>
                      </a:pPr>
                      <a:r>
                        <a:rPr lang="en-US" sz="1100" dirty="0">
                          <a:solidFill>
                            <a:srgbClr val="1F2933"/>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91440" marR="91440" marT="45720" marB="45720"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r>
              <a:tr h="329184">
                <a:tc>
                  <a:txBody>
                    <a:bodyPr/>
                    <a:lstStyle/>
                    <a:p>
                      <a:pPr algn="ctr" indent="0" marL="0">
                        <a:buNone/>
                      </a:pPr>
                      <a:r>
                        <a:rPr lang="en-US" sz="1100" dirty="0">
                          <a:solidFill>
                            <a:srgbClr val="1F2933"/>
                          </a:solidFill>
                          <a:latin typeface="Arial" pitchFamily="34" charset="0"/>
                          <a:ea typeface="Arial" pitchFamily="34" charset="-122"/>
                          <a:cs typeface="Arial" pitchFamily="34" charset="-120"/>
                        </a:rPr>
                        <a:t>30</a:t>
                      </a:r>
                      <a:endParaRPr lang="en-US" sz="1100" dirty="0">
                        <a:latin typeface="Arial" charset="0"/>
                        <a:ea typeface="Arial" charset="0"/>
                        <a:cs typeface="Arial" charset="0"/>
                      </a:endParaRPr>
                    </a:p>
                  </a:txBody>
                  <a:tcPr marL="91440" marR="91440" marT="45720" marB="45720"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c>
                  <a:txBody>
                    <a:bodyPr/>
                    <a:lstStyle/>
                    <a:p>
                      <a:pPr algn="ctr" indent="0" marL="0">
                        <a:buNone/>
                      </a:pPr>
                      <a:r>
                        <a:rPr lang="en-US" sz="1100" dirty="0">
                          <a:solidFill>
                            <a:srgbClr val="1F2933"/>
                          </a:solidFill>
                          <a:latin typeface="Arial" pitchFamily="34" charset="0"/>
                          <a:ea typeface="Arial" pitchFamily="34" charset="-122"/>
                          <a:cs typeface="Arial" pitchFamily="34" charset="-120"/>
                        </a:rPr>
                        <a:t>1 in 1,000</a:t>
                      </a:r>
                      <a:endParaRPr lang="en-US" sz="1100" dirty="0">
                        <a:latin typeface="Arial" charset="0"/>
                        <a:ea typeface="Arial" charset="0"/>
                        <a:cs typeface="Arial" charset="0"/>
                      </a:endParaRPr>
                    </a:p>
                  </a:txBody>
                  <a:tcPr marL="91440" marR="91440" marT="45720" marB="45720"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c>
                  <a:txBody>
                    <a:bodyPr/>
                    <a:lstStyle/>
                    <a:p>
                      <a:pPr algn="ctr" indent="0" marL="0">
                        <a:buNone/>
                      </a:pPr>
                      <a:r>
                        <a:rPr lang="en-US" sz="1100" dirty="0">
                          <a:solidFill>
                            <a:srgbClr val="1F2933"/>
                          </a:solidFill>
                          <a:latin typeface="Arial" pitchFamily="34" charset="0"/>
                          <a:ea typeface="Arial" pitchFamily="34" charset="-122"/>
                          <a:cs typeface="Arial" pitchFamily="34" charset="-120"/>
                        </a:rPr>
                        <a:t>99.9%</a:t>
                      </a:r>
                      <a:endParaRPr lang="en-US" sz="1100" dirty="0">
                        <a:latin typeface="Arial" charset="0"/>
                        <a:ea typeface="Arial" charset="0"/>
                        <a:cs typeface="Arial" charset="0"/>
                      </a:endParaRPr>
                    </a:p>
                  </a:txBody>
                  <a:tcPr marL="91440" marR="91440" marT="45720" marB="45720"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c>
                  <a:txBody>
                    <a:bodyPr/>
                    <a:lstStyle/>
                    <a:p>
                      <a:pPr algn="ctr" indent="0" marL="0">
                        <a:buNone/>
                      </a:pPr>
                      <a:r>
                        <a:rPr lang="en-US" sz="1100" dirty="0">
                          <a:solidFill>
                            <a:srgbClr val="1F2933"/>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r>
              <a:tr h="329184">
                <a:tc>
                  <a:txBody>
                    <a:bodyPr/>
                    <a:lstStyle/>
                    <a:p>
                      <a:pPr algn="ctr" indent="0" marL="0">
                        <a:buNone/>
                      </a:pPr>
                      <a:r>
                        <a:rPr lang="en-US" sz="1100" dirty="0">
                          <a:solidFill>
                            <a:srgbClr val="1F2933"/>
                          </a:solidFill>
                          <a:latin typeface="Arial" pitchFamily="34" charset="0"/>
                          <a:ea typeface="Arial" pitchFamily="34" charset="-122"/>
                          <a:cs typeface="Arial" pitchFamily="34" charset="-120"/>
                        </a:rPr>
                        <a:t>37</a:t>
                      </a:r>
                      <a:endParaRPr lang="en-US" sz="1100" dirty="0">
                        <a:latin typeface="Arial" charset="0"/>
                        <a:ea typeface="Arial" charset="0"/>
                        <a:cs typeface="Arial" charset="0"/>
                      </a:endParaRPr>
                    </a:p>
                  </a:txBody>
                  <a:tcPr marL="91440" marR="91440" marT="45720" marB="45720"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c>
                  <a:txBody>
                    <a:bodyPr/>
                    <a:lstStyle/>
                    <a:p>
                      <a:pPr algn="ctr" indent="0" marL="0">
                        <a:buNone/>
                      </a:pPr>
                      <a:r>
                        <a:rPr lang="en-US" sz="1100" dirty="0">
                          <a:solidFill>
                            <a:srgbClr val="1F2933"/>
                          </a:solidFill>
                          <a:latin typeface="Arial" pitchFamily="34" charset="0"/>
                          <a:ea typeface="Arial" pitchFamily="34" charset="-122"/>
                          <a:cs typeface="Arial" pitchFamily="34" charset="-120"/>
                        </a:rPr>
                        <a:t>1 in 5,000</a:t>
                      </a:r>
                      <a:endParaRPr lang="en-US" sz="1100" dirty="0">
                        <a:latin typeface="Arial" charset="0"/>
                        <a:ea typeface="Arial" charset="0"/>
                        <a:cs typeface="Arial" charset="0"/>
                      </a:endParaRPr>
                    </a:p>
                  </a:txBody>
                  <a:tcPr marL="91440" marR="91440" marT="45720" marB="45720"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c>
                  <a:txBody>
                    <a:bodyPr/>
                    <a:lstStyle/>
                    <a:p>
                      <a:pPr algn="ctr" indent="0" marL="0">
                        <a:buNone/>
                      </a:pPr>
                      <a:r>
                        <a:rPr lang="en-US" sz="1100" dirty="0">
                          <a:solidFill>
                            <a:srgbClr val="1F2933"/>
                          </a:solidFill>
                          <a:latin typeface="Arial" pitchFamily="34" charset="0"/>
                          <a:ea typeface="Arial" pitchFamily="34" charset="-122"/>
                          <a:cs typeface="Arial" pitchFamily="34" charset="-120"/>
                        </a:rPr>
                        <a:t>99.98%</a:t>
                      </a:r>
                      <a:endParaRPr lang="en-US" sz="1100" dirty="0">
                        <a:latin typeface="Arial" charset="0"/>
                        <a:ea typeface="Arial" charset="0"/>
                        <a:cs typeface="Arial" charset="0"/>
                      </a:endParaRPr>
                    </a:p>
                  </a:txBody>
                  <a:tcPr marL="91440" marR="91440" marT="45720" marB="45720"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c>
                  <a:txBody>
                    <a:bodyPr/>
                    <a:lstStyle/>
                    <a:p>
                      <a:pPr algn="ctr" indent="0" marL="0">
                        <a:buNone/>
                      </a:pPr>
                      <a:r>
                        <a:rPr lang="en-US" sz="1100" dirty="0">
                          <a:solidFill>
                            <a:srgbClr val="1F2933"/>
                          </a:solidFill>
                          <a:latin typeface="Arial" pitchFamily="34" charset="0"/>
                          <a:ea typeface="Arial" pitchFamily="34" charset="-122"/>
                          <a:cs typeface="Arial" pitchFamily="34" charset="-120"/>
                        </a:rPr>
                        <a:t>F</a:t>
                      </a:r>
                      <a:endParaRPr lang="en-US" sz="1100" dirty="0">
                        <a:latin typeface="Arial" charset="0"/>
                        <a:ea typeface="Arial" charset="0"/>
                        <a:cs typeface="Arial" charset="0"/>
                      </a:endParaRPr>
                    </a:p>
                  </a:txBody>
                  <a:tcPr marL="91440" marR="91440" marT="45720" marB="45720"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r>
              <a:tr h="329184">
                <a:tc>
                  <a:txBody>
                    <a:bodyPr/>
                    <a:lstStyle/>
                    <a:p>
                      <a:pPr algn="ctr" indent="0" marL="0">
                        <a:buNone/>
                      </a:pPr>
                      <a:r>
                        <a:rPr lang="en-US" sz="1100" dirty="0">
                          <a:solidFill>
                            <a:srgbClr val="1F2933"/>
                          </a:solidFill>
                          <a:latin typeface="Arial" pitchFamily="34" charset="0"/>
                          <a:ea typeface="Arial" pitchFamily="34" charset="-122"/>
                          <a:cs typeface="Arial" pitchFamily="34" charset="-120"/>
                        </a:rPr>
                        <a:t>40</a:t>
                      </a:r>
                      <a:endParaRPr lang="en-US" sz="1100" dirty="0">
                        <a:latin typeface="Arial" charset="0"/>
                        <a:ea typeface="Arial" charset="0"/>
                        <a:cs typeface="Arial" charset="0"/>
                      </a:endParaRPr>
                    </a:p>
                  </a:txBody>
                  <a:tcPr marL="91440" marR="91440" marT="45720" marB="45720"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c>
                  <a:txBody>
                    <a:bodyPr/>
                    <a:lstStyle/>
                    <a:p>
                      <a:pPr algn="ctr" indent="0" marL="0">
                        <a:buNone/>
                      </a:pPr>
                      <a:r>
                        <a:rPr lang="en-US" sz="1100" dirty="0">
                          <a:solidFill>
                            <a:srgbClr val="1F2933"/>
                          </a:solidFill>
                          <a:latin typeface="Arial" pitchFamily="34" charset="0"/>
                          <a:ea typeface="Arial" pitchFamily="34" charset="-122"/>
                          <a:cs typeface="Arial" pitchFamily="34" charset="-120"/>
                        </a:rPr>
                        <a:t>1 in 10,000</a:t>
                      </a:r>
                      <a:endParaRPr lang="en-US" sz="1100" dirty="0">
                        <a:latin typeface="Arial" charset="0"/>
                        <a:ea typeface="Arial" charset="0"/>
                        <a:cs typeface="Arial" charset="0"/>
                      </a:endParaRPr>
                    </a:p>
                  </a:txBody>
                  <a:tcPr marL="91440" marR="91440" marT="45720" marB="45720"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c>
                  <a:txBody>
                    <a:bodyPr/>
                    <a:lstStyle/>
                    <a:p>
                      <a:pPr algn="ctr" indent="0" marL="0">
                        <a:buNone/>
                      </a:pPr>
                      <a:r>
                        <a:rPr lang="en-US" sz="1100" dirty="0">
                          <a:solidFill>
                            <a:srgbClr val="1F2933"/>
                          </a:solidFill>
                          <a:latin typeface="Arial" pitchFamily="34" charset="0"/>
                          <a:ea typeface="Arial" pitchFamily="34" charset="-122"/>
                          <a:cs typeface="Arial" pitchFamily="34" charset="-120"/>
                        </a:rPr>
                        <a:t>99.99%</a:t>
                      </a:r>
                      <a:endParaRPr lang="en-US" sz="1100" dirty="0">
                        <a:latin typeface="Arial" charset="0"/>
                        <a:ea typeface="Arial" charset="0"/>
                        <a:cs typeface="Arial" charset="0"/>
                      </a:endParaRPr>
                    </a:p>
                  </a:txBody>
                  <a:tcPr marL="91440" marR="91440" marT="45720" marB="45720"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c>
                  <a:txBody>
                    <a:bodyPr/>
                    <a:lstStyle/>
                    <a:p>
                      <a:pPr algn="ctr" indent="0" marL="0">
                        <a:buNone/>
                      </a:pPr>
                      <a:r>
                        <a:rPr lang="en-US" sz="1100" dirty="0">
                          <a:solidFill>
                            <a:srgbClr val="1F2933"/>
                          </a:solidFill>
                          <a:latin typeface="Arial" pitchFamily="34" charset="0"/>
                          <a:ea typeface="Arial" pitchFamily="34" charset="-122"/>
                          <a:cs typeface="Arial" pitchFamily="34" charset="-120"/>
                        </a:rPr>
                        <a:t>I</a:t>
                      </a:r>
                      <a:endParaRPr lang="en-US" sz="1100" dirty="0">
                        <a:latin typeface="Arial" charset="0"/>
                        <a:ea typeface="Arial" charset="0"/>
                        <a:cs typeface="Arial" charset="0"/>
                      </a:endParaRPr>
                    </a:p>
                  </a:txBody>
                  <a:tcPr marL="91440" marR="91440" marT="45720" marB="45720" anchor="ctr">
                    <a:lnL w="9525" cap="flat" cmpd="sng" algn="ctr">
                      <a:solidFill>
                        <a:srgbClr val="D6DEE7"/>
                      </a:solidFill>
                      <a:prstDash val="solid"/>
                      <a:round/>
                      <a:headEnd type="none" w="med" len="med"/>
                      <a:tailEnd type="none" w="med" len="med"/>
                    </a:lnL>
                    <a:lnR w="9525" cap="flat" cmpd="sng" algn="ctr">
                      <a:solidFill>
                        <a:srgbClr val="D6DEE7"/>
                      </a:solidFill>
                      <a:prstDash val="solid"/>
                      <a:round/>
                      <a:headEnd type="none" w="med" len="med"/>
                      <a:tailEnd type="none" w="med" len="med"/>
                    </a:lnR>
                    <a:lnT w="9525" cap="flat" cmpd="sng" algn="ctr">
                      <a:solidFill>
                        <a:srgbClr val="D6DEE7"/>
                      </a:solidFill>
                      <a:prstDash val="solid"/>
                      <a:round/>
                      <a:headEnd type="none" w="med" len="med"/>
                      <a:tailEnd type="none" w="med" len="med"/>
                    </a:lnT>
                    <a:lnB w="9525" cap="flat" cmpd="sng" algn="ctr">
                      <a:solidFill>
                        <a:srgbClr val="D6DEE7"/>
                      </a:solidFill>
                      <a:prstDash val="solid"/>
                      <a:round/>
                      <a:headEnd type="none" w="med" len="med"/>
                      <a:tailEnd type="none" w="med" len="med"/>
                    </a:lnB>
                  </a:tcPr>
                </a:tc>
              </a:tr>
            </a:tbl>
          </a:graphicData>
        </a:graphic>
      </p:graphicFrame>
      <p:sp>
        <p:nvSpPr>
          <p:cNvPr id="8" name="Shape 5"/>
          <p:cNvSpPr/>
          <p:nvPr/>
        </p:nvSpPr>
        <p:spPr>
          <a:xfrm>
            <a:off x="5943600" y="1481328"/>
            <a:ext cx="5632704" cy="1234440"/>
          </a:xfrm>
          <a:prstGeom prst="roundRect">
            <a:avLst>
              <a:gd name="adj" fmla="val 4444"/>
            </a:avLst>
          </a:prstGeom>
          <a:solidFill>
            <a:srgbClr val="F5F6F0"/>
          </a:solidFill>
          <a:ln w="12700">
            <a:solidFill>
              <a:srgbClr val="F5F6F0"/>
            </a:solidFill>
            <a:prstDash val="solid"/>
          </a:ln>
        </p:spPr>
      </p:sp>
      <p:sp>
        <p:nvSpPr>
          <p:cNvPr id="9" name="Text 6"/>
          <p:cNvSpPr txBox="1"/>
          <p:nvPr/>
        </p:nvSpPr>
        <p:spPr>
          <a:xfrm>
            <a:off x="6236208" y="1627632"/>
            <a:ext cx="5029200" cy="256032"/>
          </a:xfrm>
          <a:prstGeom prst="rect">
            <a:avLst/>
          </a:prstGeom>
          <a:noFill/>
          <a:ln/>
        </p:spPr>
        <p:txBody>
          <a:bodyPr wrap="square" lIns="0" tIns="0" rIns="0" bIns="0" rtlCol="0" anchor="ctr"/>
          <a:lstStyle/>
          <a:p>
            <a:pPr indent="0" marL="0">
              <a:buNone/>
            </a:pPr>
            <a:r>
              <a:rPr lang="en-US" sz="1300" b="1" dirty="0">
                <a:solidFill>
                  <a:srgbClr val="205081"/>
                </a:solidFill>
                <a:latin typeface="Arial" pitchFamily="34" charset="0"/>
                <a:ea typeface="Arial" pitchFamily="34" charset="-122"/>
                <a:cs typeface="Arial" pitchFamily="34" charset="-120"/>
              </a:rPr>
              <a:t>Why the characters look like punctuation</a:t>
            </a:r>
            <a:endParaRPr lang="en-US" sz="1300" dirty="0"/>
          </a:p>
        </p:txBody>
      </p:sp>
      <p:sp>
        <p:nvSpPr>
          <p:cNvPr id="10" name="Text 7"/>
          <p:cNvSpPr txBox="1"/>
          <p:nvPr/>
        </p:nvSpPr>
        <p:spPr>
          <a:xfrm>
            <a:off x="6236208" y="1938528"/>
            <a:ext cx="5029200" cy="640080"/>
          </a:xfrm>
          <a:prstGeom prst="rect">
            <a:avLst/>
          </a:prstGeom>
          <a:noFill/>
          <a:ln/>
        </p:spPr>
        <p:txBody>
          <a:bodyPr wrap="square" lIns="0" tIns="0" rIns="0" bIns="0" rtlCol="0" anchor="ctr"/>
          <a:lstStyle/>
          <a:p>
            <a:pPr indent="0" marL="0">
              <a:lnSpc>
                <a:spcPts val="1600"/>
              </a:lnSpc>
              <a:buNone/>
            </a:pPr>
            <a:r>
              <a:rPr lang="en-US" sz="1150" dirty="0">
                <a:solidFill>
                  <a:srgbClr val="1F2933"/>
                </a:solidFill>
                <a:latin typeface="Arial" pitchFamily="34" charset="0"/>
                <a:ea typeface="Arial" pitchFamily="34" charset="-122"/>
                <a:cs typeface="Arial" pitchFamily="34" charset="-120"/>
              </a:rPr>
              <a:t>The quality character is chr(Q + 33). So Q0 is “!”, Q37 is “F”, Q40 is “I”. The offset of 33 is why a modern Illumina quality line looks like a wall of F characters with the occasional comma.</a:t>
            </a:r>
            <a:endParaRPr lang="en-US" sz="1150" dirty="0"/>
          </a:p>
        </p:txBody>
      </p:sp>
      <p:sp>
        <p:nvSpPr>
          <p:cNvPr id="11" name="Shape 8"/>
          <p:cNvSpPr/>
          <p:nvPr/>
        </p:nvSpPr>
        <p:spPr>
          <a:xfrm>
            <a:off x="5943600" y="2898648"/>
            <a:ext cx="5632704" cy="1691640"/>
          </a:xfrm>
          <a:prstGeom prst="roundRect">
            <a:avLst>
              <a:gd name="adj" fmla="val 3243"/>
            </a:avLst>
          </a:prstGeom>
          <a:solidFill>
            <a:srgbClr val="FAFBFC"/>
          </a:solidFill>
          <a:ln w="19050">
            <a:solidFill>
              <a:srgbClr val="498BCA"/>
            </a:solidFill>
            <a:prstDash val="solid"/>
          </a:ln>
        </p:spPr>
      </p:sp>
      <p:sp>
        <p:nvSpPr>
          <p:cNvPr id="12" name="Text 9"/>
          <p:cNvSpPr txBox="1"/>
          <p:nvPr/>
        </p:nvSpPr>
        <p:spPr>
          <a:xfrm>
            <a:off x="6236208" y="3054096"/>
            <a:ext cx="5029200" cy="256032"/>
          </a:xfrm>
          <a:prstGeom prst="rect">
            <a:avLst/>
          </a:prstGeom>
          <a:noFill/>
          <a:ln/>
        </p:spPr>
        <p:txBody>
          <a:bodyPr wrap="square" lIns="0" tIns="0" rIns="0" bIns="0" rtlCol="0" anchor="ctr"/>
          <a:lstStyle/>
          <a:p>
            <a:pPr indent="0" marL="0">
              <a:buNone/>
            </a:pPr>
            <a:r>
              <a:rPr lang="en-US" sz="1300" b="1" dirty="0">
                <a:solidFill>
                  <a:srgbClr val="3172AE"/>
                </a:solidFill>
                <a:latin typeface="Arial" pitchFamily="34" charset="0"/>
                <a:ea typeface="Arial" pitchFamily="34" charset="-122"/>
                <a:cs typeface="Arial" pitchFamily="34" charset="-120"/>
              </a:rPr>
              <a:t>Do the multiplication once</a:t>
            </a:r>
            <a:endParaRPr lang="en-US" sz="1300" dirty="0"/>
          </a:p>
        </p:txBody>
      </p:sp>
      <p:sp>
        <p:nvSpPr>
          <p:cNvPr id="13" name="Text 10"/>
          <p:cNvSpPr txBox="1"/>
          <p:nvPr/>
        </p:nvSpPr>
        <p:spPr>
          <a:xfrm>
            <a:off x="6236208" y="3364992"/>
            <a:ext cx="5029200" cy="640080"/>
          </a:xfrm>
          <a:prstGeom prst="rect">
            <a:avLst/>
          </a:prstGeom>
          <a:noFill/>
          <a:ln/>
        </p:spPr>
        <p:txBody>
          <a:bodyPr wrap="square" lIns="0" tIns="0" rIns="0" bIns="0" rtlCol="0" anchor="ctr"/>
          <a:lstStyle/>
          <a:p>
            <a:pPr indent="0" marL="0">
              <a:lnSpc>
                <a:spcPts val="1650"/>
              </a:lnSpc>
              <a:buNone/>
            </a:pPr>
            <a:r>
              <a:rPr lang="en-US" sz="1200" dirty="0">
                <a:solidFill>
                  <a:srgbClr val="1F2933"/>
                </a:solidFill>
                <a:latin typeface="Arial" pitchFamily="34" charset="0"/>
                <a:ea typeface="Arial" pitchFamily="34" charset="-122"/>
                <a:cs typeface="Arial" pitchFamily="34" charset="-120"/>
              </a:rPr>
              <a:t>A 150 bp read at a uniform Q30 carries 0.15 expected wrong bases.</a:t>
            </a:r>
            <a:endParaRPr lang="en-US" sz="1200" dirty="0"/>
          </a:p>
          <a:p>
            <a:pPr indent="0" marL="0">
              <a:lnSpc>
                <a:spcPts val="1650"/>
              </a:lnSpc>
              <a:buNone/>
            </a:pPr>
            <a:r>
              <a:rPr lang="en-US" sz="1200" dirty="0">
                <a:solidFill>
                  <a:srgbClr val="1F2933"/>
                </a:solidFill>
                <a:latin typeface="Arial" pitchFamily="34" charset="0"/>
                <a:ea typeface="Arial" pitchFamily="34" charset="-122"/>
                <a:cs typeface="Arial" pitchFamily="34" charset="-120"/>
              </a:rPr>
              <a:t>Across 400 million reads, that is 60 million incorrect bases in your file — from a run you would describe as excellent.</a:t>
            </a:r>
            <a:endParaRPr lang="en-US" sz="1200" dirty="0"/>
          </a:p>
        </p:txBody>
      </p:sp>
      <p:sp>
        <p:nvSpPr>
          <p:cNvPr id="14" name="Text 11"/>
          <p:cNvSpPr txBox="1"/>
          <p:nvPr/>
        </p:nvSpPr>
        <p:spPr>
          <a:xfrm>
            <a:off x="6236208" y="4059936"/>
            <a:ext cx="5029200" cy="457200"/>
          </a:xfrm>
          <a:prstGeom prst="rect">
            <a:avLst/>
          </a:prstGeom>
          <a:noFill/>
          <a:ln/>
        </p:spPr>
        <p:txBody>
          <a:bodyPr wrap="square" lIns="0" tIns="0" rIns="0" bIns="0" rtlCol="0" anchor="ctr"/>
          <a:lstStyle/>
          <a:p>
            <a:pPr indent="0" marL="0">
              <a:lnSpc>
                <a:spcPts val="1550"/>
              </a:lnSpc>
              <a:buNone/>
            </a:pPr>
            <a:r>
              <a:rPr lang="en-US" sz="1150" dirty="0">
                <a:solidFill>
                  <a:srgbClr val="6B7280"/>
                </a:solidFill>
                <a:latin typeface="Arial" pitchFamily="34" charset="0"/>
                <a:ea typeface="Arial" pitchFamily="34" charset="-122"/>
                <a:cs typeface="Arial" pitchFamily="34" charset="-120"/>
              </a:rPr>
              <a:t>Depth is what rescues you: an error at one position in one read is outvoted. This is why coverage is a QC metric and not just a cost line.</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615391" y="329184"/>
            <a:ext cx="10963656" cy="603504"/>
          </a:xfrm>
          <a:prstGeom prst="rect">
            <a:avLst/>
          </a:prstGeom>
          <a:noFill/>
          <a:ln/>
        </p:spPr>
        <p:txBody>
          <a:bodyPr wrap="square" lIns="0" tIns="0" rIns="0" bIns="0" rtlCol="0" anchor="ctr"/>
          <a:lstStyle/>
          <a:p>
            <a:pPr indent="0" marL="0">
              <a:buNone/>
            </a:pPr>
            <a:r>
              <a:rPr lang="en-US" sz="2800" b="1" dirty="0">
                <a:solidFill>
                  <a:srgbClr val="3172AE"/>
                </a:solidFill>
                <a:latin typeface="Arial" pitchFamily="34" charset="0"/>
                <a:ea typeface="Arial" pitchFamily="34" charset="-122"/>
                <a:cs typeface="Arial" pitchFamily="34" charset="-120"/>
              </a:rPr>
              <a:t>A red X is a prompt to think, not a verdict</a:t>
            </a:r>
            <a:endParaRPr lang="en-US" sz="2800" dirty="0"/>
          </a:p>
        </p:txBody>
      </p:sp>
      <p:sp>
        <p:nvSpPr>
          <p:cNvPr id="3" name="Text 1"/>
          <p:cNvSpPr txBox="1"/>
          <p:nvPr/>
        </p:nvSpPr>
        <p:spPr>
          <a:xfrm>
            <a:off x="615391" y="941832"/>
            <a:ext cx="10963656" cy="274320"/>
          </a:xfrm>
          <a:prstGeom prst="rect">
            <a:avLst/>
          </a:prstGeom>
          <a:noFill/>
          <a:ln/>
        </p:spPr>
        <p:txBody>
          <a:bodyPr wrap="square" lIns="0" tIns="0" rIns="0" bIns="0" rtlCol="0" anchor="ctr"/>
          <a:lstStyle/>
          <a:p>
            <a:pPr indent="0" marL="0">
              <a:buNone/>
            </a:pPr>
            <a:r>
              <a:rPr lang="en-US" sz="1200" spc="110" kern="0" dirty="0">
                <a:solidFill>
                  <a:srgbClr val="9AA5B1"/>
                </a:solidFill>
                <a:latin typeface="Arial" pitchFamily="34" charset="0"/>
                <a:ea typeface="Arial" pitchFamily="34" charset="-122"/>
                <a:cs typeface="Arial" pitchFamily="34" charset="-120"/>
              </a:rPr>
              <a:t>FASTQ AND QC</a:t>
            </a:r>
            <a:endParaRPr lang="en-US" sz="1200" dirty="0"/>
          </a:p>
        </p:txBody>
      </p:sp>
      <p:sp>
        <p:nvSpPr>
          <p:cNvPr id="4" name="Shape 2"/>
          <p:cNvSpPr/>
          <p:nvPr/>
        </p:nvSpPr>
        <p:spPr>
          <a:xfrm>
            <a:off x="615391" y="1481328"/>
            <a:ext cx="5349240" cy="3246120"/>
          </a:xfrm>
          <a:prstGeom prst="roundRect">
            <a:avLst>
              <a:gd name="adj" fmla="val 1690"/>
            </a:avLst>
          </a:prstGeom>
          <a:solidFill>
            <a:srgbClr val="FAFBFC"/>
          </a:solidFill>
          <a:ln w="15875">
            <a:solidFill>
              <a:srgbClr val="2E7D32"/>
            </a:solidFill>
            <a:prstDash val="solid"/>
          </a:ln>
        </p:spPr>
      </p:sp>
      <p:sp>
        <p:nvSpPr>
          <p:cNvPr id="5" name="Text 3"/>
          <p:cNvSpPr txBox="1"/>
          <p:nvPr/>
        </p:nvSpPr>
        <p:spPr>
          <a:xfrm>
            <a:off x="926287" y="1664208"/>
            <a:ext cx="4572000" cy="274320"/>
          </a:xfrm>
          <a:prstGeom prst="rect">
            <a:avLst/>
          </a:prstGeom>
          <a:noFill/>
          <a:ln/>
        </p:spPr>
        <p:txBody>
          <a:bodyPr wrap="square" lIns="0" tIns="0" rIns="0" bIns="0" rtlCol="0" anchor="ctr"/>
          <a:lstStyle/>
          <a:p>
            <a:pPr indent="0" marL="0">
              <a:buNone/>
            </a:pPr>
            <a:r>
              <a:rPr lang="en-US" sz="1450" b="1" dirty="0">
                <a:solidFill>
                  <a:srgbClr val="2E7D32"/>
                </a:solidFill>
                <a:latin typeface="Arial" pitchFamily="34" charset="0"/>
                <a:ea typeface="Arial" pitchFamily="34" charset="-122"/>
                <a:cs typeface="Arial" pitchFamily="34" charset="-120"/>
              </a:rPr>
              <a:t>Worth your attention</a:t>
            </a:r>
            <a:endParaRPr lang="en-US" sz="1450" dirty="0"/>
          </a:p>
        </p:txBody>
      </p:sp>
      <p:sp>
        <p:nvSpPr>
          <p:cNvPr id="6" name="Text 4"/>
          <p:cNvSpPr txBox="1"/>
          <p:nvPr/>
        </p:nvSpPr>
        <p:spPr>
          <a:xfrm>
            <a:off x="926287" y="2048256"/>
            <a:ext cx="4754880" cy="2468880"/>
          </a:xfrm>
          <a:prstGeom prst="rect">
            <a:avLst/>
          </a:prstGeom>
          <a:noFill/>
          <a:ln/>
        </p:spPr>
        <p:txBody>
          <a:bodyPr wrap="square" lIns="0" tIns="0" rIns="0" bIns="0" rtlCol="0" anchor="t"/>
          <a:lstStyle/>
          <a:p>
            <a:pPr marL="177800" indent="-177800">
              <a:spcAft>
                <a:spcPts val="1200"/>
              </a:spcAft>
              <a:buSzPct val="100000"/>
              <a:buChar char="●"/>
            </a:pPr>
            <a:r>
              <a:rPr lang="en-US" sz="1250" dirty="0">
                <a:solidFill>
                  <a:srgbClr val="1F2933"/>
                </a:solidFill>
                <a:latin typeface="Arial" pitchFamily="34" charset="0"/>
                <a:ea typeface="Arial" pitchFamily="34" charset="-122"/>
                <a:cs typeface="Arial" pitchFamily="34" charset="-120"/>
              </a:rPr>
              <a:t>Per-base quality collapsing part-way through the run</a:t>
            </a:r>
            <a:endParaRPr lang="en-US" sz="1250" dirty="0"/>
          </a:p>
          <a:p>
            <a:pPr marL="177800" indent="-177800">
              <a:spcAft>
                <a:spcPts val="1200"/>
              </a:spcAft>
              <a:buSzPct val="100000"/>
              <a:buChar char="●"/>
            </a:pPr>
            <a:r>
              <a:rPr lang="en-US" sz="1250" dirty="0">
                <a:solidFill>
                  <a:srgbClr val="1F2933"/>
                </a:solidFill>
                <a:latin typeface="Arial" pitchFamily="34" charset="0"/>
                <a:ea typeface="Arial" pitchFamily="34" charset="-122"/>
                <a:cs typeface="Arial" pitchFamily="34" charset="-120"/>
              </a:rPr>
              <a:t>Adapter content climbing at the 3' end</a:t>
            </a:r>
            <a:endParaRPr lang="en-US" sz="1250" dirty="0"/>
          </a:p>
          <a:p>
            <a:pPr marL="177800" indent="-177800">
              <a:spcAft>
                <a:spcPts val="1200"/>
              </a:spcAft>
              <a:buSzPct val="100000"/>
              <a:buChar char="●"/>
            </a:pPr>
            <a:r>
              <a:rPr lang="en-US" sz="1250" dirty="0">
                <a:solidFill>
                  <a:srgbClr val="1F2933"/>
                </a:solidFill>
                <a:latin typeface="Arial" pitchFamily="34" charset="0"/>
                <a:ea typeface="Arial" pitchFamily="34" charset="-122"/>
                <a:cs typeface="Arial" pitchFamily="34" charset="-120"/>
              </a:rPr>
              <a:t>Total reads far below what you paid for</a:t>
            </a:r>
            <a:endParaRPr lang="en-US" sz="1250" dirty="0"/>
          </a:p>
          <a:p>
            <a:pPr marL="177800" indent="-177800">
              <a:spcAft>
                <a:spcPts val="1200"/>
              </a:spcAft>
              <a:buSzPct val="100000"/>
              <a:buChar char="●"/>
            </a:pPr>
            <a:r>
              <a:rPr lang="en-US" sz="1250" dirty="0">
                <a:solidFill>
                  <a:srgbClr val="1F2933"/>
                </a:solidFill>
                <a:latin typeface="Arial" pitchFamily="34" charset="0"/>
                <a:ea typeface="Arial" pitchFamily="34" charset="-122"/>
                <a:cs typeface="Arial" pitchFamily="34" charset="-120"/>
              </a:rPr>
              <a:t>One sample wildly different from its siblings</a:t>
            </a:r>
            <a:endParaRPr lang="en-US" sz="1250" dirty="0"/>
          </a:p>
          <a:p>
            <a:pPr marL="177800" indent="-177800">
              <a:spcAft>
                <a:spcPts val="1200"/>
              </a:spcAft>
              <a:buSzPct val="100000"/>
              <a:buChar char="●"/>
            </a:pPr>
            <a:r>
              <a:rPr lang="en-US" sz="1250" dirty="0">
                <a:solidFill>
                  <a:srgbClr val="1F2933"/>
                </a:solidFill>
                <a:latin typeface="Arial" pitchFamily="34" charset="0"/>
                <a:ea typeface="Arial" pitchFamily="34" charset="-122"/>
                <a:cs typeface="Arial" pitchFamily="34" charset="-120"/>
              </a:rPr>
              <a:t>Overrepresented sequences you cannot identify</a:t>
            </a:r>
            <a:endParaRPr lang="en-US" sz="1250" dirty="0"/>
          </a:p>
          <a:p>
            <a:pPr marL="177800" indent="-177800">
              <a:spcAft>
                <a:spcPts val="1200"/>
              </a:spcAft>
              <a:buSzPct val="100000"/>
              <a:buChar char="●"/>
            </a:pPr>
            <a:r>
              <a:rPr lang="en-US" sz="1250" dirty="0">
                <a:solidFill>
                  <a:srgbClr val="1F2933"/>
                </a:solidFill>
                <a:latin typeface="Arial" pitchFamily="34" charset="0"/>
                <a:ea typeface="Arial" pitchFamily="34" charset="-122"/>
                <a:cs typeface="Arial" pitchFamily="34" charset="-120"/>
              </a:rPr>
              <a:t>A GC distribution with a second peak</a:t>
            </a:r>
            <a:endParaRPr lang="en-US" sz="1250" dirty="0"/>
          </a:p>
        </p:txBody>
      </p:sp>
      <p:sp>
        <p:nvSpPr>
          <p:cNvPr id="7" name="Shape 5"/>
          <p:cNvSpPr/>
          <p:nvPr/>
        </p:nvSpPr>
        <p:spPr>
          <a:xfrm>
            <a:off x="6227064" y="1481328"/>
            <a:ext cx="5349240" cy="3246120"/>
          </a:xfrm>
          <a:prstGeom prst="roundRect">
            <a:avLst>
              <a:gd name="adj" fmla="val 1690"/>
            </a:avLst>
          </a:prstGeom>
          <a:solidFill>
            <a:srgbClr val="FAFBFC"/>
          </a:solidFill>
          <a:ln w="15875">
            <a:solidFill>
              <a:srgbClr val="FFC82C"/>
            </a:solidFill>
            <a:prstDash val="solid"/>
          </a:ln>
        </p:spPr>
      </p:sp>
      <p:sp>
        <p:nvSpPr>
          <p:cNvPr id="8" name="Text 6"/>
          <p:cNvSpPr txBox="1"/>
          <p:nvPr/>
        </p:nvSpPr>
        <p:spPr>
          <a:xfrm>
            <a:off x="6537960" y="1664208"/>
            <a:ext cx="4572000" cy="274320"/>
          </a:xfrm>
          <a:prstGeom prst="rect">
            <a:avLst/>
          </a:prstGeom>
          <a:noFill/>
          <a:ln/>
        </p:spPr>
        <p:txBody>
          <a:bodyPr wrap="square" lIns="0" tIns="0" rIns="0" bIns="0" rtlCol="0" anchor="ctr"/>
          <a:lstStyle/>
          <a:p>
            <a:pPr indent="0" marL="0">
              <a:buNone/>
            </a:pPr>
            <a:r>
              <a:rPr lang="en-US" sz="1450" b="1" dirty="0">
                <a:solidFill>
                  <a:srgbClr val="9C7A00"/>
                </a:solidFill>
                <a:latin typeface="Arial" pitchFamily="34" charset="0"/>
                <a:ea typeface="Arial" pitchFamily="34" charset="-122"/>
                <a:cs typeface="Arial" pitchFamily="34" charset="-120"/>
              </a:rPr>
              <a:t>Alarms loudly, usually fine</a:t>
            </a:r>
            <a:endParaRPr lang="en-US" sz="1450" dirty="0"/>
          </a:p>
        </p:txBody>
      </p:sp>
      <p:sp>
        <p:nvSpPr>
          <p:cNvPr id="9" name="Text 7"/>
          <p:cNvSpPr txBox="1"/>
          <p:nvPr/>
        </p:nvSpPr>
        <p:spPr>
          <a:xfrm>
            <a:off x="6537960" y="2048256"/>
            <a:ext cx="4754880" cy="2468880"/>
          </a:xfrm>
          <a:prstGeom prst="rect">
            <a:avLst/>
          </a:prstGeom>
          <a:noFill/>
          <a:ln/>
        </p:spPr>
        <p:txBody>
          <a:bodyPr wrap="square" lIns="0" tIns="0" rIns="0" bIns="0" rtlCol="0" anchor="t"/>
          <a:lstStyle/>
          <a:p>
            <a:pPr marL="177800" indent="-177800">
              <a:spcAft>
                <a:spcPts val="1400"/>
              </a:spcAft>
              <a:buSzPct val="100000"/>
              <a:buChar char="●"/>
            </a:pPr>
            <a:r>
              <a:rPr lang="en-US" sz="1250" dirty="0">
                <a:solidFill>
                  <a:srgbClr val="1F2933"/>
                </a:solidFill>
                <a:latin typeface="Arial" pitchFamily="34" charset="0"/>
                <a:ea typeface="Arial" pitchFamily="34" charset="-122"/>
                <a:cs typeface="Arial" pitchFamily="34" charset="-120"/>
              </a:rPr>
              <a:t>Per-base sequence content skew in the first ~12 bases — random hexamer priming in RNA-seq</a:t>
            </a:r>
            <a:endParaRPr lang="en-US" sz="1250" dirty="0"/>
          </a:p>
          <a:p>
            <a:pPr marL="177800" indent="-177800">
              <a:spcAft>
                <a:spcPts val="1400"/>
              </a:spcAft>
              <a:buSzPct val="100000"/>
              <a:buChar char="●"/>
            </a:pPr>
            <a:r>
              <a:rPr lang="en-US" sz="1250" dirty="0">
                <a:solidFill>
                  <a:srgbClr val="1F2933"/>
                </a:solidFill>
                <a:latin typeface="Arial" pitchFamily="34" charset="0"/>
                <a:ea typeface="Arial" pitchFamily="34" charset="-122"/>
                <a:cs typeface="Arial" pitchFamily="34" charset="-120"/>
              </a:rPr>
              <a:t>High duplication in amplicon, small-genome, or very deep libraries</a:t>
            </a:r>
            <a:endParaRPr lang="en-US" sz="1250" dirty="0"/>
          </a:p>
          <a:p>
            <a:pPr marL="177800" indent="-177800">
              <a:spcAft>
                <a:spcPts val="1400"/>
              </a:spcAft>
              <a:buSzPct val="100000"/>
              <a:buChar char="●"/>
            </a:pPr>
            <a:r>
              <a:rPr lang="en-US" sz="1250" dirty="0">
                <a:solidFill>
                  <a:srgbClr val="1F2933"/>
                </a:solidFill>
                <a:latin typeface="Arial" pitchFamily="34" charset="0"/>
                <a:ea typeface="Arial" pitchFamily="34" charset="-122"/>
                <a:cs typeface="Arial" pitchFamily="34" charset="-120"/>
              </a:rPr>
              <a:t>GC warnings in metagenomics, where a mixed community has no single expected GC</a:t>
            </a:r>
            <a:endParaRPr lang="en-US" sz="1250" dirty="0"/>
          </a:p>
          <a:p>
            <a:pPr marL="177800" indent="-177800">
              <a:spcAft>
                <a:spcPts val="1400"/>
              </a:spcAft>
              <a:buSzPct val="100000"/>
              <a:buChar char="●"/>
            </a:pPr>
            <a:r>
              <a:rPr lang="en-US" sz="1250" dirty="0">
                <a:solidFill>
                  <a:srgbClr val="1F2933"/>
                </a:solidFill>
                <a:latin typeface="Arial" pitchFamily="34" charset="0"/>
                <a:ea typeface="Arial" pitchFamily="34" charset="-122"/>
                <a:cs typeface="Arial" pitchFamily="34" charset="-120"/>
              </a:rPr>
              <a:t>K-mer content flags in any enriched or targeted assay</a:t>
            </a:r>
            <a:endParaRPr lang="en-US" sz="1250" dirty="0"/>
          </a:p>
        </p:txBody>
      </p:sp>
      <p:sp>
        <p:nvSpPr>
          <p:cNvPr id="10" name="Shape 8"/>
          <p:cNvSpPr/>
          <p:nvPr/>
        </p:nvSpPr>
        <p:spPr>
          <a:xfrm>
            <a:off x="615391" y="4480560"/>
            <a:ext cx="10963656" cy="960120"/>
          </a:xfrm>
          <a:prstGeom prst="roundRect">
            <a:avLst>
              <a:gd name="adj" fmla="val 5714"/>
            </a:avLst>
          </a:prstGeom>
          <a:solidFill>
            <a:srgbClr val="EEF4FA"/>
          </a:solidFill>
          <a:ln w="12700">
            <a:solidFill>
              <a:srgbClr val="EEF4FA"/>
            </a:solidFill>
            <a:prstDash val="solid"/>
          </a:ln>
        </p:spPr>
      </p:sp>
      <p:sp>
        <p:nvSpPr>
          <p:cNvPr id="11" name="Text 9"/>
          <p:cNvSpPr txBox="1"/>
          <p:nvPr/>
        </p:nvSpPr>
        <p:spPr>
          <a:xfrm>
            <a:off x="981151" y="4645152"/>
            <a:ext cx="10232136" cy="621792"/>
          </a:xfrm>
          <a:prstGeom prst="rect">
            <a:avLst/>
          </a:prstGeom>
          <a:noFill/>
          <a:ln/>
        </p:spPr>
        <p:txBody>
          <a:bodyPr wrap="square" lIns="0" tIns="0" rIns="0" bIns="0" rtlCol="0" anchor="ctr"/>
          <a:lstStyle/>
          <a:p>
            <a:pPr indent="0" marL="0">
              <a:lnSpc>
                <a:spcPts val="1800"/>
              </a:lnSpc>
              <a:buNone/>
            </a:pPr>
            <a:r>
              <a:rPr lang="en-US" sz="1300" dirty="0">
                <a:solidFill>
                  <a:srgbClr val="1F2933"/>
                </a:solidFill>
                <a:latin typeface="Arial" pitchFamily="34" charset="0"/>
                <a:ea typeface="Arial" pitchFamily="34" charset="-122"/>
                <a:cs typeface="Arial" pitchFamily="34" charset="-120"/>
              </a:rPr>
              <a:t>FastQC does not know what experiment you ran. It compares your data to a generic expectation of a random shotgun library — so every enrichment, every amplification, and every protocol quirk you deliberately introduced shows up as a failure.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615391" y="329184"/>
            <a:ext cx="10963656" cy="603504"/>
          </a:xfrm>
          <a:prstGeom prst="rect">
            <a:avLst/>
          </a:prstGeom>
          <a:noFill/>
          <a:ln/>
        </p:spPr>
        <p:txBody>
          <a:bodyPr wrap="square" lIns="0" tIns="0" rIns="0" bIns="0" rtlCol="0" anchor="ctr"/>
          <a:lstStyle/>
          <a:p>
            <a:pPr indent="0" marL="0">
              <a:buNone/>
            </a:pPr>
            <a:r>
              <a:rPr lang="en-US" sz="2800" b="1" dirty="0">
                <a:solidFill>
                  <a:srgbClr val="3172AE"/>
                </a:solidFill>
                <a:latin typeface="Arial" pitchFamily="34" charset="0"/>
                <a:ea typeface="Arial" pitchFamily="34" charset="-122"/>
                <a:cs typeface="Arial" pitchFamily="34" charset="-120"/>
              </a:rPr>
              <a:t>Three things to leave with</a:t>
            </a:r>
            <a:endParaRPr lang="en-US" sz="2800" dirty="0"/>
          </a:p>
        </p:txBody>
      </p:sp>
      <p:sp>
        <p:nvSpPr>
          <p:cNvPr id="3" name="Text 1"/>
          <p:cNvSpPr txBox="1"/>
          <p:nvPr/>
        </p:nvSpPr>
        <p:spPr>
          <a:xfrm>
            <a:off x="615391" y="941832"/>
            <a:ext cx="10963656" cy="274320"/>
          </a:xfrm>
          <a:prstGeom prst="rect">
            <a:avLst/>
          </a:prstGeom>
          <a:noFill/>
          <a:ln/>
        </p:spPr>
        <p:txBody>
          <a:bodyPr wrap="square" lIns="0" tIns="0" rIns="0" bIns="0" rtlCol="0" anchor="ctr"/>
          <a:lstStyle/>
          <a:p>
            <a:pPr indent="0" marL="0">
              <a:buNone/>
            </a:pPr>
            <a:r>
              <a:rPr lang="en-US" sz="1200" spc="110" kern="0" dirty="0">
                <a:solidFill>
                  <a:srgbClr val="9AA5B1"/>
                </a:solidFill>
                <a:latin typeface="Arial" pitchFamily="34" charset="0"/>
                <a:ea typeface="Arial" pitchFamily="34" charset="-122"/>
                <a:cs typeface="Arial" pitchFamily="34" charset="-120"/>
              </a:rPr>
              <a:t>WRAP</a:t>
            </a:r>
            <a:endParaRPr lang="en-US" sz="1200" dirty="0"/>
          </a:p>
        </p:txBody>
      </p:sp>
      <p:sp>
        <p:nvSpPr>
          <p:cNvPr id="4" name="Shape 2"/>
          <p:cNvSpPr/>
          <p:nvPr/>
        </p:nvSpPr>
        <p:spPr>
          <a:xfrm>
            <a:off x="615391" y="1435608"/>
            <a:ext cx="7360920" cy="950976"/>
          </a:xfrm>
          <a:prstGeom prst="roundRect">
            <a:avLst>
              <a:gd name="adj" fmla="val 5769"/>
            </a:avLst>
          </a:prstGeom>
          <a:solidFill>
            <a:srgbClr val="FAFBFC"/>
          </a:solidFill>
          <a:ln w="12700">
            <a:solidFill>
              <a:srgbClr val="FAFBFC"/>
            </a:solidFill>
            <a:prstDash val="solid"/>
          </a:ln>
        </p:spPr>
      </p:sp>
      <p:sp>
        <p:nvSpPr>
          <p:cNvPr id="5" name="Shape 3"/>
          <p:cNvSpPr/>
          <p:nvPr/>
        </p:nvSpPr>
        <p:spPr>
          <a:xfrm>
            <a:off x="889711" y="1709928"/>
            <a:ext cx="384048" cy="384048"/>
          </a:xfrm>
          <a:prstGeom prst="diamond">
            <a:avLst/>
          </a:prstGeom>
          <a:solidFill>
            <a:srgbClr val="498BCA"/>
          </a:solidFill>
          <a:ln w="12700">
            <a:solidFill>
              <a:srgbClr val="498BCA"/>
            </a:solidFill>
            <a:prstDash val="solid"/>
          </a:ln>
        </p:spPr>
      </p:sp>
      <p:sp>
        <p:nvSpPr>
          <p:cNvPr id="6" name="Text 4"/>
          <p:cNvSpPr txBox="1"/>
          <p:nvPr/>
        </p:nvSpPr>
        <p:spPr>
          <a:xfrm>
            <a:off x="889711" y="1773936"/>
            <a:ext cx="384048"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84071" y="1563624"/>
            <a:ext cx="6309360" cy="274320"/>
          </a:xfrm>
          <a:prstGeom prst="rect">
            <a:avLst/>
          </a:prstGeom>
          <a:noFill/>
          <a:ln/>
        </p:spPr>
        <p:txBody>
          <a:bodyPr wrap="square" lIns="0" tIns="0" rIns="0" bIns="0" rtlCol="0" anchor="ctr"/>
          <a:lstStyle/>
          <a:p>
            <a:pPr indent="0" marL="0">
              <a:buNone/>
            </a:pPr>
            <a:r>
              <a:rPr lang="en-US" sz="1450" b="1" dirty="0">
                <a:solidFill>
                  <a:srgbClr val="1F2933"/>
                </a:solidFill>
                <a:latin typeface="Arial" pitchFamily="34" charset="0"/>
                <a:ea typeface="Arial" pitchFamily="34" charset="-122"/>
                <a:cs typeface="Arial" pitchFamily="34" charset="-120"/>
              </a:rPr>
              <a:t>What a read represents decides your statistics</a:t>
            </a:r>
            <a:endParaRPr lang="en-US" sz="1450" dirty="0"/>
          </a:p>
        </p:txBody>
      </p:sp>
      <p:sp>
        <p:nvSpPr>
          <p:cNvPr id="8" name="Text 6"/>
          <p:cNvSpPr txBox="1"/>
          <p:nvPr/>
        </p:nvSpPr>
        <p:spPr>
          <a:xfrm>
            <a:off x="1484071" y="1856232"/>
            <a:ext cx="6355080" cy="475488"/>
          </a:xfrm>
          <a:prstGeom prst="rect">
            <a:avLst/>
          </a:prstGeom>
          <a:noFill/>
          <a:ln/>
        </p:spPr>
        <p:txBody>
          <a:bodyPr wrap="square" lIns="0" tIns="0" rIns="0" bIns="0" rtlCol="0" anchor="ctr"/>
          <a:lstStyle/>
          <a:p>
            <a:pPr indent="0" marL="0">
              <a:lnSpc>
                <a:spcPts val="1550"/>
              </a:lnSpc>
              <a:buNone/>
            </a:pPr>
            <a:r>
              <a:rPr lang="en-US" sz="1150" dirty="0">
                <a:solidFill>
                  <a:srgbClr val="6B7280"/>
                </a:solidFill>
                <a:latin typeface="Arial" pitchFamily="34" charset="0"/>
                <a:ea typeface="Arial" pitchFamily="34" charset="-122"/>
                <a:cs typeface="Arial" pitchFamily="34" charset="-120"/>
              </a:rPr>
              <a:t>Before any tool runs, know what one read means and what the denominator is. Counts are not abundances; enrichment is not depth.</a:t>
            </a:r>
            <a:endParaRPr lang="en-US" sz="1150" dirty="0"/>
          </a:p>
        </p:txBody>
      </p:sp>
      <p:sp>
        <p:nvSpPr>
          <p:cNvPr id="9" name="Shape 7"/>
          <p:cNvSpPr/>
          <p:nvPr/>
        </p:nvSpPr>
        <p:spPr>
          <a:xfrm>
            <a:off x="615391" y="2514600"/>
            <a:ext cx="7360920" cy="950976"/>
          </a:xfrm>
          <a:prstGeom prst="roundRect">
            <a:avLst>
              <a:gd name="adj" fmla="val 5769"/>
            </a:avLst>
          </a:prstGeom>
          <a:solidFill>
            <a:srgbClr val="FAFBFC"/>
          </a:solidFill>
          <a:ln w="12700">
            <a:solidFill>
              <a:srgbClr val="FAFBFC"/>
            </a:solidFill>
            <a:prstDash val="solid"/>
          </a:ln>
        </p:spPr>
      </p:sp>
      <p:sp>
        <p:nvSpPr>
          <p:cNvPr id="10" name="Shape 8"/>
          <p:cNvSpPr/>
          <p:nvPr/>
        </p:nvSpPr>
        <p:spPr>
          <a:xfrm>
            <a:off x="889711" y="2788920"/>
            <a:ext cx="384048" cy="384048"/>
          </a:xfrm>
          <a:prstGeom prst="diamond">
            <a:avLst/>
          </a:prstGeom>
          <a:solidFill>
            <a:srgbClr val="FFC82C"/>
          </a:solidFill>
          <a:ln w="12700">
            <a:solidFill>
              <a:srgbClr val="FFC82C"/>
            </a:solidFill>
            <a:prstDash val="solid"/>
          </a:ln>
        </p:spPr>
      </p:sp>
      <p:sp>
        <p:nvSpPr>
          <p:cNvPr id="11" name="Text 9"/>
          <p:cNvSpPr txBox="1"/>
          <p:nvPr/>
        </p:nvSpPr>
        <p:spPr>
          <a:xfrm>
            <a:off x="889711" y="2852928"/>
            <a:ext cx="384048"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2" name="Text 10"/>
          <p:cNvSpPr txBox="1"/>
          <p:nvPr/>
        </p:nvSpPr>
        <p:spPr>
          <a:xfrm>
            <a:off x="1484071" y="2642616"/>
            <a:ext cx="6309360" cy="274320"/>
          </a:xfrm>
          <a:prstGeom prst="rect">
            <a:avLst/>
          </a:prstGeom>
          <a:noFill/>
          <a:ln/>
        </p:spPr>
        <p:txBody>
          <a:bodyPr wrap="square" lIns="0" tIns="0" rIns="0" bIns="0" rtlCol="0" anchor="ctr"/>
          <a:lstStyle/>
          <a:p>
            <a:pPr indent="0" marL="0">
              <a:buNone/>
            </a:pPr>
            <a:r>
              <a:rPr lang="en-US" sz="1450" b="1" dirty="0">
                <a:solidFill>
                  <a:srgbClr val="1F2933"/>
                </a:solidFill>
                <a:latin typeface="Arial" pitchFamily="34" charset="0"/>
                <a:ea typeface="Arial" pitchFamily="34" charset="-122"/>
                <a:cs typeface="Arial" pitchFamily="34" charset="-120"/>
              </a:rPr>
              <a:t>Choose a platform by error mode, not error rate</a:t>
            </a:r>
            <a:endParaRPr lang="en-US" sz="1450" dirty="0"/>
          </a:p>
        </p:txBody>
      </p:sp>
      <p:sp>
        <p:nvSpPr>
          <p:cNvPr id="13" name="Text 11"/>
          <p:cNvSpPr txBox="1"/>
          <p:nvPr/>
        </p:nvSpPr>
        <p:spPr>
          <a:xfrm>
            <a:off x="1484071" y="2935224"/>
            <a:ext cx="6355080" cy="475488"/>
          </a:xfrm>
          <a:prstGeom prst="rect">
            <a:avLst/>
          </a:prstGeom>
          <a:noFill/>
          <a:ln/>
        </p:spPr>
        <p:txBody>
          <a:bodyPr wrap="square" lIns="0" tIns="0" rIns="0" bIns="0" rtlCol="0" anchor="ctr"/>
          <a:lstStyle/>
          <a:p>
            <a:pPr indent="0" marL="0">
              <a:lnSpc>
                <a:spcPts val="1550"/>
              </a:lnSpc>
              <a:buNone/>
            </a:pPr>
            <a:r>
              <a:rPr lang="en-US" sz="1150" dirty="0">
                <a:solidFill>
                  <a:srgbClr val="6B7280"/>
                </a:solidFill>
                <a:latin typeface="Arial" pitchFamily="34" charset="0"/>
                <a:ea typeface="Arial" pitchFamily="34" charset="-122"/>
                <a:cs typeface="Arial" pitchFamily="34" charset="-120"/>
              </a:rPr>
              <a:t>A substitution and an indel at the same Q score cause completely different downstream damage. Ask what it gets wrong, not how accurate it is.</a:t>
            </a:r>
            <a:endParaRPr lang="en-US" sz="1150" dirty="0"/>
          </a:p>
        </p:txBody>
      </p:sp>
      <p:sp>
        <p:nvSpPr>
          <p:cNvPr id="14" name="Shape 12"/>
          <p:cNvSpPr/>
          <p:nvPr/>
        </p:nvSpPr>
        <p:spPr>
          <a:xfrm>
            <a:off x="615391" y="3593592"/>
            <a:ext cx="7360920" cy="950976"/>
          </a:xfrm>
          <a:prstGeom prst="roundRect">
            <a:avLst>
              <a:gd name="adj" fmla="val 5769"/>
            </a:avLst>
          </a:prstGeom>
          <a:solidFill>
            <a:srgbClr val="FAFBFC"/>
          </a:solidFill>
          <a:ln w="12700">
            <a:solidFill>
              <a:srgbClr val="FAFBFC"/>
            </a:solidFill>
            <a:prstDash val="solid"/>
          </a:ln>
        </p:spPr>
      </p:sp>
      <p:sp>
        <p:nvSpPr>
          <p:cNvPr id="15" name="Shape 13"/>
          <p:cNvSpPr/>
          <p:nvPr/>
        </p:nvSpPr>
        <p:spPr>
          <a:xfrm>
            <a:off x="889711" y="3867912"/>
            <a:ext cx="384048" cy="384048"/>
          </a:xfrm>
          <a:prstGeom prst="diamond">
            <a:avLst/>
          </a:prstGeom>
          <a:solidFill>
            <a:srgbClr val="C0CD30"/>
          </a:solidFill>
          <a:ln w="12700">
            <a:solidFill>
              <a:srgbClr val="C0CD30"/>
            </a:solidFill>
            <a:prstDash val="solid"/>
          </a:ln>
        </p:spPr>
      </p:sp>
      <p:sp>
        <p:nvSpPr>
          <p:cNvPr id="16" name="Text 14"/>
          <p:cNvSpPr txBox="1"/>
          <p:nvPr/>
        </p:nvSpPr>
        <p:spPr>
          <a:xfrm>
            <a:off x="889711" y="3931920"/>
            <a:ext cx="384048" cy="256032"/>
          </a:xfrm>
          <a:prstGeom prst="rect">
            <a:avLst/>
          </a:prstGeom>
          <a:noFill/>
          <a:ln/>
        </p:spPr>
        <p:txBody>
          <a:bodyPr wrap="square" lIns="0" tIns="0" rIns="0" bIns="0" rtlCol="0" anchor="ctr"/>
          <a:lstStyle/>
          <a:p>
            <a:pPr algn="ctr" indent="0" marL="0">
              <a:buNone/>
            </a:pPr>
            <a:r>
              <a:rPr lang="en-US" sz="1300" b="1" dirty="0">
                <a:solidFill>
                  <a:srgbClr val="4A5411"/>
                </a:solidFill>
                <a:latin typeface="Arial" pitchFamily="34" charset="0"/>
                <a:ea typeface="Arial" pitchFamily="34" charset="-122"/>
                <a:cs typeface="Arial" pitchFamily="34" charset="-120"/>
              </a:rPr>
              <a:t>3</a:t>
            </a:r>
            <a:endParaRPr lang="en-US" sz="1300" dirty="0"/>
          </a:p>
        </p:txBody>
      </p:sp>
      <p:sp>
        <p:nvSpPr>
          <p:cNvPr id="17" name="Text 15"/>
          <p:cNvSpPr txBox="1"/>
          <p:nvPr/>
        </p:nvSpPr>
        <p:spPr>
          <a:xfrm>
            <a:off x="1484071" y="3721608"/>
            <a:ext cx="6309360" cy="274320"/>
          </a:xfrm>
          <a:prstGeom prst="rect">
            <a:avLst/>
          </a:prstGeom>
          <a:noFill/>
          <a:ln/>
        </p:spPr>
        <p:txBody>
          <a:bodyPr wrap="square" lIns="0" tIns="0" rIns="0" bIns="0" rtlCol="0" anchor="ctr"/>
          <a:lstStyle/>
          <a:p>
            <a:pPr indent="0" marL="0">
              <a:buNone/>
            </a:pPr>
            <a:r>
              <a:rPr lang="en-US" sz="1450" b="1" dirty="0">
                <a:solidFill>
                  <a:srgbClr val="1F2933"/>
                </a:solidFill>
                <a:latin typeface="Arial" pitchFamily="34" charset="0"/>
                <a:ea typeface="Arial" pitchFamily="34" charset="-122"/>
                <a:cs typeface="Arial" pitchFamily="34" charset="-120"/>
              </a:rPr>
              <a:t>Confounding is decided before sequencing, and is permanent</a:t>
            </a:r>
            <a:endParaRPr lang="en-US" sz="1450" dirty="0"/>
          </a:p>
        </p:txBody>
      </p:sp>
      <p:sp>
        <p:nvSpPr>
          <p:cNvPr id="18" name="Text 16"/>
          <p:cNvSpPr txBox="1"/>
          <p:nvPr/>
        </p:nvSpPr>
        <p:spPr>
          <a:xfrm>
            <a:off x="1484071" y="4014216"/>
            <a:ext cx="6355080" cy="475488"/>
          </a:xfrm>
          <a:prstGeom prst="rect">
            <a:avLst/>
          </a:prstGeom>
          <a:noFill/>
          <a:ln/>
        </p:spPr>
        <p:txBody>
          <a:bodyPr wrap="square" lIns="0" tIns="0" rIns="0" bIns="0" rtlCol="0" anchor="ctr"/>
          <a:lstStyle/>
          <a:p>
            <a:pPr indent="0" marL="0">
              <a:lnSpc>
                <a:spcPts val="1550"/>
              </a:lnSpc>
              <a:buNone/>
            </a:pPr>
            <a:r>
              <a:rPr lang="en-US" sz="1150" dirty="0">
                <a:solidFill>
                  <a:srgbClr val="6B7280"/>
                </a:solidFill>
                <a:latin typeface="Arial" pitchFamily="34" charset="0"/>
                <a:ea typeface="Arial" pitchFamily="34" charset="-122"/>
                <a:cs typeface="Arial" pitchFamily="34" charset="-120"/>
              </a:rPr>
              <a:t>For every level of your variable, you need samples from more than one batch. If you do not have that, say so — do not correct for it and hope.</a:t>
            </a:r>
            <a:endParaRPr lang="en-US" sz="1150" dirty="0"/>
          </a:p>
        </p:txBody>
      </p:sp>
      <p:sp>
        <p:nvSpPr>
          <p:cNvPr id="19" name="Shape 17"/>
          <p:cNvSpPr/>
          <p:nvPr/>
        </p:nvSpPr>
        <p:spPr>
          <a:xfrm>
            <a:off x="8229600" y="1435608"/>
            <a:ext cx="3346704" cy="3154680"/>
          </a:xfrm>
          <a:prstGeom prst="roundRect">
            <a:avLst>
              <a:gd name="adj" fmla="val 1739"/>
            </a:avLst>
          </a:prstGeom>
          <a:solidFill>
            <a:srgbClr val="EEF4FA"/>
          </a:solidFill>
          <a:ln w="12700">
            <a:solidFill>
              <a:srgbClr val="EEF4FA"/>
            </a:solidFill>
            <a:prstDash val="solid"/>
          </a:ln>
        </p:spPr>
      </p:sp>
      <p:sp>
        <p:nvSpPr>
          <p:cNvPr id="20" name="Text 18"/>
          <p:cNvSpPr txBox="1"/>
          <p:nvPr/>
        </p:nvSpPr>
        <p:spPr>
          <a:xfrm>
            <a:off x="8522208" y="1600200"/>
            <a:ext cx="2834640" cy="274320"/>
          </a:xfrm>
          <a:prstGeom prst="rect">
            <a:avLst/>
          </a:prstGeom>
          <a:noFill/>
          <a:ln/>
        </p:spPr>
        <p:txBody>
          <a:bodyPr wrap="square" lIns="0" tIns="0" rIns="0" bIns="0" rtlCol="0" anchor="ctr"/>
          <a:lstStyle/>
          <a:p>
            <a:pPr indent="0" marL="0">
              <a:buNone/>
            </a:pPr>
            <a:r>
              <a:rPr lang="en-US" sz="1500" b="1" dirty="0">
                <a:solidFill>
                  <a:srgbClr val="3172AE"/>
                </a:solidFill>
                <a:latin typeface="Arial" pitchFamily="34" charset="0"/>
                <a:ea typeface="Arial" pitchFamily="34" charset="-122"/>
                <a:cs typeface="Arial" pitchFamily="34" charset="-120"/>
              </a:rPr>
              <a:t>Homework</a:t>
            </a:r>
            <a:endParaRPr lang="en-US" sz="1500" dirty="0"/>
          </a:p>
        </p:txBody>
      </p:sp>
      <p:sp>
        <p:nvSpPr>
          <p:cNvPr id="21" name="Text 19"/>
          <p:cNvSpPr txBox="1"/>
          <p:nvPr/>
        </p:nvSpPr>
        <p:spPr>
          <a:xfrm>
            <a:off x="8522208" y="1938528"/>
            <a:ext cx="2834640" cy="68580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Arial" pitchFamily="34" charset="0"/>
                <a:ea typeface="Arial" pitchFamily="34" charset="-122"/>
                <a:cs typeface="Arial" pitchFamily="34" charset="-120"/>
              </a:rPr>
              <a:t>A QC report on a public dataset, plus a written critique of its experimental design.</a:t>
            </a:r>
            <a:endParaRPr lang="en-US" sz="1200" dirty="0"/>
          </a:p>
        </p:txBody>
      </p:sp>
      <p:sp>
        <p:nvSpPr>
          <p:cNvPr id="22" name="Shape 20"/>
          <p:cNvSpPr/>
          <p:nvPr/>
        </p:nvSpPr>
        <p:spPr>
          <a:xfrm>
            <a:off x="8522208" y="2743200"/>
            <a:ext cx="2743200" cy="0"/>
          </a:xfrm>
          <a:prstGeom prst="line">
            <a:avLst/>
          </a:prstGeom>
          <a:noFill/>
          <a:ln w="12700">
            <a:solidFill>
              <a:srgbClr val="D6DEE7"/>
            </a:solidFill>
            <a:prstDash val="solid"/>
          </a:ln>
        </p:spPr>
      </p:sp>
      <p:sp>
        <p:nvSpPr>
          <p:cNvPr id="23" name="Text 21"/>
          <p:cNvSpPr txBox="1"/>
          <p:nvPr/>
        </p:nvSpPr>
        <p:spPr>
          <a:xfrm>
            <a:off x="8522208" y="2871216"/>
            <a:ext cx="2834640" cy="256032"/>
          </a:xfrm>
          <a:prstGeom prst="rect">
            <a:avLst/>
          </a:prstGeom>
          <a:noFill/>
          <a:ln/>
        </p:spPr>
        <p:txBody>
          <a:bodyPr wrap="square" lIns="0" tIns="0" rIns="0" bIns="0" rtlCol="0" anchor="ctr"/>
          <a:lstStyle/>
          <a:p>
            <a:pPr indent="0" marL="0">
              <a:buNone/>
            </a:pPr>
            <a:r>
              <a:rPr lang="en-US" sz="1200" b="1" dirty="0">
                <a:solidFill>
                  <a:srgbClr val="205081"/>
                </a:solidFill>
                <a:latin typeface="Arial" pitchFamily="34" charset="0"/>
                <a:ea typeface="Arial" pitchFamily="34" charset="-122"/>
                <a:cs typeface="Arial" pitchFamily="34" charset="-120"/>
              </a:rPr>
              <a:t>In the critique, answer:</a:t>
            </a:r>
            <a:endParaRPr lang="en-US" sz="1200" dirty="0"/>
          </a:p>
        </p:txBody>
      </p:sp>
      <p:sp>
        <p:nvSpPr>
          <p:cNvPr id="24" name="Text 22"/>
          <p:cNvSpPr txBox="1"/>
          <p:nvPr/>
        </p:nvSpPr>
        <p:spPr>
          <a:xfrm>
            <a:off x="8522208" y="3182112"/>
            <a:ext cx="2834640" cy="1371600"/>
          </a:xfrm>
          <a:prstGeom prst="rect">
            <a:avLst/>
          </a:prstGeom>
          <a:noFill/>
          <a:ln/>
        </p:spPr>
        <p:txBody>
          <a:bodyPr wrap="square" lIns="0" tIns="0" rIns="0" bIns="0" rtlCol="0" anchor="t"/>
          <a:lstStyle/>
          <a:p>
            <a:pPr marL="177800" indent="-177800">
              <a:spcAft>
                <a:spcPts val="800"/>
              </a:spcAft>
              <a:buSzPct val="100000"/>
              <a:buChar char="●"/>
            </a:pPr>
            <a:r>
              <a:rPr lang="en-US" sz="1100" dirty="0">
                <a:solidFill>
                  <a:srgbClr val="1F2933"/>
                </a:solidFill>
                <a:latin typeface="Arial" pitchFamily="34" charset="0"/>
                <a:ea typeface="Arial" pitchFamily="34" charset="-122"/>
                <a:cs typeface="Arial" pitchFamily="34" charset="-120"/>
              </a:rPr>
              <a:t>What is n, and is it biological?</a:t>
            </a:r>
            <a:endParaRPr lang="en-US" sz="1100" dirty="0"/>
          </a:p>
          <a:p>
            <a:pPr marL="177800" indent="-177800">
              <a:spcAft>
                <a:spcPts val="800"/>
              </a:spcAft>
              <a:buSzPct val="100000"/>
              <a:buChar char="●"/>
            </a:pPr>
            <a:r>
              <a:rPr lang="en-US" sz="1100" dirty="0">
                <a:solidFill>
                  <a:srgbClr val="1F2933"/>
                </a:solidFill>
                <a:latin typeface="Arial" pitchFamily="34" charset="0"/>
                <a:ea typeface="Arial" pitchFamily="34" charset="-122"/>
                <a:cs typeface="Arial" pitchFamily="34" charset="-120"/>
              </a:rPr>
              <a:t>What batches can you recover from the headers?</a:t>
            </a:r>
            <a:endParaRPr lang="en-US" sz="1100" dirty="0"/>
          </a:p>
          <a:p>
            <a:pPr marL="177800" indent="-177800">
              <a:spcAft>
                <a:spcPts val="800"/>
              </a:spcAft>
              <a:buSzPct val="100000"/>
              <a:buChar char="●"/>
            </a:pPr>
            <a:r>
              <a:rPr lang="en-US" sz="1100" dirty="0">
                <a:solidFill>
                  <a:srgbClr val="1F2933"/>
                </a:solidFill>
                <a:latin typeface="Arial" pitchFamily="34" charset="0"/>
                <a:ea typeface="Arial" pitchFamily="34" charset="-122"/>
                <a:cs typeface="Arial" pitchFamily="34" charset="-120"/>
              </a:rPr>
              <a:t>Is anything confounded?</a:t>
            </a:r>
            <a:endParaRPr lang="en-US" sz="1100" dirty="0"/>
          </a:p>
          <a:p>
            <a:pPr marL="177800" indent="-177800">
              <a:spcAft>
                <a:spcPts val="800"/>
              </a:spcAft>
              <a:buSzPct val="100000"/>
              <a:buChar char="●"/>
            </a:pPr>
            <a:r>
              <a:rPr lang="en-US" sz="1100" dirty="0">
                <a:solidFill>
                  <a:srgbClr val="1F2933"/>
                </a:solidFill>
                <a:latin typeface="Arial" pitchFamily="34" charset="0"/>
                <a:ea typeface="Arial" pitchFamily="34" charset="-122"/>
                <a:cs typeface="Arial" pitchFamily="34" charset="-120"/>
              </a:rPr>
              <a:t>What could this design not have detected?</a:t>
            </a:r>
            <a:endParaRPr lang="en-US" sz="1100" dirty="0"/>
          </a:p>
        </p:txBody>
      </p:sp>
      <p:sp>
        <p:nvSpPr>
          <p:cNvPr id="25" name="Text 23"/>
          <p:cNvSpPr txBox="1"/>
          <p:nvPr/>
        </p:nvSpPr>
        <p:spPr>
          <a:xfrm>
            <a:off x="615391" y="5212080"/>
            <a:ext cx="10963656" cy="320040"/>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Session 2: FastQC, fastp and MultiQC, on short-read and long-read data. Bring a laptop and your cluster login.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2026-09-15T18:33:07Z</dcterms:created>
  <dcterms:modified xsi:type="dcterms:W3CDTF">2026-09-15T18:33:07Z</dcterms:modified>
</cp:coreProperties>
</file>