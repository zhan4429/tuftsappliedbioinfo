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62" r:id="rId8"/>
    <p:sldId id="263" r:id="rId9"/>
    <p:sldId id="264" r:id="rId10"/>
    <p:sldId id="265" r:id="rId11"/>
    <p:sldId id="267" r:id="rId13"/>
    <p:sldId id="269" r:id="rId15"/>
    <p:sldId id="270" r:id="rId16"/>
    <p:sldId id="272" r:id="rId18"/>
    <p:sldId id="273" r:id="rId19"/>
    <p:sldId id="274" r:id="rId20"/>
    <p:sldId id="275" r:id="rId21"/>
    <p:sldId id="277" r:id="rId23"/>
    <p:sldId id="279" r:id="rId25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3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3" Type="http://schemas.openxmlformats.org/officeDocument/2006/relationships/slide" Target="slides/slide15.xml"/><Relationship Id="rId25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min of slidesutes, and this one is a lab rather than a lecture. Students type along; you type along with them on the projector.</a:t>
            </a:r>
          </a:p>
          <a:p/>
          <a:p>
            <a:r>
              <a:t>Blocks: setup (8), FastQC (18), fastp (14), long-read QC (14), MultiQC (11), diagnosis (8), wrap (2).</a:t>
            </a:r>
          </a:p>
          <a:p/>
          <a:p>
            <a:r>
              <a:t>Three checkpoints where students work on their own assigned mystery sample. Those are the point of the session — protect the time for them even if you have to cut explanation.</a:t>
            </a:r>
          </a:p>
          <a:p/>
          <a:p>
            <a:r>
              <a:t>Have the staged data path and the environment name on the board before anyone sits down. Ten minutes lost to setup is ten minutes of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The last line matters more than it looks. In a follow-along lab, students who fall behind stop typing and start watching, and then learn nothing.</a:t>
            </a:r>
          </a:p>
          <a:p/>
          <a:p>
            <a:r>
              <a:t>Consider asking people to sit in pairs and agree that one of them will say something when either gets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Let them run it before you say anything.</a:t>
            </a:r>
          </a:p>
          <a:p/>
          <a:p>
            <a:r>
              <a:t>The stripped-header point is the direct callback to the Mouse ENCODE story from Session 1, and it is a real property of SRA downloads — fasterq-dump replaces headers unless you ask for --original-format. Students find it genuinely annoying, which is the correct reaction.</a:t>
            </a:r>
          </a:p>
          <a:p/>
          <a:p>
            <a:r>
              <a:t>seqkit stats -a gives N50 and quartiles as well as counts. Point at the columns they will need again for the long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This is the single most important slide in the FastQC block, and it is why students who have used FastQC before still need this session.</a:t>
            </a:r>
          </a:p>
          <a:p/>
          <a:p>
            <a:r>
              <a:t>The 2010 date is worth saying. FastQC's thresholds have barely changed while the assays have multiplied.</a:t>
            </a:r>
          </a:p>
          <a:p/>
          <a:p>
            <a:r>
              <a:t>The third question is the practical one. Students new to QC feel obliged to act on every flag, and over-trimming is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Have a real report open on the projector and point at both plots as you talk. The slide is the reference; the report is the teaching.</a:t>
            </a:r>
          </a:p>
          <a:p/>
          <a:p>
            <a:r>
              <a:t>The closing distinction is subtle and genuinely useful — it is how you tell a run-wide chemistry problem from a contaminated subpopulation.</a:t>
            </a:r>
          </a:p>
          <a:p/>
          <a:p>
            <a:r>
              <a:t>R2 being somewhat worse than R1 is normal on paired-end Illumina. Say how much is normal at your core: usually a few Phred points, not 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The BLAST advice is the practical one and students rarely think of it. Do it live on a real overrepresented sequence if you have one.</a:t>
            </a:r>
          </a:p>
          <a:p/>
          <a:p>
            <a:r>
              <a:t>Adapter dimers are worth a sentence because they are pure waste — the library had no insert and you paid to sequence linker.</a:t>
            </a:r>
          </a:p>
          <a:p/>
          <a:p>
            <a:r>
              <a:t>Row three sets up the next slide: whether a flag is a fault depends entirely on the assay.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The duplication explanation is the one students most often get wrong. At 200x coverage of a small genome, identical reads are unavoidable arithmetic, and deduplicating would destroy the data.</a:t>
            </a:r>
          </a:p>
          <a:p/>
          <a:p>
            <a:r>
              <a:t>The random-hexamer artefact deserves a proper explanation once. Draw it if it helps: priming is biased by sequence, so position one through twelve carry that bias and nothing downstream does.</a:t>
            </a:r>
          </a:p>
          <a:p/>
          <a:p>
            <a:r>
              <a:t>Say plainly that ignoring a red X is a legitimate, defensible decision — as long as it is written down with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The poly-G explanation is a nice concrete callback to Tuesday's platform block: two-colour chemistry encodes G as 'no signal', so when a cluster dies you get G rather than N.</a:t>
            </a:r>
          </a:p>
          <a:p/>
          <a:p>
            <a:r>
              <a:t>Do not oversell fastp. Trimmomatic is still perfectly good and many labs use it; the argument for fastp is convenience and the built-in report, not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The fourth rule is the one that connects to Tuesday: tuning trimming per sample to make each report look nice is a genuinely dangerous habit, because the differences you introduce line up with nothing biological.</a:t>
            </a:r>
          </a:p>
          <a:p/>
          <a:p>
            <a:r>
              <a:t>The assembly exception in rule two matters for Homework 3 — assemblers and k-mer tools cannot soft-clip, so trimming does real work there.</a:t>
            </a:r>
          </a:p>
          <a:p/>
          <a:p>
            <a:r>
              <a:t>If a student asks for a specific quality threshold, resist giving one. Ask what they are going to do with the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The illustrative numbers are there so students know what shape of answer to expect; their own will differ.</a:t>
            </a:r>
          </a:p>
          <a:p/>
          <a:p>
            <a:r>
              <a:t>The right-hand card is the important one and it generalises well beyond QC: any metric you can improve by deleting inconvenient data is not a metric you can report alone.</a:t>
            </a:r>
          </a:p>
          <a:p/>
          <a:p>
            <a:r>
              <a:t>The duplication row is a quiet correctness check — if their duplication changed after trimming, they have probably run the tool twice or mixed up input and output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Students will have run FastQC on nanopore data at some point and been confused by the result. Name that experience.</a:t>
            </a:r>
          </a:p>
          <a:p/>
          <a:p>
            <a:r>
              <a:t>The yield-over-time point is the one with no short-read analogue: a run that produced everything in the first four hours and nothing afterwards had a pore or a library problem, and only a long-read-aware tool shows you that.</a:t>
            </a:r>
          </a:p>
          <a:p/>
          <a:p>
            <a:r>
              <a:t>Mention that FastQC will happily run on long reads and produce a report. It just will not mean what they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The mean-versus-N50 card is the teaching point. Make them predict which of the two runs they would rather have before you explain.</a:t>
            </a:r>
          </a:p>
          <a:p/>
          <a:p>
            <a:r>
              <a:t>'You did record it' on the quality row is a deliberate callback to Tuesday's slide about recording basecaller and model. Say it with a slight pause.</a:t>
            </a:r>
          </a:p>
          <a:p/>
          <a:p>
            <a:r>
              <a:t>The over-10-kb count connects directly to Homework 3: repeat spanning is the entire reason for using long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Have a real NanoPlot length-quality plot on the projector. This slide is a reading guide; the plot is the object.</a:t>
            </a:r>
          </a:p>
          <a:p/>
          <a:p>
            <a:r>
              <a:t>The second bullet is genuinely subtle and worth stating slowly: if quality falls with length, then a naive 'keep the long reads' filter selects for the worst data you have. That is the argument for Filtlong, which scores length and quality jointly.</a:t>
            </a:r>
          </a:p>
          <a:p/>
          <a:p>
            <a:r>
              <a:t>The closing line is worth saying to any student planning long-read work for their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The keep-or-drop distinction is the conceptual core of the long-read block. Students who have only done short-read work expect trimming.</a:t>
            </a:r>
          </a:p>
          <a:p/>
          <a:p>
            <a:r>
              <a:t>Note that the percentage of reads lost and the percentage of bases lost are different numbers, and the second one matters more. Dropping 30% of reads that were all under 1 kb may cost you 3% of bases.</a:t>
            </a:r>
          </a:p>
          <a:p/>
          <a:p>
            <a:r>
              <a:t>The closing line is the same methods-writing habit as the fastp block. Repetition is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min. The third example is the one to dwell on — it is Tuesday's confounding lecture appearing as a QC plot, which is exactly how it would appear in real life.</a:t>
            </a:r>
          </a:p>
          <a:p/>
          <a:p>
            <a:r>
              <a:t>Make the point that MultiQC is not a quality tool. It computes nothing. It is a viewer, and the entire value is that it puts things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min. Demonstrate the sort on a real report. The moment a column is sorted and one sample jumps to the top is what sells MultiQC.</a:t>
            </a:r>
          </a:p>
          <a:p/>
          <a:p>
            <a:r>
              <a:t>The closing distinction — one line versus a group of lines — is the bridge into the diagnosis block and the single most transferable idea in the session.</a:t>
            </a:r>
          </a:p>
          <a:p/>
          <a:p>
            <a:r>
              <a:t>If you have a report from a real study with a visible batch, show it here. Nothing teaches this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This is the takeaway slide of the session. Everything before it was tool operation; this is the reasoning.</a:t>
            </a:r>
          </a:p>
          <a:p/>
          <a:p>
            <a:r>
              <a:t>Step 2's worst case — affected samples sharing a condition — is Tuesday's confounding slide arriving through the QC report. If the failing samples are all your treated group, you cannot separate a technical failure from a biological effect.</a:t>
            </a:r>
          </a:p>
          <a:p/>
          <a:p>
            <a:r>
              <a:t>Step 4 gives permission to do nothing, which beginners need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Take them one at a time and ask the room for the diagnosis before you reveal the middle column.</a:t>
            </a:r>
          </a:p>
          <a:p/>
          <a:p>
            <a:r>
              <a:t>Row one contains a professional lesson worth naming: reporting a run problem to your sequencing core is part of the job, and quietly trimming around it is not.</a:t>
            </a:r>
          </a:p>
          <a:p/>
          <a:p>
            <a:r>
              <a:t>These four map onto the four mystery samples. Do not say so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This closes the loop with Tuesday. Say explicitly that the confounding lecture and this lab are the same subject seen from two sides.</a:t>
            </a:r>
          </a:p>
          <a:p/>
          <a:p>
            <a:r>
              <a:t>Row three is subtle and worth walking slowly: insert size is a property of input DNA quality, so if your treated samples were extracted on a different day or from more degraded tissue, adapter content becomes a marker of group membership. Nothing downstream can then separate technical from biological.</a:t>
            </a:r>
          </a:p>
          <a:p/>
          <a:p>
            <a:r>
              <a:t>Now reveal that the four mystery samples correspond to slide 27. Take answers from the room by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Read the example paragraph aloud. It is short, specific, and contains a decision — which is what students find hardest to write.</a:t>
            </a:r>
          </a:p>
          <a:p/>
          <a:p>
            <a:r>
              <a:t>The fourth item is the one to stress: 'we observed X and chose not to act on it because Y' is a stronger sentence than pretending X was not there.</a:t>
            </a:r>
          </a:p>
          <a:p/>
          <a:p>
            <a:r>
              <a:t>The last sentence of the example paragraph is the Week 2 lecture in eight words. Point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min. Read the three aloud.</a:t>
            </a:r>
          </a:p>
          <a:p/>
          <a:p>
            <a:r>
              <a:t>Remind them that the design critique is graded as heavily as the QC report, and that Tuesday's five questions are the structure for it.</a:t>
            </a:r>
          </a:p>
          <a:p/>
          <a:p>
            <a:r>
              <a:t>Last thing to say out loud: if they only remember one, make it number three. Anyone can run FastQC on one sample; noticing that eight samples failed together is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FTS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7123" cy="6855257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" y="10058"/>
            <a:ext cx="2296973" cy="1493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F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2" y="6025896"/>
            <a:ext cx="1280160" cy="8321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Biology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2958" y="2395728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 FastQC, fastp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MultiQC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1188" y="3730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Bioinformatics  ·  Week 2, Session 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1188" y="40965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Biology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session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26464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3135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first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12871" y="1545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72991" y="1545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check before any tool runs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5391" y="1993392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3135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FastQC report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12871" y="2112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72991" y="2112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red flags are real, and which are the protocol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391" y="256032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3135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Trimming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12871" y="26791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72991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over-trimming is worse than under-trimming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391" y="3127248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3135" y="3236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reads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12871" y="3246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72991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FastQC misleads here, and what to use instead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391" y="3694176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3135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samples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12871" y="3813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272991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failures that are only visible with every sample side by side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391" y="4261104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3135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12871" y="4379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272991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for deciding what a bad plot actually means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83880" y="1426464"/>
            <a:ext cx="3392424" cy="3328416"/>
          </a:xfrm>
          <a:prstGeom prst="roundRect">
            <a:avLst>
              <a:gd name="adj" fmla="val 164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76488" y="1591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leave with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476488" y="1956816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judgement to read a QC report rather than collect green ticks.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vocabulary for naming what is wrong, not just that something is.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that follows is where you run all of this yourself.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76488" y="3538728"/>
            <a:ext cx="2788920" cy="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76488" y="369417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is the reading. The lab is the doing. Do not type along.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5391" y="5029200"/>
            <a:ext cx="10963656" cy="658368"/>
          </a:xfrm>
          <a:prstGeom prst="roundRect">
            <a:avLst>
              <a:gd name="adj" fmla="val 8333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9439" y="5175504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questions from the lab back here — if a plot confused you, it will confuse somebody else.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tool: look at the files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389888"/>
            <a:ext cx="1207008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5391" y="14218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5391" y="1755648"/>
            <a:ext cx="6949440" cy="2514600"/>
          </a:xfrm>
          <a:prstGeom prst="roundRect">
            <a:avLst>
              <a:gd name="adj" fmla="val 2182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3135" y="1920240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-lh /shared/courses/appbio/wk2/short/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3135" y="2144268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-r--r--r-- 1  92M  sampleA_R1.fastq.gz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3135" y="2368296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-r--r--r-- 1  94M  sampleA_R2.fastq.gz   ...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3135" y="2592324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3135" y="2816352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zcat /shared/courses/appbio/wk2/short/sampleA_R1.fastq.gz | head -n 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" y="3040380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@SRR13320280.1 1 length=151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3135" y="3264408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TTCAGGCGTGAACCACCGCGCCCGGCCTTTTTAAGTAGCTGGGATT...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3135" y="3488436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" y="3712464"/>
            <a:ext cx="6492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FFFFFFF:FFFFFFFFFFFFFFFF,FFFFFFFFFF:FFF,FF:FFF...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1755648"/>
            <a:ext cx="4032504" cy="2514600"/>
          </a:xfrm>
          <a:prstGeom prst="roundRect">
            <a:avLst>
              <a:gd name="adj" fmla="val 21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to answer now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267712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R1 and R2 have the same number of reads?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read length does the header claim?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original instrument headers intact, or stripped by the archive?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391" y="4407408"/>
            <a:ext cx="10963656" cy="713232"/>
          </a:xfrm>
          <a:prstGeom prst="roundRect">
            <a:avLst>
              <a:gd name="adj" fmla="val 7692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135" y="4572000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seqkit stats -a /shared/courses/appbio/wk2/short/*.fastq.gz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5391" y="5175504"/>
            <a:ext cx="10963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third question has consequences. These headers are accession-based, which means flow cell and lane are gone — so the batch structure you learned to look for on Tuesday is not recoverable from this download.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traffic lights are a prompt, not a verdict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3493008" cy="1143000"/>
          </a:xfrm>
          <a:prstGeom prst="roundRect">
            <a:avLst>
              <a:gd name="adj" fmla="val 4800"/>
            </a:avLst>
          </a:prstGeom>
          <a:solidFill>
            <a:srgbClr val="FAFBFC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423" y="168249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73759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71423" y="20482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expected range for a generic shotgun library.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7855" y="1481328"/>
            <a:ext cx="3493008" cy="1143000"/>
          </a:xfrm>
          <a:prstGeom prst="roundRect">
            <a:avLst>
              <a:gd name="adj" fmla="val 4800"/>
            </a:avLst>
          </a:prstGeom>
          <a:solidFill>
            <a:srgbClr val="FAFBF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3887" y="1682496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6223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83887" y="20482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it. May be your protocol working exactly as intended.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0319" y="1481328"/>
            <a:ext cx="3493008" cy="1143000"/>
          </a:xfrm>
          <a:prstGeom prst="roundRect">
            <a:avLst>
              <a:gd name="adj" fmla="val 4800"/>
            </a:avLst>
          </a:prstGeom>
          <a:solidFill>
            <a:srgbClr val="FAFBF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6351" y="168249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98687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96351" y="20482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outside it. Same caveat, more loudly.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391" y="2834640"/>
            <a:ext cx="10963656" cy="960120"/>
          </a:xfrm>
          <a:prstGeom prst="roundRect">
            <a:avLst>
              <a:gd name="adj" fmla="val 5714"/>
            </a:avLst>
          </a:prstGeom>
          <a:solidFill>
            <a:srgbClr val="FFF8E6"/>
          </a:solidFill>
          <a:ln w="19050">
            <a:solidFill>
              <a:srgbClr val="FFC8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9439" y="2999232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thresholds are hard-coded defaults chosen in 2010 for whole-genome shotgun Illumina data.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99439" y="3328416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not calibrated to RNA-seq, to amplicon data, to metagenomes, or to anything enriched or targeted. A green pass on the wrong assay is not reassurance, and a red fail is not a result.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5391" y="3995928"/>
            <a:ext cx="1096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question for every module is never “did it pass?” It is: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5391" y="4361688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35" y="4562856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7455" y="4489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expected for my assay?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" y="478231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hexamer priming, amplicons and enrichment all produce “failures” by design.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7855" y="4361688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5599" y="4562856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39919" y="4489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this sample or every sample?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65599" y="478231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outlier is a sample problem. All of them is a run problem.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0319" y="4361688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8063" y="4562856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52383" y="4489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change what I do next?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8063" y="478231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answer is no, note it and move on. Not every flag needs an action.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modules to read first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FAFBFC"/>
          </a:solidFill>
          <a:ln w="15875">
            <a:solidFill>
              <a:srgbClr val="498B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base sequence quality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1993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box plot of quality at each position along the read.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07999" y="2340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normal looks like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07999" y="26151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and flat for most of the read, tapering gently at the 3' end. That taper is dephasing, not damaged DNA — Tuesday's slide 10.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07999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worry you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7999" y="349300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sudden drop rather than a taper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quality at the very start as well as the end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boxes — high variance between reads at one position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much worse than R1 by more than a few 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1481328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FAFBFC"/>
          </a:solidFill>
          <a:ln w="15875">
            <a:solidFill>
              <a:srgbClr val="C0CD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sequence quality scores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93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histogram of the mean quality of each whole read.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40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normal looks like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151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sharp peak, pushed up against the right-hand edge. Most reads should be good; a few are always poor.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worry you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49300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peak at low quality — a distinct subpopulation of bad reads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peak that is broad rather than sharp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peak sitting at Q25 rather than Q35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5391" y="4846320"/>
            <a:ext cx="10963656" cy="713232"/>
          </a:xfrm>
          <a:prstGeom prst="roundRect">
            <a:avLst>
              <a:gd name="adj" fmla="val 769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9439" y="4992624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answer different questions. The first asks “where along the read?” The second asks “how many reads?” A second peak in the histogram with a flat per-base plot means a subset of reads failed, not a position.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content and overrepresented sequences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content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19933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cumulative curve that rises toward the 3' end means your inserts were shorter than your read length, so you sequenced off the end of the fragment and into the adapter.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07999" y="272491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is obvious — trim it. The diagnosis is the interesting part: short inserts usually mean degraded or over-fragmented input, which is worth knowing before you blame the aligner.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27064" y="1481328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Overrepresented sequences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sequence making up more than 0.1% of the library, with FastQC's guess at what it is.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871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guess is often “No Hit”, which means only that it is not in FastQC's small contaminant list. Copy the sequence and BLAST it — that takes thirty seconds and usually answers the question outright.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5391" y="37856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overrepresented sequence usually turns out to be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5391" y="411480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3135" y="4270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rRNA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444191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Ribosomal depletion did not work, or poly-A selection missed. Common in RNA-seq.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9807" y="411480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7551" y="4270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dimers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058607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insert at all. Library prep problem, and pure wasted sequencing.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91" y="477316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135" y="4928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itself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444191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Entirely expected in amplicon and targeted panels. Not a fault.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9807" y="477316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7551" y="4928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unidentified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58607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it. Contamination from another species is a real possibility.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modules that alarm and usually should not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9711" y="16642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base sequence content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89711" y="23042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wild skew across the first ten to twelve bases, then flat.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89711" y="3017520"/>
            <a:ext cx="2926080" cy="0"/>
          </a:xfrm>
          <a:prstGeom prst="line">
            <a:avLst/>
          </a:prstGeom>
          <a:noFill/>
          <a:ln w="9525">
            <a:solidFill>
              <a:srgbClr val="FFC8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9711" y="3163824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hexamer priming in RNA-seq. Priming is not uniform, so the first bases are biased. It looks terrible and means nothing. Trimming it throws away real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7855" y="1481328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2175" y="16642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duplication levels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02175" y="23042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fraction of reads reported as duplicates.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02175" y="3017520"/>
            <a:ext cx="2926080" cy="0"/>
          </a:xfrm>
          <a:prstGeom prst="line">
            <a:avLst/>
          </a:prstGeom>
          <a:noFill/>
          <a:ln w="9525">
            <a:solidFill>
              <a:srgbClr val="FFC8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2175" y="3163824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in amplicon libraries, small genomes, and anything sequenced very deeply — at high coverage, identical reads are a statistical certainty, not a sign of PCR.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0319" y="1481328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4639" y="16642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sequence GC content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14639" y="23042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distribution that is not a clean normal curve.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14639" y="3017520"/>
            <a:ext cx="2926080" cy="0"/>
          </a:xfrm>
          <a:prstGeom prst="line">
            <a:avLst/>
          </a:prstGeom>
          <a:noFill/>
          <a:ln w="9525">
            <a:solidFill>
              <a:srgbClr val="FFC8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14639" y="3163824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 compares against a theoretical normal. A metagenome has no single expected GC, and plenty of organisms are not near 50%. The shape matters; a second peak matters. A warning alone does not.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" y="4846320"/>
            <a:ext cx="10963656" cy="777240"/>
          </a:xfrm>
          <a:prstGeom prst="roundRect">
            <a:avLst>
              <a:gd name="adj" fmla="val 705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9439" y="5010912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these is FastQC correctly reporting that your data does not look like a random shotgun library — because it is not one. The tool is right; the interpretation is yours.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fastp: one pass, several jobs at once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44752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135" y="1655064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7455" y="1499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removal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78631" y="14996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the adapter automatically from the data — you rarely need to supply a sequence.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5391" y="210312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3135" y="2313432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7455" y="2157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trimming and filtering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78631" y="2157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low-quality tails and drops reads that fall below a threshold.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" y="2761488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3135" y="2971800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7455" y="2816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filtering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78631" y="2816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reads that are too short to align uniquely after trimming.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" y="3419856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135" y="3630168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7455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Poly-G trimming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78631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Two-colour Illumina chemistry reads no signal as G, so dark cycles become runs of 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5391" y="4078224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35" y="4288536"/>
            <a:ext cx="137160" cy="137160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7455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own QC report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78631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Before-and-after statistics in one HTML file, plus JSON that MultiQC can read.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1444752"/>
            <a:ext cx="3392424" cy="3200400"/>
          </a:xfrm>
          <a:prstGeom prst="roundRect">
            <a:avLst>
              <a:gd name="adj" fmla="val 171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76488" y="1609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fastp and not Trimmomatic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476488" y="1975104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older approach was cutadapt for adapters, then Trimmomatic for quality, then FastQC again to check. fastp does all of it in a single pass over the file, detects adapters itself, and hands you the before-and-after comparison for free.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protocols and papers still use the old chain. It works. It is just slower and more steps.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" y="4937760"/>
            <a:ext cx="1096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poly-G point is worth remembering: it is a chemistry artefact, not bad DNA, and it appears on NextSeq and NovaSeq data specifically.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mistake is trimming too much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DEDE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over-trimming costs you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197510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reads map less uniquely. Aggressive quality cutting biases you toward easy regions. Dropping reads changes your effective depth, and if it drops unevenly across samples it becomes a batch effect you created yourself.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27064" y="1481328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modern aligners already handle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7510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Soft-clipping deals with low-quality tails perfectly well, and variant callers use base qualities directly. For alignment-based work, adapter removal matters far more than quality trimming.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15391" y="2852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 that hold up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5391" y="3172968"/>
            <a:ext cx="10963656" cy="585216"/>
          </a:xfrm>
          <a:prstGeom prst="roundRect">
            <a:avLst>
              <a:gd name="adj" fmla="val 937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135" y="3392424"/>
            <a:ext cx="137160" cy="137160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27455" y="3328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remove adapters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47311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sequence is not from the genome. It will mismatch or soft-clip and it costs you nothing to remove.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" y="3813048"/>
            <a:ext cx="1096365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" y="4032504"/>
            <a:ext cx="137160" cy="137160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7455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quality lightly, or not at all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47311" y="389534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alignment, let the aligner clip. For assembly and k-mer methods, trim more — they have no soft-clipping.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391" y="4453128"/>
            <a:ext cx="10963656" cy="585216"/>
          </a:xfrm>
          <a:prstGeom prst="roundRect">
            <a:avLst>
              <a:gd name="adj" fmla="val 937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3135" y="4672584"/>
            <a:ext cx="137160" cy="137160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27455" y="4608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minimum length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47311" y="45354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under about 30 bp rarely map uniquely and mostly add noise.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5391" y="5093208"/>
            <a:ext cx="1096365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135" y="5312664"/>
            <a:ext cx="137160" cy="137160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27455" y="5248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identical settings to every sample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47311" y="51755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parameters per sample is a batch effect with extra steps.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before-and-after, not just the after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FASTP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" y="1481328"/>
          <a:ext cx="1096365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  <a:gridCol w="1371600"/>
                <a:gridCol w="575157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fastp reports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tells you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986,204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 dropped. Reasonable. Above ~10% deserves an explanation.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Q30 bases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Improved because the worst tails are gone — not because bases got better.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Adapter-trimmed reads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Nearly one read in five ran into adapter. Short inserts.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read length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 with trimming a modest amount off the ends.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Trimming does not change duplication. If it appears to, check what you did.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5391" y="404164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07999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to watch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07999" y="45354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reads discarded. If it differs a lot between your samples, you have just made them non-comparable, and that difference will follow you into the counts.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27064" y="404164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warning about improved metrics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45354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make any QC report look excellent by discarding enough data. “Q30 went up” is not evidence of anything on its own — it has to be read next to how much you threw away.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 is the wrong tool for long reads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7498080" cy="777240"/>
          </a:xfrm>
          <a:prstGeom prst="roundRect">
            <a:avLst>
              <a:gd name="adj" fmla="val 705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423" y="1664208"/>
            <a:ext cx="137160" cy="137160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5743" y="15910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bins by position along the read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45743" y="18653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works when every read is 151 bases. When reads range from 200 bp to 200 kb, position 5,000 exists in a handful of reads and the plot is meaningless.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5391" y="2350008"/>
            <a:ext cx="7498080" cy="777240"/>
          </a:xfrm>
          <a:prstGeom prst="roundRect">
            <a:avLst>
              <a:gd name="adj" fmla="val 705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423" y="2532888"/>
            <a:ext cx="137160" cy="137160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5743" y="245973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assumes a uniform length distribution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5743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is the headline property of a long-read run, and FastQC has nowhere to show it well.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" y="3218688"/>
            <a:ext cx="7498080" cy="777240"/>
          </a:xfrm>
          <a:prstGeom prst="roundRect">
            <a:avLst>
              <a:gd name="adj" fmla="val 705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423" y="3401568"/>
            <a:ext cx="137160" cy="137160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5743" y="33284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quality thresholds assume Illumina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45743" y="36027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perfectly healthy nanopore run with modal quality around Q18 will be red across the board.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" y="4087368"/>
            <a:ext cx="7498080" cy="777240"/>
          </a:xfrm>
          <a:prstGeom prst="roundRect">
            <a:avLst>
              <a:gd name="adj" fmla="val 7059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1423" y="4270248"/>
            <a:ext cx="137160" cy="137160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5743" y="419709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concept of yield over time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" y="44714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pore-based run degrades as pores die. When the yield stopped is a real diagnostic and FastQC cannot see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66760" y="1481328"/>
            <a:ext cx="3209544" cy="3474720"/>
          </a:xfrm>
          <a:prstGeom prst="roundRect">
            <a:avLst>
              <a:gd name="adj" fmla="val 170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instead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NanoPlot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2286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report: length, quality, yield, and the joint distribution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seqkit stats -a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316382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numbers, including read-length N50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chopper / Filtlong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8953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by length and quality, which is the long-read equivalent of trimming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4988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pycoQC if you still have the sequencing summary file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NanoPlot: run it, then read four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389888"/>
            <a:ext cx="1207008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5391" y="14218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NOW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5391" y="1755648"/>
            <a:ext cx="6675120" cy="1188720"/>
          </a:xfrm>
          <a:prstGeom prst="roundRect">
            <a:avLst>
              <a:gd name="adj" fmla="val 461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3135" y="1920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NanoPlot --fastq /shared/courses/appbio/wk2/long/ont.fastq.gz \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53135" y="21945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-o qc/nanoplot --threads 8 --N50 --loglength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3135" y="2468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seqkit stats -a /shared/courses/appbio/wk2/long/ont.fastq.gz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5391" y="2926080"/>
            <a:ext cx="7498080" cy="612648"/>
          </a:xfrm>
          <a:prstGeom prst="roundRect">
            <a:avLst>
              <a:gd name="adj" fmla="val 895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1423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Read-length N50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221431" y="29809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your bases sit in reads at least this long. The single most useful number about a long-read run — and not the same as the mean, which is dragged down by short reads.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5391" y="3611880"/>
            <a:ext cx="749808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1423" y="3776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read quality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221431" y="36667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quality, not mean. Compare against what the chemistry and basecaller should give, which you recorded. You did record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" y="4297680"/>
            <a:ext cx="7498080" cy="612648"/>
          </a:xfrm>
          <a:prstGeom prst="roundRect">
            <a:avLst>
              <a:gd name="adj" fmla="val 895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1423" y="4462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bases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21431" y="43525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by your genome size for coverage. This is the number that decides whether an assembly is even worth attempting.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91" y="4983480"/>
            <a:ext cx="749808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1423" y="5148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reads over 10 kb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221431" y="50383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reads that actually span repeats. A run can have good total yield and almost nothing long.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926080"/>
            <a:ext cx="3392424" cy="2734056"/>
          </a:xfrm>
          <a:prstGeom prst="roundRect">
            <a:avLst>
              <a:gd name="adj" fmla="val 200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76488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versus N50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476488" y="3419856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 with a mean read length of 4 kb and an N50 of 22 kb is a good run with a lot of short junk in it.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 with a mean of 4 kb and an N50 of 6 kb has no long reads at all, and no amount of depth will fix that.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mean. Completely different dataset. Always report N50.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plot with no short-read equivalent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AFBFC"/>
          </a:solidFill>
          <a:ln w="15875">
            <a:solidFill>
              <a:srgbClr val="498B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vs. quality, as a 2D density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 is a point: read length on one axis, mean quality on the other. NanoPlot draws it as a density plot because there are too many reads to show individually.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07999" y="2724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healthy run looks like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07999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broad cloud, with quality roughly flat across the length range. Long reads should not be systematically worse than short ones.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07999" y="3621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tells you something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07999" y="3913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cloud at low quality, or quality falling off as length increases.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481328"/>
            <a:ext cx="5175504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1609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distinct low-quality cloud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188366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a different molecule population — adapter-only reads, or a contaminant with different signal characteristics.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505456"/>
            <a:ext cx="5175504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633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falling with length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29077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pore or the library struggled with long molecules. Filtering on length alone would keep exactly the worst reads.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529584"/>
            <a:ext cx="5175504" cy="9144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short and good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DNA extraction that sheared. The chemistry worked; the sample preparation did not.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5391" y="4937760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one is the most common, and it is a wet-lab result rather than a sequencing result. High molecular weight extraction is the hard part of long-read work.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long reads is not trimming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389888"/>
            <a:ext cx="1207008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5391" y="14218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NOW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5391" y="1755648"/>
            <a:ext cx="6949440" cy="1691640"/>
          </a:xfrm>
          <a:prstGeom prst="roundRect">
            <a:avLst>
              <a:gd name="adj" fmla="val 324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3135" y="1920240"/>
            <a:ext cx="6492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B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chopper: filter whole reads by quality and length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3135" y="2185416"/>
            <a:ext cx="6492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chopper -q 10 -l 1000 --threads 8 \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3135" y="2450592"/>
            <a:ext cx="6492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 /shared/courses/appbio/wk2/long/ont.fastq.gz | pigz &gt; trim/ont.fq.gz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3135" y="2715768"/>
            <a:ext cx="6492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3135" y="2980944"/>
            <a:ext cx="6492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seqkit stats -a trim/ont.fq.gz    # what did that cost you?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5391" y="3401568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999" y="3547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discard reads, you do not shorten them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7999" y="3858768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read's value is its length. Cutting a low-quality stretch out of the middle would destroy the one property you paid for, so long-read QC keeps or drops whole reads instead.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7064" y="3401568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8E6"/>
          </a:solidFill>
          <a:ln w="15875">
            <a:solidFill>
              <a:srgbClr val="FFC8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3547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before you set a length threshold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85876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assembly, long reads are the point, so a minimum of 1 kb is reasonable. But if quality falls with length in your data, filtering hard on length selects for your worst reads. Filtlong scores both together for exactly this reason.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5391" y="4956048"/>
            <a:ext cx="10963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you choose: run seqkit stats before and after, and record both. “We filtered at Q10 and 1 kb, losing 11% of reads and 4% of bases” is a methods sentence. “We filtered the reads” is not.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samples, and the problem that creates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DEDE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arithmetic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199339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samples, paired-end, is 80 FastQC reports. Eleven modules each. That is 880 plots, in 80 separate browser tabs, and you will not open them.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7999" y="25968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failures that matter are the ones you can only see by comparison.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27064" y="1481328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MultiQC does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99339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a directory, finds output from over a hundred tools, and merges it into one HTML page: a sortable statistics table, and every module overlaid as a single plot with one line per sample.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5391" y="3172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you can only see in aggregate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5391" y="3493008"/>
            <a:ext cx="10963656" cy="658368"/>
          </a:xfrm>
          <a:prstGeom prst="roundRect">
            <a:avLst>
              <a:gd name="adj" fmla="val 833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3135" y="3749040"/>
            <a:ext cx="137160" cy="137160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7455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sample with a tenth of the reads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95951" y="360273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in its own report — the number looks like a number. Obvious next to 39 others.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391" y="4224528"/>
            <a:ext cx="1096365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135" y="4480560"/>
            <a:ext cx="137160" cy="137160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7455" y="4407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that drops for samples 25 to 32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95951" y="433425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a sample problem. That is a flow cell, or a plate, or a 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391" y="4956048"/>
            <a:ext cx="10963656" cy="658368"/>
          </a:xfrm>
          <a:prstGeom prst="roundRect">
            <a:avLst>
              <a:gd name="adj" fmla="val 833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35" y="5212080"/>
            <a:ext cx="137160" cy="137160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7455" y="5138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content correlating with group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95951" y="506577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treated samples had shorter inserts than your controls. That is a batch effect wearing a disguise.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the general statistics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MULTIQC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10963656" cy="786384"/>
          </a:xfrm>
          <a:prstGeom prst="roundRect">
            <a:avLst>
              <a:gd name="adj" fmla="val 697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9439" y="1664208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sample, one column per metric, sortable. Click a column header and your outliers move to the top.</a:t>
            </a:r>
            <a:endParaRPr lang="en-US" sz="14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" y="2441448"/>
          <a:ext cx="1096365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56285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by it to find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do about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Duplication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Libraries with low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 sequencing will not help. Check input amount and PCR cycles.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GC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sample that does not belong — contamination, or a swapped sample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against the expected GC for your organism.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read length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Samples trimmed differently from the rest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means you applied different parameters. Redo them the same way.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Seqs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imbalanced sample that will skew everything downstream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 deliberately: re-sequence, subsample the rest, or drop it.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Failed / warn flags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samples need a closer look at 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is a triage column, not a verdict column.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5391" y="4956048"/>
            <a:ext cx="10963656" cy="868680"/>
          </a:xfrm>
          <a:prstGeom prst="roundRect">
            <a:avLst>
              <a:gd name="adj" fmla="val 6316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99439" y="5120640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look at the overlaid plots — but look for shape, not for individual lines. One line behaving differently is a sample. A group of lines behaving differently together is a batch, and that is the finding worth chasing.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for deciding what a bad plot means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26464"/>
            <a:ext cx="10963656" cy="822960"/>
          </a:xfrm>
          <a:prstGeom prst="roundRect">
            <a:avLst>
              <a:gd name="adj" fmla="val 666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" y="1645920"/>
            <a:ext cx="384048" cy="384048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9711" y="17099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4071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one sample, or all of them?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44591" y="149961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sample is a library or a specimen. All of them is a run, a reagent lot, or a protocol.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" y="2322576"/>
            <a:ext cx="10963656" cy="822960"/>
          </a:xfrm>
          <a:prstGeom prst="roundRect">
            <a:avLst>
              <a:gd name="adj" fmla="val 666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711" y="2542032"/>
            <a:ext cx="384048" cy="384048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9711" y="2606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4071" y="2432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some of them, which ones?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44591" y="239572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the metric, then look at the sample sheet. Do the affected samples share a batch, a plate column, a day, or — worst case — a condition?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5391" y="3218688"/>
            <a:ext cx="10963656" cy="822960"/>
          </a:xfrm>
          <a:prstGeom prst="roundRect">
            <a:avLst>
              <a:gd name="adj" fmla="val 666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9711" y="3438144"/>
            <a:ext cx="384048" cy="384048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9711" y="35021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4071" y="3328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expected for this assay?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44591" y="32918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calling anything a failure, ask what your protocol should have done to the data. Half of all red flags are the protocol working.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" y="4114800"/>
            <a:ext cx="10963656" cy="822960"/>
          </a:xfrm>
          <a:prstGeom prst="roundRect">
            <a:avLst>
              <a:gd name="adj" fmla="val 6667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9711" y="4334256"/>
            <a:ext cx="384048" cy="384048"/>
          </a:xfrm>
          <a:prstGeom prst="diamond">
            <a:avLst/>
          </a:prstGeom>
          <a:solidFill>
            <a:srgbClr val="205081"/>
          </a:solidFill>
          <a:ln w="12700">
            <a:solidFill>
              <a:srgbClr val="2050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9711" y="43982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84071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change what I do next?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44591" y="418795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not, record it and move on. A QC report is not a to-do list.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5391" y="5029200"/>
            <a:ext cx="10963656" cy="658368"/>
          </a:xfrm>
          <a:prstGeom prst="roundRect">
            <a:avLst>
              <a:gd name="adj" fmla="val 833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9439" y="5157216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is the one that turns QC from housekeeping into science. It is where a quality plot becomes evidence about your experimental design.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failures, and what each one 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 ·  1 OF 2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" y="1481328"/>
          <a:ext cx="1096365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0142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see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Almost certainly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to 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falls off a cliff at one position, in every sample on the run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instrument or reagent problem partway through the run, not your libraries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Talk to the core before trimming. Trimming hides a problem they need to know about.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 content climbs steeply toward the 3' 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Inserts shorter than the read length — you sequenced off the end of the fragment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 with fastp, and note it: short inserts usually mean degraded or over-fragmented input.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duplication, few unique sequences, low yield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library complexity from too little input DNA and too many PCR cycles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sequencing cannot help. The information is not in the library. Re-prep or accept it.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second peak in the GC distribution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organisms in the tube — contamination, or an unexpected co-culture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an overrepresented sequence and BLAST it. Identify before you decide anything.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5391" y="5120640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three is the expensive one. Students respond to low yield by asking for another sequencing run, and for an over-amplified library that buys more copies of the same few molecules.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three that are about the set, not the sample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 ·  2 OF 2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" y="1481328"/>
          <a:ext cx="10963656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  <a:gridCol w="428853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see in MultiQC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is worse than a failed sample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08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sample with a tenth of the reads of its siblings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pooling or quantification error at library prep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Dropping it changes your n. If it failed for a reason related to your condition, dropping it introduces bias.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or duplication splits the samples into two clean groups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batches: two flow cells, two days, two operators, two reagent lots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immediately whether that split lines up with your experimental groups. If it does, you are confounded.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 content differs systematically between your conditions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groups had different insert size distributions — so different input 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technical difference that tracks your biology perfectly. Every downstream difference is now ambiguous.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5391" y="4535424"/>
            <a:ext cx="10963656" cy="9144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99439" y="47000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three is a QC problem. They are experimental design problems that QC happened to reveal.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999439" y="5029200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best possible outcome for a QC report, and the reason to run it before you spend a month on the analysis rather than after.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of QC is a paragraph, not a folder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81328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QC section actually says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07999" y="2029968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“Reads were assessed with FastQC 0.12.1 and aggregated with MultiQC 1.25. Adapter content rose above 10% after position 120 in all samples, consistent with short inserts; reads were trimmed with fastp 0.24.0 using default parameters plus --detect_adapter_for_pe, removing 1.4–2.2% of reads per sample. Sample D showed 4-fold lower yield and elevated duplication and was retained but flagged. No QC metric separated the treatment groups.”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4996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it has to contain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865376"/>
            <a:ext cx="5221224" cy="402336"/>
          </a:xfrm>
          <a:prstGeom prst="roundRect">
            <a:avLst>
              <a:gd name="adj" fmla="val 1363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993392"/>
            <a:ext cx="128016" cy="128016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versions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1947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somebody can repeat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2340864"/>
            <a:ext cx="522122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468880"/>
            <a:ext cx="128016" cy="128016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observed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4231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metric, with a number.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2816352"/>
            <a:ext cx="5221224" cy="402336"/>
          </a:xfrm>
          <a:prstGeom prst="roundRect">
            <a:avLst>
              <a:gd name="adj" fmla="val 1363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944368"/>
            <a:ext cx="128016" cy="128016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2889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did about it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8986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parameters, exactly.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3291840"/>
            <a:ext cx="522122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419856"/>
            <a:ext cx="128016" cy="128016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decided not to fix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374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reason. This is the part everyone omits.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3767328"/>
            <a:ext cx="5221224" cy="402336"/>
          </a:xfrm>
          <a:prstGeom prst="roundRect">
            <a:avLst>
              <a:gd name="adj" fmla="val 1363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895344"/>
            <a:ext cx="128016" cy="128016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anything tracked your design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38496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sentence a reviewer is actually looking for.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5391" y="4663440"/>
            <a:ext cx="10963656" cy="777240"/>
          </a:xfrm>
          <a:prstGeom prst="roundRect">
            <a:avLst>
              <a:gd name="adj" fmla="val 7059"/>
            </a:avLst>
          </a:prstGeom>
          <a:solidFill>
            <a:srgbClr val="F5F6F0"/>
          </a:solidFill>
          <a:ln w="12700">
            <a:solidFill>
              <a:srgbClr val="F5F6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9439" y="4828032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5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folder of HTML reports is evidence. It is not a conclusion, and nobody reading your paper will open it. The paragraph is the deliverable.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391" y="329184"/>
            <a:ext cx="10963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leave with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15391" y="94183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10" kern="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5391" y="1435608"/>
            <a:ext cx="7360920" cy="987552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" y="1728216"/>
            <a:ext cx="384048" cy="384048"/>
          </a:xfrm>
          <a:prstGeom prst="diamond">
            <a:avLst/>
          </a:prstGeom>
          <a:solidFill>
            <a:srgbClr val="498BCA"/>
          </a:solidFill>
          <a:ln w="12700">
            <a:solidFill>
              <a:srgbClr val="498B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9711" y="17922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4071" y="15453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 flag is a question, not a verdict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84071" y="1856232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 compares your data to a generic shotgun library it knows nothing about. Ask whether the flag is expected for your assay before you act on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" y="2551176"/>
            <a:ext cx="7360920" cy="987552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711" y="2843784"/>
            <a:ext cx="384048" cy="384048"/>
          </a:xfrm>
          <a:prstGeom prst="diamond">
            <a:avLst/>
          </a:prstGeom>
          <a:solidFill>
            <a:srgbClr val="FFC82C"/>
          </a:solidFill>
          <a:ln w="12700">
            <a:solidFill>
              <a:srgbClr val="FFC8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9711" y="29077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4071" y="26609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adapters, and be sparing with everything else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484071" y="2971800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Over-trimming costs real data, and trimming samples differently creates a batch effect you invented yourself.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5391" y="3666744"/>
            <a:ext cx="7360920" cy="987552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9711" y="3959352"/>
            <a:ext cx="384048" cy="384048"/>
          </a:xfrm>
          <a:prstGeom prst="diamond">
            <a:avLst/>
          </a:prstGeom>
          <a:solidFill>
            <a:srgbClr val="C0CD30"/>
          </a:solidFill>
          <a:ln w="12700">
            <a:solidFill>
              <a:srgbClr val="C0CD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9711" y="4023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4071" y="37764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failures that matter are only visible across samples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84071" y="4087368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odd line is a sample. A group of lines moving together is a batch — and if that group matches your conditions, QC has just found a design problem.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1435608"/>
            <a:ext cx="3346704" cy="3246120"/>
          </a:xfrm>
          <a:prstGeom prst="roundRect">
            <a:avLst>
              <a:gd name="adj" fmla="val 1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22208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7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22208" y="1956816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public dataset with at least two conditions and three samples each.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FastQC, fastp and MultiQC on it.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QC paragraph from slide 29.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written critique of the study's experimental design.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" y="5212080"/>
            <a:ext cx="1096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genome assembly and annotation — starting with the C. albicans reads you just finished assessing.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2026-09-16T01:37:50Z</dcterms:created>
  <dcterms:modified xsi:type="dcterms:W3CDTF">2026-09-16T01:37:50Z</dcterms:modified>
</cp:coreProperties>
</file>